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85" d="100"/>
          <a:sy n="85" d="100"/>
        </p:scale>
        <p:origin x="-821" y="-8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76F0079A-7074-4E7A-BDC8-F78904363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193" y="2351760"/>
            <a:ext cx="9259613" cy="61055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303492"/>
                </a:solidFill>
              </a:rPr>
              <a:t>BÁO CÁO ĐỒ ÁN TỐT NGHIỆP</a:t>
            </a:r>
            <a:endParaRPr lang="vi-VN" sz="3000" dirty="0">
              <a:solidFill>
                <a:srgbClr val="303492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D8DCDE02-061A-486D-8668-C9748B0CF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7791" y="4685458"/>
            <a:ext cx="6454209" cy="1715343"/>
          </a:xfrm>
        </p:spPr>
        <p:txBody>
          <a:bodyPr>
            <a:normAutofit/>
          </a:bodyPr>
          <a:lstStyle/>
          <a:p>
            <a:pPr algn="l"/>
            <a:r>
              <a:rPr lang="en-GB" sz="2600" b="1" dirty="0" err="1">
                <a:solidFill>
                  <a:srgbClr val="303492"/>
                </a:solidFill>
              </a:rPr>
              <a:t>Sinh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viên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thực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hiện</a:t>
            </a:r>
            <a:r>
              <a:rPr lang="en-GB" sz="2600" b="1" dirty="0">
                <a:solidFill>
                  <a:srgbClr val="303492"/>
                </a:solidFill>
              </a:rPr>
              <a:t>: </a:t>
            </a:r>
            <a:r>
              <a:rPr lang="en-GB" sz="2600" b="1" dirty="0" err="1" smtClean="0">
                <a:solidFill>
                  <a:srgbClr val="303492"/>
                </a:solidFill>
              </a:rPr>
              <a:t>Nguyễn</a:t>
            </a:r>
            <a:r>
              <a:rPr lang="en-GB" sz="2600" b="1" dirty="0" smtClean="0">
                <a:solidFill>
                  <a:srgbClr val="303492"/>
                </a:solidFill>
              </a:rPr>
              <a:t> </a:t>
            </a:r>
            <a:r>
              <a:rPr lang="en-GB" sz="2600" b="1" dirty="0">
                <a:solidFill>
                  <a:srgbClr val="303492"/>
                </a:solidFill>
              </a:rPr>
              <a:t>Minh </a:t>
            </a:r>
            <a:r>
              <a:rPr lang="en-GB" sz="2600" b="1" dirty="0" err="1">
                <a:solidFill>
                  <a:srgbClr val="303492"/>
                </a:solidFill>
              </a:rPr>
              <a:t>Đức</a:t>
            </a:r>
            <a:r>
              <a:rPr lang="en-GB" sz="2600" b="1" dirty="0">
                <a:solidFill>
                  <a:srgbClr val="303492"/>
                </a:solidFill>
              </a:rPr>
              <a:t>		</a:t>
            </a:r>
            <a:r>
              <a:rPr lang="vi-VN" sz="2600" b="1" dirty="0" smtClean="0">
                <a:solidFill>
                  <a:srgbClr val="303492"/>
                </a:solidFill>
              </a:rPr>
              <a:t>	  </a:t>
            </a:r>
            <a:r>
              <a:rPr lang="en-GB" sz="2600" b="1" dirty="0" err="1" smtClean="0">
                <a:solidFill>
                  <a:srgbClr val="303492"/>
                </a:solidFill>
              </a:rPr>
              <a:t>Nguyễn</a:t>
            </a:r>
            <a:r>
              <a:rPr lang="en-GB" sz="2600" b="1" dirty="0" smtClean="0">
                <a:solidFill>
                  <a:srgbClr val="303492"/>
                </a:solidFill>
              </a:rPr>
              <a:t> </a:t>
            </a:r>
            <a:r>
              <a:rPr lang="en-GB" sz="2600" b="1" dirty="0">
                <a:solidFill>
                  <a:srgbClr val="303492"/>
                </a:solidFill>
              </a:rPr>
              <a:t>Minh </a:t>
            </a:r>
            <a:r>
              <a:rPr lang="en-GB" sz="2600" b="1" dirty="0" err="1" smtClean="0">
                <a:solidFill>
                  <a:srgbClr val="303492"/>
                </a:solidFill>
              </a:rPr>
              <a:t>Hiển</a:t>
            </a:r>
            <a:endParaRPr lang="vi-VN" sz="2600" b="1" dirty="0" smtClean="0">
              <a:solidFill>
                <a:srgbClr val="303492"/>
              </a:solidFill>
            </a:endParaRPr>
          </a:p>
          <a:p>
            <a:pPr algn="l"/>
            <a:r>
              <a:rPr lang="en-GB" sz="2600" b="1" dirty="0" err="1" smtClean="0">
                <a:solidFill>
                  <a:srgbClr val="303492"/>
                </a:solidFill>
              </a:rPr>
              <a:t>Giảng</a:t>
            </a:r>
            <a:r>
              <a:rPr lang="en-GB" sz="2600" b="1" dirty="0" smtClean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viên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hướng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dẫn</a:t>
            </a:r>
            <a:r>
              <a:rPr lang="en-GB" sz="2600" b="1" dirty="0">
                <a:solidFill>
                  <a:srgbClr val="303492"/>
                </a:solidFill>
              </a:rPr>
              <a:t>: </a:t>
            </a:r>
            <a:r>
              <a:rPr lang="en-GB" sz="2600" b="1" dirty="0" err="1">
                <a:solidFill>
                  <a:srgbClr val="303492"/>
                </a:solidFill>
              </a:rPr>
              <a:t>Phạm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Văn</a:t>
            </a:r>
            <a:r>
              <a:rPr lang="en-GB" sz="2600" b="1" dirty="0">
                <a:solidFill>
                  <a:srgbClr val="303492"/>
                </a:solidFill>
              </a:rPr>
              <a:t> </a:t>
            </a:r>
            <a:r>
              <a:rPr lang="en-GB" sz="2600" b="1" dirty="0" err="1">
                <a:solidFill>
                  <a:srgbClr val="303492"/>
                </a:solidFill>
              </a:rPr>
              <a:t>Đồng</a:t>
            </a:r>
            <a:endParaRPr lang="en-GB" sz="2600" b="1" dirty="0">
              <a:solidFill>
                <a:srgbClr val="303492"/>
              </a:solidFill>
            </a:endParaRPr>
          </a:p>
          <a:p>
            <a:pPr algn="just"/>
            <a:endParaRPr lang="en-GB" sz="2600" dirty="0">
              <a:solidFill>
                <a:srgbClr val="303492"/>
              </a:solidFill>
            </a:endParaRPr>
          </a:p>
          <a:p>
            <a:pPr algn="just"/>
            <a:endParaRPr lang="en-GB" sz="2600" dirty="0">
              <a:solidFill>
                <a:srgbClr val="303492"/>
              </a:solidFill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35384FFF-2649-B682-FF37-E296F079470E}"/>
              </a:ext>
            </a:extLst>
          </p:cNvPr>
          <p:cNvSpPr txBox="1">
            <a:spLocks/>
          </p:cNvSpPr>
          <p:nvPr/>
        </p:nvSpPr>
        <p:spPr>
          <a:xfrm>
            <a:off x="1878725" y="414776"/>
            <a:ext cx="6511159" cy="1161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>
                <a:solidFill>
                  <a:srgbClr val="303492"/>
                </a:solidFill>
              </a:rPr>
              <a:t>KHOA CÔNG NGHỆ THÔNG TIN</a:t>
            </a:r>
          </a:p>
          <a:p>
            <a:pPr>
              <a:lnSpc>
                <a:spcPct val="100000"/>
              </a:lnSpc>
            </a:pPr>
            <a:r>
              <a:rPr lang="en-US" sz="2800">
                <a:solidFill>
                  <a:srgbClr val="303492"/>
                </a:solidFill>
              </a:rPr>
              <a:t>BỘ MÔN MẠNG MÁY TÍNH</a:t>
            </a:r>
            <a:endParaRPr lang="vi-VN" sz="2800" dirty="0">
              <a:solidFill>
                <a:srgbClr val="303492"/>
              </a:solidFill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DC79D5F1-1D05-0B7B-9672-467282B4C673}"/>
              </a:ext>
            </a:extLst>
          </p:cNvPr>
          <p:cNvSpPr txBox="1">
            <a:spLocks/>
          </p:cNvSpPr>
          <p:nvPr/>
        </p:nvSpPr>
        <p:spPr>
          <a:xfrm>
            <a:off x="1878725" y="2940424"/>
            <a:ext cx="8575274" cy="8216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vi-VN" sz="3000" dirty="0">
                <a:solidFill>
                  <a:srgbClr val="FF0000"/>
                </a:solidFill>
              </a:rPr>
              <a:t>Nghiên cứu và xây dựng game nhập vai </a:t>
            </a:r>
            <a:r>
              <a:rPr lang="vi-VN" sz="3000" dirty="0" smtClean="0">
                <a:solidFill>
                  <a:srgbClr val="FF0000"/>
                </a:solidFill>
              </a:rPr>
              <a:t>3D</a:t>
            </a:r>
            <a:endParaRPr lang="vi-VN" sz="3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18B3BE9D-04BD-4742-4948-4088B670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1252" y="903889"/>
            <a:ext cx="6280031" cy="860371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Nội Dung Trình Bày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498229C-3006-B98E-899B-CBF89901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2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1AF15D-E70E-C2B7-B359-3FF7506F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No 1"/>
          <p:cNvSpPr txBox="1"/>
          <p:nvPr/>
        </p:nvSpPr>
        <p:spPr>
          <a:xfrm>
            <a:off x="926423" y="2434635"/>
            <a:ext cx="621792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lIns="0" tIns="60000" rIns="0" bIns="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550" b="1" dirty="0">
                <a:solidFill>
                  <a:srgbClr val="0F172A"/>
                </a:solidFill>
                <a:latin typeface="Arial"/>
                <a:cs typeface="Arial"/>
              </a:rPr>
              <a:t>1</a:t>
            </a:r>
            <a:endParaRPr lang="vi-VN" sz="1550" dirty="0"/>
          </a:p>
        </p:txBody>
      </p:sp>
      <p:sp>
        <p:nvSpPr>
          <p:cNvPr id="8" name="Agenda 1"/>
          <p:cNvSpPr txBox="1"/>
          <p:nvPr/>
        </p:nvSpPr>
        <p:spPr>
          <a:xfrm>
            <a:off x="1750807" y="2434635"/>
            <a:ext cx="9875520" cy="5943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800" b="1" dirty="0">
                <a:solidFill>
                  <a:srgbClr val="F8FAFC"/>
                </a:solidFill>
                <a:latin typeface="Arial"/>
                <a:cs typeface="Arial"/>
              </a:rPr>
              <a:t>Lý do chọn đề tài và mục tiêu nghiên cứu</a:t>
            </a:r>
            <a:endParaRPr lang="vi-VN" sz="1800" dirty="0"/>
          </a:p>
        </p:txBody>
      </p:sp>
      <p:sp>
        <p:nvSpPr>
          <p:cNvPr id="9" name="No 2"/>
          <p:cNvSpPr txBox="1"/>
          <p:nvPr/>
        </p:nvSpPr>
        <p:spPr>
          <a:xfrm>
            <a:off x="927847" y="3422186"/>
            <a:ext cx="621792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 wrap="square" lIns="0" tIns="60000" rIns="0" bIns="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550" b="1" dirty="0">
                <a:solidFill>
                  <a:srgbClr val="0F172A"/>
                </a:solidFill>
                <a:latin typeface="Arial"/>
                <a:cs typeface="Arial"/>
              </a:rPr>
              <a:t>2</a:t>
            </a:r>
            <a:endParaRPr lang="vi-VN" sz="1550" dirty="0"/>
          </a:p>
        </p:txBody>
      </p:sp>
      <p:sp>
        <p:nvSpPr>
          <p:cNvPr id="10" name="Agenda 2"/>
          <p:cNvSpPr txBox="1"/>
          <p:nvPr/>
        </p:nvSpPr>
        <p:spPr>
          <a:xfrm>
            <a:off x="1750807" y="3394755"/>
            <a:ext cx="9875520" cy="5943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800" b="1" dirty="0">
                <a:solidFill>
                  <a:srgbClr val="F8FAFC"/>
                </a:solidFill>
                <a:latin typeface="Arial"/>
                <a:cs typeface="Arial"/>
              </a:rPr>
              <a:t>Công nghệ sử dụng và tổ chức project Unity</a:t>
            </a:r>
            <a:endParaRPr lang="vi-VN" sz="1800" dirty="0"/>
          </a:p>
        </p:txBody>
      </p:sp>
      <p:sp>
        <p:nvSpPr>
          <p:cNvPr id="11" name="No 3"/>
          <p:cNvSpPr txBox="1"/>
          <p:nvPr/>
        </p:nvSpPr>
        <p:spPr>
          <a:xfrm>
            <a:off x="927847" y="4382306"/>
            <a:ext cx="621792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60000" rIns="0" bIns="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550" b="1">
                <a:solidFill>
                  <a:srgbClr val="0F172A"/>
                </a:solidFill>
                <a:latin typeface="Arial"/>
                <a:cs typeface="Arial"/>
              </a:rPr>
              <a:t>3</a:t>
            </a:r>
            <a:endParaRPr lang="vi-VN" sz="1550"/>
          </a:p>
        </p:txBody>
      </p:sp>
      <p:sp>
        <p:nvSpPr>
          <p:cNvPr id="12" name="Agenda 3"/>
          <p:cNvSpPr txBox="1"/>
          <p:nvPr/>
        </p:nvSpPr>
        <p:spPr>
          <a:xfrm>
            <a:off x="1750807" y="4354875"/>
            <a:ext cx="9875520" cy="5943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800" b="1">
                <a:solidFill>
                  <a:srgbClr val="F8FAFC"/>
                </a:solidFill>
                <a:latin typeface="Arial"/>
                <a:cs typeface="Arial"/>
              </a:rPr>
              <a:t>Phân tích, thiết kế các module chính</a:t>
            </a:r>
            <a:endParaRPr lang="vi-VN" sz="1800"/>
          </a:p>
        </p:txBody>
      </p:sp>
      <p:sp>
        <p:nvSpPr>
          <p:cNvPr id="13" name="No 4"/>
          <p:cNvSpPr txBox="1"/>
          <p:nvPr/>
        </p:nvSpPr>
        <p:spPr>
          <a:xfrm>
            <a:off x="927847" y="5342426"/>
            <a:ext cx="621792" cy="548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txBody>
          <a:bodyPr wrap="square" lIns="0" tIns="60000" rIns="0" bIns="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550" b="1" dirty="0">
                <a:solidFill>
                  <a:srgbClr val="0F172A"/>
                </a:solidFill>
                <a:latin typeface="Arial"/>
                <a:cs typeface="Arial"/>
              </a:rPr>
              <a:t>4</a:t>
            </a:r>
            <a:endParaRPr lang="vi-VN" sz="1550" dirty="0"/>
          </a:p>
        </p:txBody>
      </p:sp>
      <p:sp>
        <p:nvSpPr>
          <p:cNvPr id="14" name="Agenda 4"/>
          <p:cNvSpPr txBox="1"/>
          <p:nvPr/>
        </p:nvSpPr>
        <p:spPr>
          <a:xfrm>
            <a:off x="1750807" y="5314995"/>
            <a:ext cx="9875520" cy="5943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800" b="1" dirty="0">
                <a:solidFill>
                  <a:srgbClr val="F8FAFC"/>
                </a:solidFill>
                <a:latin typeface="Arial"/>
                <a:cs typeface="Arial"/>
              </a:rPr>
              <a:t>Cài đặt, kiểm thử, đánh giá và hướng phát triển</a:t>
            </a:r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03" y="681037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Lý do chọn đề tài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3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Content panel"/>
          <p:cNvSpPr/>
          <p:nvPr/>
        </p:nvSpPr>
        <p:spPr>
          <a:xfrm>
            <a:off x="1316916" y="2121351"/>
            <a:ext cx="6629400" cy="4273475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00B0F0"/>
            </a:solidFill>
          </a:ln>
        </p:spPr>
      </p:sp>
      <p:sp>
        <p:nvSpPr>
          <p:cNvPr id="8" name="Bullets"/>
          <p:cNvSpPr txBox="1"/>
          <p:nvPr/>
        </p:nvSpPr>
        <p:spPr>
          <a:xfrm>
            <a:off x="1580336" y="2339382"/>
            <a:ext cx="6102560" cy="3837008"/>
          </a:xfrm>
          <a:prstGeom prst="rect">
            <a:avLst/>
          </a:prstGeom>
          <a:noFill/>
          <a:ln>
            <a:noFill/>
          </a:ln>
        </p:spPr>
        <p:txBody>
          <a:bodyPr wrap="square" lIns="90000" tIns="90000" rIns="90000" bIns="65000" anchor="t">
            <a:spAutoFit/>
          </a:bodyPr>
          <a:lstStyle/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750" dirty="0">
                <a:solidFill>
                  <a:srgbClr val="CBD5E1"/>
                </a:solidFill>
                <a:latin typeface="Arial"/>
                <a:cs typeface="Arial"/>
              </a:rPr>
              <a:t>Game 3D là sản phẩm tổng hợp nhiều kiến thức CNTT: lập trình, đồ họa, UI, âm thanh và thiết kế hệ thống.</a:t>
            </a:r>
            <a:endParaRPr lang="vi-VN" sz="1750" dirty="0"/>
          </a:p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750" dirty="0">
                <a:solidFill>
                  <a:srgbClr val="CBD5E1"/>
                </a:solidFill>
                <a:latin typeface="Arial"/>
                <a:cs typeface="Arial"/>
              </a:rPr>
              <a:t>Thể loại </a:t>
            </a:r>
            <a:r>
              <a:rPr lang="en-US" sz="1750" dirty="0" err="1" smtClean="0">
                <a:solidFill>
                  <a:srgbClr val="CBD5E1"/>
                </a:solidFill>
                <a:latin typeface="Arial"/>
                <a:cs typeface="Arial"/>
              </a:rPr>
              <a:t>nh</a:t>
            </a:r>
            <a:r>
              <a:rPr lang="vi-VN" sz="1750" dirty="0" smtClean="0">
                <a:solidFill>
                  <a:srgbClr val="CBD5E1"/>
                </a:solidFill>
                <a:latin typeface="Arial"/>
                <a:cs typeface="Arial"/>
              </a:rPr>
              <a:t>ập vai </a:t>
            </a:r>
            <a:r>
              <a:rPr lang="vi-VN" sz="1750" dirty="0">
                <a:solidFill>
                  <a:srgbClr val="CBD5E1"/>
                </a:solidFill>
                <a:latin typeface="Arial"/>
                <a:cs typeface="Arial"/>
              </a:rPr>
              <a:t>tạo được </a:t>
            </a:r>
            <a:r>
              <a:rPr lang="vi-VN" sz="1750" dirty="0" smtClean="0">
                <a:solidFill>
                  <a:srgbClr val="CBD5E1"/>
                </a:solidFill>
                <a:latin typeface="Arial"/>
                <a:cs typeface="Arial"/>
              </a:rPr>
              <a:t>gameplay </a:t>
            </a:r>
            <a:r>
              <a:rPr lang="vi-VN" sz="1750" dirty="0">
                <a:solidFill>
                  <a:srgbClr val="CBD5E1"/>
                </a:solidFill>
                <a:latin typeface="Arial"/>
                <a:cs typeface="Arial"/>
              </a:rPr>
              <a:t>rõ: khám phá, thu thập, xử lý tình huống và hoàn thành nhiệm </a:t>
            </a:r>
            <a:r>
              <a:rPr lang="vi-VN" sz="1750" dirty="0" smtClean="0">
                <a:solidFill>
                  <a:srgbClr val="CBD5E1"/>
                </a:solidFill>
                <a:latin typeface="Arial"/>
                <a:cs typeface="Arial"/>
              </a:rPr>
              <a:t>vụ.</a:t>
            </a:r>
          </a:p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750" dirty="0" smtClean="0">
                <a:solidFill>
                  <a:srgbClr val="CBD5E1"/>
                </a:solidFill>
                <a:latin typeface="Arial"/>
                <a:cs typeface="Arial"/>
              </a:rPr>
              <a:t>Unity </a:t>
            </a:r>
            <a:r>
              <a:rPr lang="vi-VN" sz="1750" dirty="0">
                <a:solidFill>
                  <a:srgbClr val="CBD5E1"/>
                </a:solidFill>
                <a:latin typeface="Arial"/>
                <a:cs typeface="Arial"/>
              </a:rPr>
              <a:t>phù hợp cho đồ án vì hỗ trợ scene, physics, UI, animation, NavMesh và triển khai nhanh prototype có thể chơi được.</a:t>
            </a:r>
            <a:endParaRPr lang="vi-VN" sz="1750" dirty="0"/>
          </a:p>
        </p:txBody>
      </p:sp>
      <p:sp>
        <p:nvSpPr>
          <p:cNvPr id="9" name="Message"/>
          <p:cNvSpPr txBox="1"/>
          <p:nvPr/>
        </p:nvSpPr>
        <p:spPr>
          <a:xfrm>
            <a:off x="8177605" y="2339585"/>
            <a:ext cx="3611880" cy="2161815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1500" b="1" dirty="0">
                <a:solidFill>
                  <a:srgbClr val="22C55E"/>
                </a:solidFill>
                <a:latin typeface="Arial"/>
                <a:cs typeface="Arial"/>
              </a:rPr>
              <a:t>Thông điệp</a:t>
            </a:r>
            <a:endParaRPr lang="vi-VN" sz="1500" dirty="0"/>
          </a:p>
          <a:p>
            <a:pPr algn="l">
              <a:lnSpc>
                <a:spcPct val="150000"/>
              </a:lnSpc>
            </a:pPr>
            <a:r>
              <a:rPr lang="vi-VN" sz="1650" dirty="0">
                <a:solidFill>
                  <a:srgbClr val="F8FAFC"/>
                </a:solidFill>
                <a:latin typeface="Arial"/>
                <a:cs typeface="Arial"/>
              </a:rPr>
              <a:t>Thông điệp chính: đề tài không chỉ là game giải trí mà là sản phẩm thể hiện năng lực phát triển phần mềm tương tác thời gian thực.</a:t>
            </a:r>
            <a:endParaRPr lang="vi-VN" sz="1650" dirty="0"/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03" y="681037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Mục tiêu và phạm vi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4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Left title"/>
          <p:cNvSpPr txBox="1"/>
          <p:nvPr/>
        </p:nvSpPr>
        <p:spPr>
          <a:xfrm>
            <a:off x="1515035" y="2229635"/>
            <a:ext cx="4159624" cy="434675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lIns="90000" tIns="65000" rIns="90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700" b="1">
                <a:solidFill>
                  <a:srgbClr val="0F172A"/>
                </a:solidFill>
                <a:latin typeface="Arial"/>
                <a:cs typeface="Arial"/>
              </a:rPr>
              <a:t>Mục tiêu</a:t>
            </a:r>
            <a:endParaRPr lang="vi-VN" sz="1700"/>
          </a:p>
        </p:txBody>
      </p:sp>
      <p:sp>
        <p:nvSpPr>
          <p:cNvPr id="8" name="Right title"/>
          <p:cNvSpPr txBox="1"/>
          <p:nvPr/>
        </p:nvSpPr>
        <p:spPr>
          <a:xfrm>
            <a:off x="7117976" y="2229635"/>
            <a:ext cx="4069978" cy="434675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lIns="90000" tIns="65000" rIns="90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700" b="1">
                <a:solidFill>
                  <a:srgbClr val="0F172A"/>
                </a:solidFill>
                <a:latin typeface="Arial"/>
                <a:cs typeface="Arial"/>
              </a:rPr>
              <a:t>Phạm vi</a:t>
            </a:r>
            <a:endParaRPr lang="vi-VN" sz="1700"/>
          </a:p>
        </p:txBody>
      </p:sp>
      <p:sp>
        <p:nvSpPr>
          <p:cNvPr id="9" name="Left body"/>
          <p:cNvSpPr txBox="1"/>
          <p:nvPr/>
        </p:nvSpPr>
        <p:spPr>
          <a:xfrm>
            <a:off x="1062317" y="2801470"/>
            <a:ext cx="5257800" cy="3476643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Xây dựng game 3D góc nhìn thứ nhất trên Unity.</a:t>
            </a:r>
            <a:endParaRPr lang="vi-VN" sz="1580" dirty="0"/>
          </a:p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Cài đặt di chuyển, camera, tương tác raycast, inventory, nhiệm vụ, hội thoại và âm thanh.</a:t>
            </a:r>
            <a:endParaRPr lang="vi-VN" sz="1580" dirty="0"/>
          </a:p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Tạo vòng lặp sinh tồn: chặt cây, săn lợn rừng, câu cá, đặt </a:t>
            </a:r>
            <a:r>
              <a:rPr lang="vi-VN" sz="1580" dirty="0" smtClean="0">
                <a:solidFill>
                  <a:srgbClr val="CBD5E1"/>
                </a:solidFill>
                <a:latin typeface="Arial"/>
                <a:cs typeface="Arial"/>
              </a:rPr>
              <a:t>bếp lửa </a:t>
            </a: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và nấu ăn.</a:t>
            </a:r>
            <a:endParaRPr lang="vi-VN" sz="1580" dirty="0"/>
          </a:p>
        </p:txBody>
      </p:sp>
      <p:sp>
        <p:nvSpPr>
          <p:cNvPr id="10" name="Right body"/>
          <p:cNvSpPr txBox="1"/>
          <p:nvPr/>
        </p:nvSpPr>
        <p:spPr>
          <a:xfrm>
            <a:off x="6640157" y="2801469"/>
            <a:ext cx="5257800" cy="347472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Tập trung vào prototype đồ án với hai scene chính: MainMenu và Suml.</a:t>
            </a:r>
            <a:endParaRPr lang="vi-VN" sz="1580" dirty="0"/>
          </a:p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Lưu trạng thái nhẹ bằng PlayerPrefs, </a:t>
            </a:r>
            <a:r>
              <a:rPr lang="vi-VN" sz="1580" dirty="0" smtClean="0">
                <a:solidFill>
                  <a:srgbClr val="CBD5E1"/>
                </a:solidFill>
                <a:latin typeface="Arial"/>
                <a:cs typeface="Arial"/>
              </a:rPr>
              <a:t>triển </a:t>
            </a: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khai save/load đầy đủ cho toàn bộ thế giới game.</a:t>
            </a:r>
            <a:endParaRPr lang="vi-VN" sz="1580" dirty="0"/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03" y="681037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Công nghệ sử dụng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5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Tech 0"/>
          <p:cNvSpPr txBox="1"/>
          <p:nvPr/>
        </p:nvSpPr>
        <p:spPr>
          <a:xfrm>
            <a:off x="731520" y="23774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22C55E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Unity 6000.0.41f1</a:t>
            </a:r>
            <a:endParaRPr lang="vi-VN" sz="1450"/>
          </a:p>
        </p:txBody>
      </p:sp>
      <p:sp>
        <p:nvSpPr>
          <p:cNvPr id="8" name="Tech 1"/>
          <p:cNvSpPr txBox="1"/>
          <p:nvPr/>
        </p:nvSpPr>
        <p:spPr>
          <a:xfrm>
            <a:off x="3611880" y="23774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8BDF8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C# / MonoBehaviour</a:t>
            </a:r>
            <a:endParaRPr lang="vi-VN" sz="1450"/>
          </a:p>
        </p:txBody>
      </p:sp>
      <p:sp>
        <p:nvSpPr>
          <p:cNvPr id="9" name="Tech 2"/>
          <p:cNvSpPr txBox="1"/>
          <p:nvPr/>
        </p:nvSpPr>
        <p:spPr>
          <a:xfrm>
            <a:off x="6492240" y="23774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F59E0B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Universal Render Pipeline</a:t>
            </a:r>
            <a:endParaRPr lang="vi-VN" sz="1450"/>
          </a:p>
        </p:txBody>
      </p:sp>
      <p:sp>
        <p:nvSpPr>
          <p:cNvPr id="10" name="Tech 3"/>
          <p:cNvSpPr txBox="1"/>
          <p:nvPr/>
        </p:nvSpPr>
        <p:spPr>
          <a:xfrm>
            <a:off x="9372600" y="23774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A78BFA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TextMeshPro + Unity UI</a:t>
            </a:r>
            <a:endParaRPr lang="vi-VN" sz="1450"/>
          </a:p>
        </p:txBody>
      </p:sp>
      <p:sp>
        <p:nvSpPr>
          <p:cNvPr id="11" name="Tech 4"/>
          <p:cNvSpPr txBox="1"/>
          <p:nvPr/>
        </p:nvSpPr>
        <p:spPr>
          <a:xfrm>
            <a:off x="2148840" y="39776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F472B6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AI Navigation / NavMeshAgent</a:t>
            </a:r>
            <a:endParaRPr lang="vi-VN" sz="1450"/>
          </a:p>
        </p:txBody>
      </p:sp>
      <p:sp>
        <p:nvSpPr>
          <p:cNvPr id="12" name="Tech 5"/>
          <p:cNvSpPr txBox="1"/>
          <p:nvPr/>
        </p:nvSpPr>
        <p:spPr>
          <a:xfrm>
            <a:off x="5074920" y="39776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2DD4BF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ScriptableObject</a:t>
            </a:r>
            <a:endParaRPr lang="vi-VN" sz="1450"/>
          </a:p>
        </p:txBody>
      </p:sp>
      <p:sp>
        <p:nvSpPr>
          <p:cNvPr id="13" name="Tech 6"/>
          <p:cNvSpPr txBox="1"/>
          <p:nvPr/>
        </p:nvSpPr>
        <p:spPr>
          <a:xfrm>
            <a:off x="8001000" y="3977640"/>
            <a:ext cx="2148840" cy="10241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FB7185"/>
            </a:solidFill>
          </a:ln>
        </p:spPr>
        <p:txBody>
          <a:bodyPr wrap="square" lIns="50000" tIns="130000" rIns="5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 b="1">
                <a:solidFill>
                  <a:srgbClr val="F8FAFC"/>
                </a:solidFill>
                <a:latin typeface="Arial"/>
                <a:cs typeface="Arial"/>
              </a:rPr>
              <a:t>DOTween, Timeline, Shader Graph</a:t>
            </a:r>
            <a:endParaRPr lang="vi-VN" sz="1450"/>
          </a:p>
        </p:txBody>
      </p:sp>
      <p:sp>
        <p:nvSpPr>
          <p:cNvPr id="14" name="Tech note"/>
          <p:cNvSpPr txBox="1"/>
          <p:nvPr/>
        </p:nvSpPr>
        <p:spPr>
          <a:xfrm>
            <a:off x="1097280" y="5715000"/>
            <a:ext cx="9966960" cy="65836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650">
                <a:solidFill>
                  <a:srgbClr val="CBD5E1"/>
                </a:solidFill>
                <a:latin typeface="Arial"/>
                <a:cs typeface="Arial"/>
              </a:rPr>
              <a:t>Các công nghệ này hỗ trợ dựng môi trường 3D, quản lý gameplay, UI, nhiệm vụ, hội thoại và hiệu ứng trong project.</a:t>
            </a:r>
            <a:endParaRPr lang="vi-VN" sz="1650"/>
          </a:p>
        </p:txBody>
      </p:sp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627" y="795431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2B2693"/>
                </a:solidFill>
              </a:rPr>
              <a:t>Thiết kế đồ họa game</a:t>
            </a:r>
            <a:endParaRPr lang="en-US" dirty="0">
              <a:solidFill>
                <a:srgbClr val="2B2693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Bộ môn Mạng máy tính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6</a:t>
            </a:fld>
            <a:endParaRPr lang="vi-V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054" y="1813469"/>
            <a:ext cx="5659059" cy="26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24" y="4459719"/>
            <a:ext cx="11038448" cy="17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041" y="6204231"/>
            <a:ext cx="43164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067" y="510708"/>
            <a:ext cx="6280031" cy="1325563"/>
          </a:xfrm>
        </p:spPr>
        <p:txBody>
          <a:bodyPr/>
          <a:lstStyle/>
          <a:p>
            <a:r>
              <a:rPr lang="vi-VN" smtClean="0">
                <a:solidFill>
                  <a:srgbClr val="303492"/>
                </a:solidFill>
              </a:rPr>
              <a:t>Vòng lặp gameplay tổng quát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7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Main Menu"/>
          <p:cNvSpPr txBox="1"/>
          <p:nvPr/>
        </p:nvSpPr>
        <p:spPr>
          <a:xfrm>
            <a:off x="731520" y="2752165"/>
            <a:ext cx="1508760" cy="7772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22C55E"/>
            </a:solidFill>
          </a:ln>
        </p:spPr>
        <p:txBody>
          <a:bodyPr wrap="square" lIns="40000" tIns="130000" rIns="4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20" b="1">
                <a:solidFill>
                  <a:srgbClr val="F8FAFC"/>
                </a:solidFill>
                <a:latin typeface="Arial"/>
                <a:cs typeface="Arial"/>
              </a:rPr>
              <a:t>Main Menu</a:t>
            </a:r>
            <a:endParaRPr lang="vi-VN" sz="1320"/>
          </a:p>
        </p:txBody>
      </p:sp>
      <p:cxnSp>
        <p:nvCxnSpPr>
          <p:cNvPr id="8" name="Arrow"/>
          <p:cNvCxnSpPr/>
          <p:nvPr/>
        </p:nvCxnSpPr>
        <p:spPr>
          <a:xfrm flipH="1">
            <a:off x="2240280" y="3140785"/>
            <a:ext cx="640080" cy="4572"/>
          </a:xfrm>
          <a:prstGeom prst="straightConnector1">
            <a:avLst/>
          </a:prstGeom>
          <a:ln w="22000">
            <a:solidFill>
              <a:srgbClr val="22C55E"/>
            </a:solidFill>
            <a:headEnd type="triangle"/>
          </a:ln>
        </p:spPr>
      </p:cxnSp>
      <p:sp>
        <p:nvSpPr>
          <p:cNvPr id="9" name="Scene Suml"/>
          <p:cNvSpPr txBox="1"/>
          <p:nvPr/>
        </p:nvSpPr>
        <p:spPr>
          <a:xfrm>
            <a:off x="2880360" y="2752165"/>
            <a:ext cx="1508760" cy="7772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8BDF8"/>
            </a:solidFill>
          </a:ln>
        </p:spPr>
        <p:txBody>
          <a:bodyPr wrap="square" lIns="40000" tIns="130000" rIns="4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20" b="1">
                <a:solidFill>
                  <a:srgbClr val="F8FAFC"/>
                </a:solidFill>
                <a:latin typeface="Arial"/>
                <a:cs typeface="Arial"/>
              </a:rPr>
              <a:t>Scene Suml</a:t>
            </a:r>
            <a:endParaRPr lang="vi-VN" sz="1320"/>
          </a:p>
        </p:txBody>
      </p:sp>
      <p:cxnSp>
        <p:nvCxnSpPr>
          <p:cNvPr id="10" name="Arrow"/>
          <p:cNvCxnSpPr/>
          <p:nvPr/>
        </p:nvCxnSpPr>
        <p:spPr>
          <a:xfrm flipH="1">
            <a:off x="4389120" y="3140785"/>
            <a:ext cx="640080" cy="0"/>
          </a:xfrm>
          <a:prstGeom prst="straightConnector1">
            <a:avLst/>
          </a:prstGeom>
          <a:ln w="22000">
            <a:solidFill>
              <a:srgbClr val="22C55E"/>
            </a:solidFill>
            <a:headEnd type="triangle"/>
          </a:ln>
        </p:spPr>
      </p:cxnSp>
      <p:sp>
        <p:nvSpPr>
          <p:cNvPr id="11" name="Khám phá"/>
          <p:cNvSpPr txBox="1"/>
          <p:nvPr/>
        </p:nvSpPr>
        <p:spPr>
          <a:xfrm>
            <a:off x="5029200" y="2752165"/>
            <a:ext cx="1508760" cy="7772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F59E0B"/>
            </a:solidFill>
          </a:ln>
        </p:spPr>
        <p:txBody>
          <a:bodyPr wrap="square" lIns="40000" tIns="130000" rIns="4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20" b="1">
                <a:solidFill>
                  <a:srgbClr val="F8FAFC"/>
                </a:solidFill>
                <a:latin typeface="Arial"/>
                <a:cs typeface="Arial"/>
              </a:rPr>
              <a:t>Khám phá</a:t>
            </a:r>
            <a:endParaRPr lang="vi-VN" sz="1320"/>
          </a:p>
        </p:txBody>
      </p:sp>
      <p:cxnSp>
        <p:nvCxnSpPr>
          <p:cNvPr id="12" name="Arrow"/>
          <p:cNvCxnSpPr/>
          <p:nvPr/>
        </p:nvCxnSpPr>
        <p:spPr>
          <a:xfrm flipH="1">
            <a:off x="6537960" y="3140785"/>
            <a:ext cx="640080" cy="0"/>
          </a:xfrm>
          <a:prstGeom prst="straightConnector1">
            <a:avLst/>
          </a:prstGeom>
          <a:ln w="22000">
            <a:solidFill>
              <a:srgbClr val="22C55E"/>
            </a:solidFill>
            <a:headEnd type="triangle"/>
          </a:ln>
        </p:spPr>
      </p:cxnSp>
      <p:sp>
        <p:nvSpPr>
          <p:cNvPr id="13" name="Tương tác"/>
          <p:cNvSpPr txBox="1"/>
          <p:nvPr/>
        </p:nvSpPr>
        <p:spPr>
          <a:xfrm>
            <a:off x="7178040" y="2752165"/>
            <a:ext cx="1508760" cy="7772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A78BFA"/>
            </a:solidFill>
          </a:ln>
        </p:spPr>
        <p:txBody>
          <a:bodyPr wrap="square" lIns="40000" tIns="130000" rIns="4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20" b="1">
                <a:solidFill>
                  <a:srgbClr val="F8FAFC"/>
                </a:solidFill>
                <a:latin typeface="Arial"/>
                <a:cs typeface="Arial"/>
              </a:rPr>
              <a:t>Tương tác</a:t>
            </a:r>
            <a:endParaRPr lang="vi-VN" sz="1320"/>
          </a:p>
        </p:txBody>
      </p:sp>
      <p:cxnSp>
        <p:nvCxnSpPr>
          <p:cNvPr id="14" name="Arrow"/>
          <p:cNvCxnSpPr/>
          <p:nvPr/>
        </p:nvCxnSpPr>
        <p:spPr>
          <a:xfrm flipH="1">
            <a:off x="8675146" y="3078031"/>
            <a:ext cx="640080" cy="0"/>
          </a:xfrm>
          <a:prstGeom prst="straightConnector1">
            <a:avLst/>
          </a:prstGeom>
          <a:ln w="22000">
            <a:solidFill>
              <a:srgbClr val="22C55E"/>
            </a:solidFill>
            <a:headEnd type="triangle"/>
          </a:ln>
        </p:spPr>
      </p:cxnSp>
      <p:sp>
        <p:nvSpPr>
          <p:cNvPr id="15" name="Nhiệm vụ"/>
          <p:cNvSpPr txBox="1"/>
          <p:nvPr/>
        </p:nvSpPr>
        <p:spPr>
          <a:xfrm>
            <a:off x="9326880" y="2752165"/>
            <a:ext cx="1508760" cy="7772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F472B6"/>
            </a:solidFill>
          </a:ln>
        </p:spPr>
        <p:txBody>
          <a:bodyPr wrap="square" lIns="40000" tIns="130000" rIns="4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20" b="1">
                <a:solidFill>
                  <a:srgbClr val="F8FAFC"/>
                </a:solidFill>
                <a:latin typeface="Arial"/>
                <a:cs typeface="Arial"/>
              </a:rPr>
              <a:t>Nhiệm vụ</a:t>
            </a:r>
            <a:endParaRPr lang="vi-VN" sz="1320"/>
          </a:p>
        </p:txBody>
      </p:sp>
      <p:cxnSp>
        <p:nvCxnSpPr>
          <p:cNvPr id="16" name="Loop line"/>
          <p:cNvCxnSpPr/>
          <p:nvPr/>
        </p:nvCxnSpPr>
        <p:spPr>
          <a:xfrm flipV="1">
            <a:off x="6400800" y="3529405"/>
            <a:ext cx="3680460" cy="1371599"/>
          </a:xfrm>
          <a:prstGeom prst="straightConnector1">
            <a:avLst/>
          </a:prstGeom>
          <a:ln w="15000">
            <a:solidFill>
              <a:srgbClr val="94A3B8"/>
            </a:solidFill>
            <a:headEnd type="triangle"/>
          </a:ln>
        </p:spPr>
      </p:cxnSp>
      <p:sp>
        <p:nvSpPr>
          <p:cNvPr id="17" name="Loop note"/>
          <p:cNvSpPr txBox="1"/>
          <p:nvPr/>
        </p:nvSpPr>
        <p:spPr>
          <a:xfrm>
            <a:off x="2880360" y="4901004"/>
            <a:ext cx="6355080" cy="10058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620">
                <a:solidFill>
                  <a:srgbClr val="CBD5E1"/>
                </a:solidFill>
                <a:latin typeface="Arial"/>
                <a:cs typeface="Arial"/>
              </a:rPr>
              <a:t>Vòng lặp chính: khám phá môi trường, thu thập tài nguyên, mở hội thoại, hoàn thành điều kiện nhiệm vụ và chuyển sang ngày tiếp theo.</a:t>
            </a:r>
            <a:endParaRPr lang="vi-VN" sz="1620"/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33" y="1062140"/>
            <a:ext cx="6280031" cy="1325563"/>
          </a:xfrm>
        </p:spPr>
        <p:txBody>
          <a:bodyPr/>
          <a:lstStyle/>
          <a:p>
            <a:r>
              <a:rPr lang="vi-VN" dirty="0">
                <a:solidFill>
                  <a:srgbClr val="303492"/>
                </a:solidFill>
                <a:latin typeface="Arial"/>
                <a:cs typeface="Arial"/>
              </a:rPr>
              <a:t>Thiết kế hệ thống chính</a:t>
            </a:r>
            <a:r>
              <a:rPr lang="vi-VN" dirty="0">
                <a:solidFill>
                  <a:srgbClr val="303492"/>
                </a:solidFill>
              </a:rPr>
              <a:t/>
            </a:r>
            <a:br>
              <a:rPr lang="vi-VN" dirty="0">
                <a:solidFill>
                  <a:srgbClr val="303492"/>
                </a:solidFill>
              </a:rPr>
            </a:b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8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Core"/>
          <p:cNvSpPr txBox="1"/>
          <p:nvPr/>
        </p:nvSpPr>
        <p:spPr>
          <a:xfrm>
            <a:off x="4160520" y="3052481"/>
            <a:ext cx="384048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lIns="90000" tIns="150000" rIns="90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750" b="1" dirty="0">
                <a:solidFill>
                  <a:srgbClr val="0F172A"/>
                </a:solidFill>
                <a:latin typeface="Arial"/>
                <a:cs typeface="Arial"/>
              </a:rPr>
              <a:t>Game Loop / Event</a:t>
            </a:r>
            <a:endParaRPr lang="vi-VN" sz="1750" dirty="0"/>
          </a:p>
        </p:txBody>
      </p:sp>
      <p:sp>
        <p:nvSpPr>
          <p:cNvPr id="8" name="Module 0"/>
          <p:cNvSpPr txBox="1"/>
          <p:nvPr/>
        </p:nvSpPr>
        <p:spPr>
          <a:xfrm>
            <a:off x="731520" y="2412401"/>
            <a:ext cx="1645920" cy="5486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 dirty="0">
                <a:latin typeface="Arial"/>
                <a:cs typeface="Arial"/>
              </a:rPr>
              <a:t>Player</a:t>
            </a:r>
            <a:endParaRPr lang="vi-VN" sz="1180" dirty="0"/>
          </a:p>
        </p:txBody>
      </p:sp>
      <p:cxnSp>
        <p:nvCxnSpPr>
          <p:cNvPr id="9" name="Link"/>
          <p:cNvCxnSpPr/>
          <p:nvPr/>
        </p:nvCxnSpPr>
        <p:spPr>
          <a:xfrm>
            <a:off x="1554479" y="2963951"/>
            <a:ext cx="2606040" cy="368809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10" name="Module 1"/>
          <p:cNvSpPr txBox="1"/>
          <p:nvPr/>
        </p:nvSpPr>
        <p:spPr>
          <a:xfrm>
            <a:off x="2883280" y="2398245"/>
            <a:ext cx="1645920" cy="5486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>
                <a:latin typeface="Arial"/>
                <a:cs typeface="Arial"/>
              </a:rPr>
              <a:t>Interact</a:t>
            </a:r>
            <a:endParaRPr lang="vi-VN" sz="1180"/>
          </a:p>
        </p:txBody>
      </p:sp>
      <p:cxnSp>
        <p:nvCxnSpPr>
          <p:cNvPr id="11" name="Link"/>
          <p:cNvCxnSpPr/>
          <p:nvPr/>
        </p:nvCxnSpPr>
        <p:spPr>
          <a:xfrm>
            <a:off x="3637429" y="2961041"/>
            <a:ext cx="563880" cy="109729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12" name="Module 2"/>
          <p:cNvSpPr txBox="1"/>
          <p:nvPr/>
        </p:nvSpPr>
        <p:spPr>
          <a:xfrm>
            <a:off x="8183879" y="2387703"/>
            <a:ext cx="1645920" cy="5486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 dirty="0">
                <a:latin typeface="Arial"/>
                <a:cs typeface="Arial"/>
              </a:rPr>
              <a:t>Inventory</a:t>
            </a:r>
            <a:endParaRPr lang="vi-VN" sz="1180" dirty="0"/>
          </a:p>
        </p:txBody>
      </p:sp>
      <p:cxnSp>
        <p:nvCxnSpPr>
          <p:cNvPr id="13" name="Link"/>
          <p:cNvCxnSpPr/>
          <p:nvPr/>
        </p:nvCxnSpPr>
        <p:spPr>
          <a:xfrm flipH="1">
            <a:off x="7178039" y="2765340"/>
            <a:ext cx="1005840" cy="283464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14" name="Module 3"/>
          <p:cNvSpPr txBox="1"/>
          <p:nvPr/>
        </p:nvSpPr>
        <p:spPr>
          <a:xfrm>
            <a:off x="10058400" y="2229521"/>
            <a:ext cx="1645920" cy="73152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>
                <a:latin typeface="Arial"/>
                <a:cs typeface="Arial"/>
              </a:rPr>
              <a:t>Quest</a:t>
            </a:r>
            <a:endParaRPr lang="vi-VN" sz="1180"/>
          </a:p>
        </p:txBody>
      </p:sp>
      <p:cxnSp>
        <p:nvCxnSpPr>
          <p:cNvPr id="15" name="Link"/>
          <p:cNvCxnSpPr/>
          <p:nvPr/>
        </p:nvCxnSpPr>
        <p:spPr>
          <a:xfrm flipH="1">
            <a:off x="8001000" y="2961041"/>
            <a:ext cx="2880360" cy="368809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16" name="Module 4"/>
          <p:cNvSpPr txBox="1"/>
          <p:nvPr/>
        </p:nvSpPr>
        <p:spPr>
          <a:xfrm>
            <a:off x="731520" y="4698400"/>
            <a:ext cx="1645920" cy="4572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>
                <a:latin typeface="Arial"/>
                <a:cs typeface="Arial"/>
              </a:rPr>
              <a:t>Dialogue</a:t>
            </a:r>
            <a:endParaRPr lang="vi-VN" sz="1180"/>
          </a:p>
        </p:txBody>
      </p:sp>
      <p:cxnSp>
        <p:nvCxnSpPr>
          <p:cNvPr id="17" name="Link"/>
          <p:cNvCxnSpPr/>
          <p:nvPr/>
        </p:nvCxnSpPr>
        <p:spPr>
          <a:xfrm flipV="1">
            <a:off x="1554479" y="3875440"/>
            <a:ext cx="2971800" cy="822960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18" name="Module 5"/>
          <p:cNvSpPr txBox="1"/>
          <p:nvPr/>
        </p:nvSpPr>
        <p:spPr>
          <a:xfrm>
            <a:off x="2880360" y="4698400"/>
            <a:ext cx="1645920" cy="4572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 dirty="0">
                <a:latin typeface="Arial"/>
                <a:cs typeface="Arial"/>
              </a:rPr>
              <a:t>Audio</a:t>
            </a:r>
            <a:endParaRPr lang="vi-VN" sz="1180" dirty="0"/>
          </a:p>
        </p:txBody>
      </p:sp>
      <p:cxnSp>
        <p:nvCxnSpPr>
          <p:cNvPr id="19" name="Link"/>
          <p:cNvCxnSpPr/>
          <p:nvPr/>
        </p:nvCxnSpPr>
        <p:spPr>
          <a:xfrm flipV="1">
            <a:off x="3703319" y="3875440"/>
            <a:ext cx="1630680" cy="822960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20" name="Module 6"/>
          <p:cNvSpPr txBox="1"/>
          <p:nvPr/>
        </p:nvSpPr>
        <p:spPr>
          <a:xfrm>
            <a:off x="8183879" y="4698400"/>
            <a:ext cx="1645920" cy="5486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 dirty="0">
                <a:latin typeface="Arial"/>
                <a:cs typeface="Arial"/>
              </a:rPr>
              <a:t>Rendering</a:t>
            </a:r>
            <a:r>
              <a:rPr lang="vi-VN" sz="1180" b="1" dirty="0">
                <a:solidFill>
                  <a:srgbClr val="F8FAFC"/>
                </a:solidFill>
                <a:latin typeface="Arial"/>
                <a:cs typeface="Arial"/>
              </a:rPr>
              <a:t> </a:t>
            </a:r>
            <a:r>
              <a:rPr lang="vi-VN" sz="1180" b="1" dirty="0">
                <a:latin typeface="Arial"/>
                <a:cs typeface="Arial"/>
              </a:rPr>
              <a:t>/ Clue</a:t>
            </a:r>
            <a:endParaRPr lang="vi-VN" sz="1180" dirty="0"/>
          </a:p>
        </p:txBody>
      </p:sp>
      <p:cxnSp>
        <p:nvCxnSpPr>
          <p:cNvPr id="21" name="Link"/>
          <p:cNvCxnSpPr/>
          <p:nvPr/>
        </p:nvCxnSpPr>
        <p:spPr>
          <a:xfrm flipH="1" flipV="1">
            <a:off x="6934199" y="3875440"/>
            <a:ext cx="2072640" cy="822960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22" name="Module 7"/>
          <p:cNvSpPr txBox="1"/>
          <p:nvPr/>
        </p:nvSpPr>
        <p:spPr>
          <a:xfrm>
            <a:off x="10058400" y="4698400"/>
            <a:ext cx="1645920" cy="54864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334155"/>
            </a:solidFill>
          </a:ln>
        </p:spPr>
        <p:txBody>
          <a:bodyPr wrap="square" lIns="25000" tIns="110000" rIns="25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1180" b="1" dirty="0">
                <a:latin typeface="Arial"/>
                <a:cs typeface="Arial"/>
              </a:rPr>
              <a:t>Fishing / Boar / Cooking</a:t>
            </a:r>
            <a:endParaRPr lang="vi-VN" sz="1180" dirty="0"/>
          </a:p>
        </p:txBody>
      </p:sp>
      <p:cxnSp>
        <p:nvCxnSpPr>
          <p:cNvPr id="23" name="Link"/>
          <p:cNvCxnSpPr/>
          <p:nvPr/>
        </p:nvCxnSpPr>
        <p:spPr>
          <a:xfrm flipH="1" flipV="1">
            <a:off x="7696199" y="3875440"/>
            <a:ext cx="3185160" cy="822960"/>
          </a:xfrm>
          <a:prstGeom prst="straightConnector1">
            <a:avLst/>
          </a:prstGeom>
          <a:ln w="12000">
            <a:solidFill>
              <a:schemeClr val="tx1"/>
            </a:solidFill>
          </a:ln>
        </p:spPr>
      </p:cxnSp>
      <p:sp>
        <p:nvSpPr>
          <p:cNvPr id="24" name="Architecture note"/>
          <p:cNvSpPr txBox="1"/>
          <p:nvPr/>
        </p:nvSpPr>
        <p:spPr>
          <a:xfrm>
            <a:off x="1188720" y="5689897"/>
            <a:ext cx="9784080" cy="5486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50">
                <a:solidFill>
                  <a:srgbClr val="CBD5E1"/>
                </a:solidFill>
                <a:latin typeface="Arial"/>
                <a:cs typeface="Arial"/>
              </a:rPr>
              <a:t>Điểm cần nhấn: các module giao tiếp qua event hoặc API có phạm vi rõ, giúp giảm phụ thuộc trực tiếp.</a:t>
            </a:r>
            <a:endParaRPr lang="vi-VN" sz="1450"/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4="http://schemas.microsoft.com/office/drawing/2010/main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03" y="681037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Các chức năng đã cài đặt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4="http://schemas.microsoft.com/office/drawing/2010/main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9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4="http://schemas.microsoft.com/office/drawing/2010/main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Feature 0"/>
          <p:cNvSpPr txBox="1"/>
          <p:nvPr/>
        </p:nvSpPr>
        <p:spPr>
          <a:xfrm>
            <a:off x="1864659" y="2339788"/>
            <a:ext cx="4639822" cy="359761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65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260" dirty="0" smtClean="0">
                <a:solidFill>
                  <a:schemeClr val="bg1"/>
                </a:solidFill>
              </a:rPr>
              <a:t>Menu chính tương tác với người chơi</a:t>
            </a:r>
            <a:endParaRPr lang="vi-VN" sz="1260" dirty="0">
              <a:solidFill>
                <a:schemeClr val="bg1"/>
              </a:solidFill>
            </a:endParaRPr>
          </a:p>
        </p:txBody>
      </p:sp>
      <p:sp>
        <p:nvSpPr>
          <p:cNvPr id="9" name="Feature 2"/>
          <p:cNvSpPr txBox="1"/>
          <p:nvPr/>
        </p:nvSpPr>
        <p:spPr>
          <a:xfrm>
            <a:off x="1864659" y="3695554"/>
            <a:ext cx="4639822" cy="359761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65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Trang bị </a:t>
            </a:r>
            <a:r>
              <a:rPr lang="vi-VN" sz="1260" dirty="0" smtClean="0">
                <a:solidFill>
                  <a:srgbClr val="F8FAFC"/>
                </a:solidFill>
                <a:latin typeface="Arial"/>
                <a:cs typeface="Arial"/>
              </a:rPr>
              <a:t>rìu, </a:t>
            </a: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tấn công và chặt cây sinh vật phẩm gỗ.</a:t>
            </a:r>
            <a:endParaRPr lang="vi-VN" sz="1260" dirty="0"/>
          </a:p>
        </p:txBody>
      </p:sp>
      <p:sp>
        <p:nvSpPr>
          <p:cNvPr id="11" name="Feature 4"/>
          <p:cNvSpPr txBox="1"/>
          <p:nvPr/>
        </p:nvSpPr>
        <p:spPr>
          <a:xfrm>
            <a:off x="1864659" y="5043489"/>
            <a:ext cx="4639822" cy="359761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65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Câu cá, săn lợn rừng, đặt </a:t>
            </a:r>
            <a:r>
              <a:rPr lang="vi-VN" sz="1260" dirty="0" smtClean="0">
                <a:solidFill>
                  <a:srgbClr val="F8FAFC"/>
                </a:solidFill>
                <a:latin typeface="Arial"/>
                <a:cs typeface="Arial"/>
              </a:rPr>
              <a:t>bếp lửa </a:t>
            </a: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và mini game nấu ăn.</a:t>
            </a:r>
            <a:endParaRPr lang="vi-VN" sz="1260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988" y="1383835"/>
            <a:ext cx="3079523" cy="1738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859" y="3188565"/>
            <a:ext cx="3082652" cy="1733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858" y="4994358"/>
            <a:ext cx="3137665" cy="176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Bộ môn Mạng máy tính</a:t>
            </a:r>
            <a:endParaRPr lang="vi-V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10</a:t>
            </a:fld>
            <a:endParaRPr lang="vi-VN" dirty="0"/>
          </a:p>
        </p:txBody>
      </p:sp>
      <p:sp>
        <p:nvSpPr>
          <p:cNvPr id="7" name="Feature 1"/>
          <p:cNvSpPr txBox="1"/>
          <p:nvPr/>
        </p:nvSpPr>
        <p:spPr>
          <a:xfrm>
            <a:off x="1778791" y="2303037"/>
            <a:ext cx="4944739" cy="3657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65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Tương tác bằng raycast và phím E, hiển thị prompt theo object.</a:t>
            </a:r>
            <a:endParaRPr lang="vi-VN" sz="1260" dirty="0"/>
          </a:p>
        </p:txBody>
      </p:sp>
      <p:sp>
        <p:nvSpPr>
          <p:cNvPr id="8" name="Feature 3"/>
          <p:cNvSpPr txBox="1"/>
          <p:nvPr/>
        </p:nvSpPr>
        <p:spPr>
          <a:xfrm>
            <a:off x="1755290" y="3792956"/>
            <a:ext cx="4968240" cy="3657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00B0F0"/>
            </a:solidFill>
          </a:ln>
        </p:spPr>
        <p:txBody>
          <a:bodyPr wrap="square" lIns="65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260" dirty="0" smtClean="0">
                <a:solidFill>
                  <a:srgbClr val="F8FAFC"/>
                </a:solidFill>
                <a:latin typeface="Arial"/>
                <a:cs typeface="Arial"/>
              </a:rPr>
              <a:t>Túi đồ </a:t>
            </a: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quản lý gỗ, thịt, cá theo </a:t>
            </a:r>
            <a:r>
              <a:rPr lang="vi-VN" sz="1260" dirty="0" smtClean="0">
                <a:solidFill>
                  <a:srgbClr val="F8FAFC"/>
                </a:solidFill>
                <a:latin typeface="Arial"/>
                <a:cs typeface="Arial"/>
              </a:rPr>
              <a:t>ô và số lượng.</a:t>
            </a:r>
            <a:endParaRPr lang="vi-VN" sz="1260" dirty="0"/>
          </a:p>
        </p:txBody>
      </p:sp>
      <p:sp>
        <p:nvSpPr>
          <p:cNvPr id="9" name="Feature 5"/>
          <p:cNvSpPr txBox="1"/>
          <p:nvPr/>
        </p:nvSpPr>
        <p:spPr>
          <a:xfrm>
            <a:off x="1778791" y="5315174"/>
            <a:ext cx="4952573" cy="3657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65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Dialogue, </a:t>
            </a:r>
            <a:r>
              <a:rPr lang="vi-VN" sz="1260" dirty="0" smtClean="0">
                <a:solidFill>
                  <a:srgbClr val="F8FAFC"/>
                </a:solidFill>
                <a:latin typeface="Arial"/>
                <a:cs typeface="Arial"/>
              </a:rPr>
              <a:t>giao diện ques, </a:t>
            </a:r>
            <a:r>
              <a:rPr lang="vi-VN" sz="1260" dirty="0">
                <a:solidFill>
                  <a:srgbClr val="F8FAFC"/>
                </a:solidFill>
                <a:latin typeface="Arial"/>
                <a:cs typeface="Arial"/>
              </a:rPr>
              <a:t>clue vision, âm thanh và mưa theo ngày.</a:t>
            </a:r>
            <a:endParaRPr lang="vi-VN" sz="1260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52" y="1429685"/>
            <a:ext cx="3051976" cy="17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52" y="3175514"/>
            <a:ext cx="3051974" cy="17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651" y="4953075"/>
            <a:ext cx="3051977" cy="1716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360" y="519672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Tiến trình nhiệm vụ theo ngày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11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Day 1"/>
          <p:cNvSpPr txBox="1"/>
          <p:nvPr/>
        </p:nvSpPr>
        <p:spPr>
          <a:xfrm>
            <a:off x="916619" y="2546156"/>
            <a:ext cx="914400" cy="56692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lIns="0" tIns="80000" rIns="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50" b="1">
                <a:solidFill>
                  <a:srgbClr val="0F172A"/>
                </a:solidFill>
                <a:latin typeface="Arial"/>
                <a:cs typeface="Arial"/>
              </a:rPr>
              <a:t>D1</a:t>
            </a:r>
            <a:endParaRPr lang="vi-VN" sz="1350"/>
          </a:p>
        </p:txBody>
      </p:sp>
      <p:sp>
        <p:nvSpPr>
          <p:cNvPr id="8" name="Timeline 1"/>
          <p:cNvSpPr txBox="1"/>
          <p:nvPr/>
        </p:nvSpPr>
        <p:spPr>
          <a:xfrm>
            <a:off x="2011680" y="2546156"/>
            <a:ext cx="8961120" cy="5669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20">
                <a:solidFill>
                  <a:srgbClr val="F8FAFC"/>
                </a:solidFill>
                <a:latin typeface="Arial"/>
                <a:cs typeface="Arial"/>
              </a:rPr>
              <a:t>Ngày 1: tìm và phá bẫy trong khu vực rừng.</a:t>
            </a:r>
            <a:endParaRPr lang="vi-VN" sz="1420"/>
          </a:p>
        </p:txBody>
      </p:sp>
      <p:sp>
        <p:nvSpPr>
          <p:cNvPr id="10" name="Day 2"/>
          <p:cNvSpPr txBox="1"/>
          <p:nvPr/>
        </p:nvSpPr>
        <p:spPr>
          <a:xfrm>
            <a:off x="914400" y="3156832"/>
            <a:ext cx="914400" cy="56692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 wrap="square" lIns="0" tIns="80000" rIns="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50" b="1" dirty="0">
                <a:solidFill>
                  <a:srgbClr val="0F172A"/>
                </a:solidFill>
                <a:latin typeface="Arial"/>
                <a:cs typeface="Arial"/>
              </a:rPr>
              <a:t>D2</a:t>
            </a:r>
            <a:endParaRPr lang="vi-VN" sz="1350" dirty="0"/>
          </a:p>
        </p:txBody>
      </p:sp>
      <p:sp>
        <p:nvSpPr>
          <p:cNvPr id="11" name="Timeline 2"/>
          <p:cNvSpPr txBox="1"/>
          <p:nvPr/>
        </p:nvSpPr>
        <p:spPr>
          <a:xfrm>
            <a:off x="2019818" y="3154681"/>
            <a:ext cx="8961120" cy="5669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20">
                <a:solidFill>
                  <a:srgbClr val="F8FAFC"/>
                </a:solidFill>
                <a:latin typeface="Arial"/>
                <a:cs typeface="Arial"/>
              </a:rPr>
              <a:t>Ngày 2: săn lợn rừng để thu thập thịt.</a:t>
            </a:r>
            <a:endParaRPr lang="vi-VN" sz="1420"/>
          </a:p>
        </p:txBody>
      </p:sp>
      <p:sp>
        <p:nvSpPr>
          <p:cNvPr id="13" name="Day 3"/>
          <p:cNvSpPr txBox="1"/>
          <p:nvPr/>
        </p:nvSpPr>
        <p:spPr>
          <a:xfrm>
            <a:off x="916619" y="3776472"/>
            <a:ext cx="91440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80000" rIns="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50" b="1">
                <a:solidFill>
                  <a:srgbClr val="0F172A"/>
                </a:solidFill>
                <a:latin typeface="Arial"/>
                <a:cs typeface="Arial"/>
              </a:rPr>
              <a:t>D3</a:t>
            </a:r>
            <a:endParaRPr lang="vi-VN" sz="1350"/>
          </a:p>
        </p:txBody>
      </p:sp>
      <p:sp>
        <p:nvSpPr>
          <p:cNvPr id="14" name="Timeline 3"/>
          <p:cNvSpPr txBox="1"/>
          <p:nvPr/>
        </p:nvSpPr>
        <p:spPr>
          <a:xfrm>
            <a:off x="2011680" y="3776472"/>
            <a:ext cx="8961120" cy="5669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20">
                <a:solidFill>
                  <a:srgbClr val="F8FAFC"/>
                </a:solidFill>
                <a:latin typeface="Arial"/>
                <a:cs typeface="Arial"/>
              </a:rPr>
              <a:t>Ngày 3: gom gỗ, kích hoạt hint và yếu tố điều tra.</a:t>
            </a:r>
            <a:endParaRPr lang="vi-VN" sz="1420"/>
          </a:p>
        </p:txBody>
      </p:sp>
      <p:sp>
        <p:nvSpPr>
          <p:cNvPr id="16" name="Day 4"/>
          <p:cNvSpPr txBox="1"/>
          <p:nvPr/>
        </p:nvSpPr>
        <p:spPr>
          <a:xfrm>
            <a:off x="916619" y="4416551"/>
            <a:ext cx="914400" cy="5669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txBody>
          <a:bodyPr wrap="square" lIns="0" tIns="80000" rIns="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50" b="1">
                <a:solidFill>
                  <a:srgbClr val="0F172A"/>
                </a:solidFill>
                <a:latin typeface="Arial"/>
                <a:cs typeface="Arial"/>
              </a:rPr>
              <a:t>D4</a:t>
            </a:r>
            <a:endParaRPr lang="vi-VN" sz="1350"/>
          </a:p>
        </p:txBody>
      </p:sp>
      <p:sp>
        <p:nvSpPr>
          <p:cNvPr id="17" name="Timeline 4"/>
          <p:cNvSpPr txBox="1"/>
          <p:nvPr/>
        </p:nvSpPr>
        <p:spPr>
          <a:xfrm>
            <a:off x="2011680" y="4416551"/>
            <a:ext cx="8961120" cy="5669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20" dirty="0">
                <a:solidFill>
                  <a:srgbClr val="F8FAFC"/>
                </a:solidFill>
                <a:latin typeface="Arial"/>
                <a:cs typeface="Arial"/>
              </a:rPr>
              <a:t>Ngày 4: câu cá và mở rộng vòng lặp sinh tồn.</a:t>
            </a:r>
            <a:endParaRPr lang="vi-VN" sz="1420" dirty="0"/>
          </a:p>
        </p:txBody>
      </p:sp>
      <p:sp>
        <p:nvSpPr>
          <p:cNvPr id="19" name="Day 5"/>
          <p:cNvSpPr txBox="1"/>
          <p:nvPr/>
        </p:nvSpPr>
        <p:spPr>
          <a:xfrm>
            <a:off x="916619" y="5034041"/>
            <a:ext cx="914400" cy="5669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txBody>
          <a:bodyPr wrap="square" lIns="0" tIns="80000" rIns="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50" b="1">
                <a:solidFill>
                  <a:srgbClr val="0F172A"/>
                </a:solidFill>
                <a:latin typeface="Arial"/>
                <a:cs typeface="Arial"/>
              </a:rPr>
              <a:t>D5</a:t>
            </a:r>
            <a:endParaRPr lang="vi-VN" sz="1350"/>
          </a:p>
        </p:txBody>
      </p:sp>
      <p:sp>
        <p:nvSpPr>
          <p:cNvPr id="20" name="Timeline 5"/>
          <p:cNvSpPr txBox="1"/>
          <p:nvPr/>
        </p:nvSpPr>
        <p:spPr>
          <a:xfrm>
            <a:off x="2011680" y="5053405"/>
            <a:ext cx="8961120" cy="566928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20" dirty="0">
                <a:solidFill>
                  <a:srgbClr val="F8FAFC"/>
                </a:solidFill>
                <a:latin typeface="Arial"/>
                <a:cs typeface="Arial"/>
              </a:rPr>
              <a:t>Ngày 5: đặt campfire, nấu ăn, hoàn thành chuỗi sinh tồn.</a:t>
            </a:r>
            <a:endParaRPr lang="vi-VN" sz="1420" dirty="0"/>
          </a:p>
        </p:txBody>
      </p:sp>
      <p:sp>
        <p:nvSpPr>
          <p:cNvPr id="21" name="Day 5"/>
          <p:cNvSpPr txBox="1"/>
          <p:nvPr/>
        </p:nvSpPr>
        <p:spPr>
          <a:xfrm>
            <a:off x="916619" y="5667771"/>
            <a:ext cx="914400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txBody>
          <a:bodyPr wrap="square" lIns="0" tIns="80000" rIns="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350" b="1" dirty="0" smtClean="0">
                <a:solidFill>
                  <a:srgbClr val="0F172A"/>
                </a:solidFill>
                <a:latin typeface="Arial"/>
                <a:cs typeface="Arial"/>
              </a:rPr>
              <a:t>D6</a:t>
            </a:r>
            <a:endParaRPr lang="vi-VN" sz="1350" dirty="0"/>
          </a:p>
        </p:txBody>
      </p:sp>
      <p:sp>
        <p:nvSpPr>
          <p:cNvPr id="23" name="Timeline 5"/>
          <p:cNvSpPr txBox="1"/>
          <p:nvPr/>
        </p:nvSpPr>
        <p:spPr>
          <a:xfrm>
            <a:off x="2019818" y="5667770"/>
            <a:ext cx="8961120" cy="54864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420" dirty="0">
                <a:solidFill>
                  <a:srgbClr val="F8FAFC"/>
                </a:solidFill>
                <a:latin typeface="Arial"/>
                <a:cs typeface="Arial"/>
              </a:rPr>
              <a:t>Ngày </a:t>
            </a:r>
            <a:r>
              <a:rPr lang="vi-VN" sz="1420" dirty="0" smtClean="0">
                <a:solidFill>
                  <a:srgbClr val="F8FAFC"/>
                </a:solidFill>
                <a:latin typeface="Arial"/>
                <a:cs typeface="Arial"/>
              </a:rPr>
              <a:t>6: Giải mã, hoàn thành trò chơi.</a:t>
            </a:r>
            <a:endParaRPr lang="vi-VN" sz="1420" dirty="0"/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03" y="681037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Kiểm thử và kết quả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12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Test bullets"/>
          <p:cNvSpPr txBox="1"/>
          <p:nvPr/>
        </p:nvSpPr>
        <p:spPr>
          <a:xfrm>
            <a:off x="2200836" y="2062779"/>
            <a:ext cx="6537960" cy="4476065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30" dirty="0">
                <a:solidFill>
                  <a:srgbClr val="CBD5E1"/>
                </a:solidFill>
                <a:latin typeface="Arial"/>
                <a:cs typeface="Arial"/>
              </a:rPr>
              <a:t>Kiểm thử Main Menu, chuyển scene, điều khiển nhân vật và camera.</a:t>
            </a:r>
            <a:endParaRPr lang="vi-VN" sz="153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30" dirty="0">
                <a:solidFill>
                  <a:srgbClr val="CBD5E1"/>
                </a:solidFill>
                <a:latin typeface="Arial"/>
                <a:cs typeface="Arial"/>
              </a:rPr>
              <a:t>Kiểm thử tương tác object, mở cửa, nhặt vật phẩm và cập nhật inventory.</a:t>
            </a:r>
            <a:endParaRPr lang="vi-VN" sz="153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30" dirty="0">
                <a:solidFill>
                  <a:srgbClr val="CBD5E1"/>
                </a:solidFill>
                <a:latin typeface="Arial"/>
                <a:cs typeface="Arial"/>
              </a:rPr>
              <a:t>Kiểm thử chặt cây, săn lợn, câu cá, nấu ăn và trừ/hồi </a:t>
            </a:r>
            <a:r>
              <a:rPr lang="vi-VN" sz="1530" dirty="0" smtClean="0">
                <a:solidFill>
                  <a:srgbClr val="CBD5E1"/>
                </a:solidFill>
                <a:latin typeface="Arial"/>
                <a:cs typeface="Arial"/>
              </a:rPr>
              <a:t>Thể lực.</a:t>
            </a:r>
            <a:endParaRPr lang="vi-VN" sz="153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30" dirty="0">
                <a:solidFill>
                  <a:srgbClr val="CBD5E1"/>
                </a:solidFill>
                <a:latin typeface="Arial"/>
                <a:cs typeface="Arial"/>
              </a:rPr>
              <a:t>Kiểm thử dialogue, quest HUD, clue vision và âm thanh theo từng hành động.</a:t>
            </a:r>
            <a:endParaRPr lang="vi-VN" sz="1530" dirty="0"/>
          </a:p>
          <a:p>
            <a:pPr marL="260000" indent="-150000" algn="l">
              <a:spcAft>
                <a:spcPts val="7000"/>
              </a:spcAft>
              <a:buChar char="•"/>
            </a:pPr>
            <a:r>
              <a:rPr lang="vi-VN" sz="1530" dirty="0">
                <a:solidFill>
                  <a:srgbClr val="CBD5E1"/>
                </a:solidFill>
                <a:latin typeface="Arial"/>
                <a:cs typeface="Arial"/>
              </a:rPr>
              <a:t>Kết quả: vòng lặp gameplay chính hoạt động, các module có thể kết hợp thành bản demo chơi được.</a:t>
            </a:r>
            <a:endParaRPr lang="vi-VN" sz="1530" dirty="0"/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C9603C18-1868-E37A-A182-B155767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103" y="681037"/>
            <a:ext cx="6280031" cy="1325563"/>
          </a:xfrm>
        </p:spPr>
        <p:txBody>
          <a:bodyPr/>
          <a:lstStyle/>
          <a:p>
            <a:r>
              <a:rPr lang="vi-VN" dirty="0" smtClean="0">
                <a:solidFill>
                  <a:srgbClr val="303492"/>
                </a:solidFill>
              </a:rPr>
              <a:t> Đánh giá</a:t>
            </a:r>
            <a:endParaRPr lang="en-US" dirty="0">
              <a:solidFill>
                <a:srgbClr val="30349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F29ABEEF-ED35-5C0F-CE8C-A8D83C899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659" y="1936375"/>
            <a:ext cx="9489140" cy="4410637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9FBCEBC9-AC71-7CC6-B5A2-B983D049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13</a:t>
            </a:fld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4CB7F760-339D-427B-4BF0-4F8F9FCA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7" name="Left title"/>
          <p:cNvSpPr txBox="1"/>
          <p:nvPr/>
        </p:nvSpPr>
        <p:spPr>
          <a:xfrm>
            <a:off x="685800" y="2545234"/>
            <a:ext cx="525780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700" b="1">
                <a:solidFill>
                  <a:srgbClr val="0F172A"/>
                </a:solidFill>
                <a:latin typeface="Arial"/>
                <a:cs typeface="Arial"/>
              </a:rPr>
              <a:t>Điểm đạt được</a:t>
            </a:r>
            <a:endParaRPr lang="vi-VN" sz="1700"/>
          </a:p>
        </p:txBody>
      </p:sp>
      <p:sp>
        <p:nvSpPr>
          <p:cNvPr id="8" name="Right title"/>
          <p:cNvSpPr txBox="1"/>
          <p:nvPr/>
        </p:nvSpPr>
        <p:spPr>
          <a:xfrm>
            <a:off x="6263640" y="2545234"/>
            <a:ext cx="52578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lIns="90000" tIns="65000" rIns="90000" bIns="6500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1700" b="1">
                <a:solidFill>
                  <a:srgbClr val="0F172A"/>
                </a:solidFill>
                <a:latin typeface="Arial"/>
                <a:cs typeface="Arial"/>
              </a:rPr>
              <a:t>Hạn chế</a:t>
            </a:r>
            <a:endParaRPr lang="vi-VN" sz="1700"/>
          </a:p>
        </p:txBody>
      </p:sp>
      <p:sp>
        <p:nvSpPr>
          <p:cNvPr id="9" name="Left body"/>
          <p:cNvSpPr txBox="1"/>
          <p:nvPr/>
        </p:nvSpPr>
        <p:spPr>
          <a:xfrm>
            <a:off x="685800" y="3185314"/>
            <a:ext cx="5257800" cy="2752473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Module gameplay được tách tương đối rõ theo chức năng.</a:t>
            </a:r>
            <a:endParaRPr lang="vi-VN" sz="158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Dữ liệu item, nhiệm vụ, hội thoại được cấu hình bằng asset/ScriptableObject.</a:t>
            </a:r>
            <a:endParaRPr lang="vi-VN" sz="158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Có vòng lặp chơi hoàn chỉnh từ khám phá đến nhiệm vụ theo ngày.</a:t>
            </a:r>
            <a:endParaRPr lang="vi-VN" sz="1580" dirty="0"/>
          </a:p>
        </p:txBody>
      </p:sp>
      <p:sp>
        <p:nvSpPr>
          <p:cNvPr id="10" name="Right body"/>
          <p:cNvSpPr txBox="1"/>
          <p:nvPr/>
        </p:nvSpPr>
        <p:spPr>
          <a:xfrm>
            <a:off x="6263640" y="3185313"/>
            <a:ext cx="5257800" cy="274320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80" dirty="0" smtClean="0">
                <a:solidFill>
                  <a:srgbClr val="CBD5E1"/>
                </a:solidFill>
                <a:latin typeface="Arial"/>
                <a:cs typeface="Arial"/>
              </a:rPr>
              <a:t>AI </a:t>
            </a: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và cân bằng gameplay còn đơn giản.</a:t>
            </a:r>
            <a:endParaRPr lang="vi-VN" sz="158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580" dirty="0">
                <a:solidFill>
                  <a:srgbClr val="CBD5E1"/>
                </a:solidFill>
                <a:latin typeface="Arial"/>
                <a:cs typeface="Arial"/>
              </a:rPr>
              <a:t>Cần bổ sung screenshot, polish UI/UX và tối ưu hiệu năng nếu phát triển tiếp.</a:t>
            </a:r>
            <a:endParaRPr lang="vi-VN" sz="1580" dirty="0"/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3F63E282-533F-2905-DDDE-42A18EB2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14</a:t>
            </a:fld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xmlns:mc="http://schemas.openxmlformats.org/markup-compatibility/2006" xmlns:p14="http://schemas.microsoft.com/office/powerpoint/2010/main" id="{67609F66-B0A7-32F1-86B6-C5DCD7B3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Conclusion title"/>
          <p:cNvSpPr txBox="1"/>
          <p:nvPr/>
        </p:nvSpPr>
        <p:spPr>
          <a:xfrm>
            <a:off x="2236695" y="1176169"/>
            <a:ext cx="10789920" cy="4770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0"/>
              </a:spcAft>
            </a:pPr>
            <a:r>
              <a:rPr lang="vi-VN" sz="3100" b="1" dirty="0">
                <a:solidFill>
                  <a:srgbClr val="303492"/>
                </a:solidFill>
                <a:latin typeface="Arial"/>
                <a:cs typeface="Arial"/>
              </a:rPr>
              <a:t>Kết luận và hướng phát triển</a:t>
            </a:r>
            <a:endParaRPr lang="vi-VN" sz="3100" dirty="0">
              <a:solidFill>
                <a:srgbClr val="303492"/>
              </a:solidFill>
            </a:endParaRPr>
          </a:p>
        </p:txBody>
      </p:sp>
      <p:sp>
        <p:nvSpPr>
          <p:cNvPr id="7" name="Conclusion bullets"/>
          <p:cNvSpPr txBox="1"/>
          <p:nvPr/>
        </p:nvSpPr>
        <p:spPr>
          <a:xfrm>
            <a:off x="1097280" y="2591696"/>
            <a:ext cx="10012680" cy="3108960"/>
          </a:xfrm>
          <a:prstGeom prst="roundRect">
            <a:avLst/>
          </a:prstGeom>
          <a:solidFill>
            <a:srgbClr val="2B2693"/>
          </a:solidFill>
          <a:ln w="12700">
            <a:solidFill>
              <a:srgbClr val="334155"/>
            </a:solidFill>
          </a:ln>
        </p:spPr>
        <p:txBody>
          <a:bodyPr wrap="square" lIns="90000" tIns="65000" rIns="90000" bIns="65000" anchor="t">
            <a:spAutoFit/>
          </a:bodyPr>
          <a:lstStyle/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650" dirty="0">
                <a:solidFill>
                  <a:srgbClr val="CBD5E1"/>
                </a:solidFill>
                <a:latin typeface="Arial"/>
                <a:cs typeface="Arial"/>
              </a:rPr>
              <a:t>Đồ án đã xây dựng được prototype game điều tra - sinh tồn 3D trên Unity với các hệ thống gameplay cốt lõi.</a:t>
            </a:r>
            <a:endParaRPr lang="vi-VN" sz="165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650" dirty="0">
                <a:solidFill>
                  <a:srgbClr val="CBD5E1"/>
                </a:solidFill>
                <a:latin typeface="Arial"/>
                <a:cs typeface="Arial"/>
              </a:rPr>
              <a:t>Sản phẩm thể hiện khả năng tổ chức project, lập trình C#, thiết kế tương tác và kiểm thử chức năng.</a:t>
            </a:r>
            <a:endParaRPr lang="vi-VN" sz="1650" dirty="0"/>
          </a:p>
          <a:p>
            <a:pPr marL="260000" indent="-150000" algn="l">
              <a:spcAft>
                <a:spcPts val="3500"/>
              </a:spcAft>
              <a:buChar char="•"/>
            </a:pPr>
            <a:r>
              <a:rPr lang="vi-VN" sz="1650" dirty="0">
                <a:solidFill>
                  <a:srgbClr val="CBD5E1"/>
                </a:solidFill>
                <a:latin typeface="Arial"/>
                <a:cs typeface="Arial"/>
              </a:rPr>
              <a:t>Hướng phát triển: hoàn thiện save/load, mở rộng cốt truyện, bổ sung level, cải thiện AI, tối ưu hiệu năng và đóng gói bản demo.</a:t>
            </a:r>
            <a:endParaRPr lang="vi-VN" sz="1650" dirty="0"/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15</a:t>
            </a:fld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Bộ môn Mạng máy tính</a:t>
            </a:r>
            <a:endParaRPr lang="vi-VN" dirty="0"/>
          </a:p>
        </p:txBody>
      </p:sp>
      <p:sp>
        <p:nvSpPr>
          <p:cNvPr id="5" name="Thanks"/>
          <p:cNvSpPr txBox="1"/>
          <p:nvPr/>
        </p:nvSpPr>
        <p:spPr>
          <a:xfrm>
            <a:off x="1731530" y="3267635"/>
            <a:ext cx="9124727" cy="910061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txBody>
          <a:bodyPr wrap="square" lIns="90000" tIns="140000" rIns="90000" bIns="65000" anchor="t">
            <a:spAutoFit/>
          </a:bodyPr>
          <a:lstStyle/>
          <a:p>
            <a:pPr algn="ctr">
              <a:spcAft>
                <a:spcPts val="7000"/>
              </a:spcAft>
            </a:pPr>
            <a:r>
              <a:rPr lang="vi-VN" sz="4000" b="1" dirty="0">
                <a:solidFill>
                  <a:srgbClr val="FF0000"/>
                </a:solidFill>
                <a:latin typeface="Arial"/>
                <a:cs typeface="Arial"/>
              </a:rPr>
              <a:t>Xin </a:t>
            </a:r>
            <a:r>
              <a:rPr lang="vi-VN" sz="4000" b="1" dirty="0" smtClean="0">
                <a:solidFill>
                  <a:srgbClr val="FF0000"/>
                </a:solidFill>
                <a:latin typeface="Arial"/>
                <a:cs typeface="Arial"/>
              </a:rPr>
              <a:t>cảm </a:t>
            </a:r>
            <a:r>
              <a:rPr lang="vi-VN" sz="4000" b="1" dirty="0">
                <a:solidFill>
                  <a:srgbClr val="FF0000"/>
                </a:solidFill>
                <a:latin typeface="Arial"/>
                <a:cs typeface="Arial"/>
              </a:rPr>
              <a:t>ơn thầy cô đã lắng nghe</a:t>
            </a:r>
            <a:endParaRPr lang="vi-V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976</Words>
  <Application>Microsoft Office PowerPoint</Application>
  <PresentationFormat>Custom</PresentationFormat>
  <Paragraphs>125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BÁO CÁO ĐỒ ÁN TỐT NGHIỆP</vt:lpstr>
      <vt:lpstr>Nội Dung Trình Bày</vt:lpstr>
      <vt:lpstr>Lý do chọn đề tài</vt:lpstr>
      <vt:lpstr>Mục tiêu và phạm vi</vt:lpstr>
      <vt:lpstr>Công nghệ sử dụng</vt:lpstr>
      <vt:lpstr>Thiết kế đồ họa game</vt:lpstr>
      <vt:lpstr>Vòng lặp gameplay tổng quát</vt:lpstr>
      <vt:lpstr>Thiết kế hệ thống chính </vt:lpstr>
      <vt:lpstr>Các chức năng đã cài đặt</vt:lpstr>
      <vt:lpstr>PowerPoint Presentation</vt:lpstr>
      <vt:lpstr>Tiến trình nhiệm vụ theo ngày</vt:lpstr>
      <vt:lpstr>Kiểm thử và kết quả</vt:lpstr>
      <vt:lpstr> Đánh giá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phuonglieu89@outlook.com</cp:lastModifiedBy>
  <cp:revision>214</cp:revision>
  <dcterms:created xsi:type="dcterms:W3CDTF">2020-12-14T15:14:04Z</dcterms:created>
  <dcterms:modified xsi:type="dcterms:W3CDTF">2026-05-26T14:03:58Z</dcterms:modified>
</cp:coreProperties>
</file>
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sldIdLst>
    <p:sldId id="370" r:id="rId2"/>
    <p:sldId id="371" r:id="rId3"/>
    <p:sldId id="372" r:id="rId4"/>
    <p:sldId id="383" r:id="rId5"/>
    <p:sldId id="382" r:id="rId6"/>
    <p:sldId id="386" r:id="rId7"/>
    <p:sldId id="389" r:id="rId8"/>
    <p:sldId id="381" r:id="rId9"/>
    <p:sldId id="380" r:id="rId10"/>
    <p:sldId id="379" r:id="rId11"/>
    <p:sldId id="384" r:id="rId12"/>
    <p:sldId id="378" r:id="rId13"/>
    <p:sldId id="390" r:id="rId14"/>
    <p:sldId id="392" r:id="rId26"/>
    <p:sldId id="391" r:id="rId15"/>
    <p:sldId id="376" r:id="rId16"/>
    <p:sldId id="375" r:id="rId17"/>
    <p:sldId id="385" r:id="rId18"/>
    <p:sldId id="387" r:id="rId19"/>
    <p:sldId id="388" r:id="rId20"/>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B2693"/>
    <a:srgbClr val="303492"/>
    <a:srgbClr val="0000CC"/>
    <a:srgbClr val="F0FF5B"/>
    <a:srgbClr val="C25B0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031" autoAdjust="0"/>
    <p:restoredTop sz="91176" autoAdjust="0"/>
  </p:normalViewPr>
  <p:slideViewPr>
    <p:cSldViewPr snapToGrid="0">
      <p:cViewPr varScale="1">
        <p:scale>
          <a:sx n="101" d="100"/>
          <a:sy n="101" d="100"/>
        </p:scale>
        <p:origin x="1278" y="102"/>
      </p:cViewPr>
      <p:guideLst>
        <p:guide orient="horz" pos="2160"/>
        <p:guide pos="3840"/>
      </p:guideLst>
    </p:cSldViewPr>
  </p:slideViewPr>
  <p:notesTextViewPr>
    <p:cViewPr>
      <p:scale>
        <a:sx n="70" d="100"/>
        <a:sy n="7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08E9E5-2994-0341-8455-2B688C92E95E}" type="datetimeFigureOut">
              <a:rPr lang="en-US" smtClean="0"/>
              <a:t>6/1/2026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4EDBB8-7987-7B40-9AFE-E516A5D285C3}" type="slidenum">
              <a:rPr lang="en-US" smtClean="0"/>
              <a:t>‹#›</a:t>
            </a:fld>
            <a:endParaRPr lang="en-US"/>
          </a:p>
        </p:txBody>
      </p:sp>
    </p:spTree>
    <p:extLst>
      <p:ext uri="{BB962C8B-B14F-4D97-AF65-F5344CB8AC3E}">
        <p14:creationId xmlns:p14="http://schemas.microsoft.com/office/powerpoint/2010/main" val="20061387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64EDBB8-7987-7B40-9AFE-E516A5D285C3}" type="slidenum">
              <a:rPr lang="en-US" smtClean="0"/>
              <a:t>1</a:t>
            </a:fld>
            <a:endParaRPr lang="en-US"/>
          </a:p>
        </p:txBody>
      </p:sp>
    </p:spTree>
    <p:extLst>
      <p:ext uri="{BB962C8B-B14F-4D97-AF65-F5344CB8AC3E}">
        <p14:creationId xmlns:p14="http://schemas.microsoft.com/office/powerpoint/2010/main" val="23588272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4EDBB8-7987-7B40-9AFE-E516A5D285C3}" type="slidenum">
              <a:rPr lang="en-US" smtClean="0"/>
              <a:t>5</a:t>
            </a:fld>
            <a:endParaRPr lang="en-US"/>
          </a:p>
        </p:txBody>
      </p:sp>
    </p:spTree>
    <p:extLst>
      <p:ext uri="{BB962C8B-B14F-4D97-AF65-F5344CB8AC3E}">
        <p14:creationId xmlns:p14="http://schemas.microsoft.com/office/powerpoint/2010/main" val="17001631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6" name="Slide Number Placeholder 5"/>
          <p:cNvSpPr>
            <a:spLocks noGrp="1"/>
          </p:cNvSpPr>
          <p:nvPr>
            <p:ph type="sldNum" sz="quarter" idx="12"/>
          </p:nvPr>
        </p:nvSpPr>
        <p:spPr/>
        <p:txBody>
          <a:bodyPr/>
          <a:lstStyle/>
          <a:p>
            <a:fld id="{126FA1BB-6C0F-402E-9AF9-1EAC980C76FC}" type="slidenum">
              <a:rPr lang="vi-VN" smtClean="0"/>
              <a:pPr/>
              <a:t>‹#›</a:t>
            </a:fld>
            <a:endParaRPr lang="vi-VN"/>
          </a:p>
        </p:txBody>
      </p:sp>
      <p:sp>
        <p:nvSpPr>
          <p:cNvPr id="7" name="Date Placeholder 3">
            <a:extLst>
              <a:ext uri="{FF2B5EF4-FFF2-40B4-BE49-F238E27FC236}">
                <a16:creationId xmlns:a16="http://schemas.microsoft.com/office/drawing/2014/main" id="{5FE05A88-1265-F799-8AFC-5C30860C2764}"/>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3811254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053086" y="365125"/>
            <a:ext cx="6280031" cy="1325563"/>
          </a:xfrm>
        </p:spPr>
        <p:txBody>
          <a:bodyPr>
            <a:normAutofit/>
          </a:bodyPr>
          <a:lstStyle>
            <a:lvl1pPr>
              <a:defRPr sz="4000" b="1"/>
            </a:lvl1pPr>
          </a:lstStyle>
          <a:p>
            <a:r>
              <a:rPr lang="en-US" dirty="0"/>
              <a:t>CLICK TO EDIT MASTER TITLE STYLE</a:t>
            </a:r>
            <a:endParaRPr lang="vi-VN" dirty="0"/>
          </a:p>
        </p:txBody>
      </p:sp>
      <p:sp>
        <p:nvSpPr>
          <p:cNvPr id="3" name="Content Placeholder 2"/>
          <p:cNvSpPr>
            <a:spLocks noGrp="1"/>
          </p:cNvSpPr>
          <p:nvPr>
            <p:ph idx="1"/>
          </p:nvPr>
        </p:nvSpPr>
        <p:spPr>
          <a:xfrm>
            <a:off x="838200" y="2303929"/>
            <a:ext cx="10515600" cy="38730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vi-VN" dirty="0"/>
          </a:p>
        </p:txBody>
      </p:sp>
      <p:sp>
        <p:nvSpPr>
          <p:cNvPr id="4" name="Date Placeholder 3"/>
          <p:cNvSpPr>
            <a:spLocks noGrp="1"/>
          </p:cNvSpPr>
          <p:nvPr>
            <p:ph type="dt" sz="half" idx="10"/>
          </p:nvPr>
        </p:nvSpPr>
        <p:spPr>
          <a:xfrm>
            <a:off x="838200" y="6340270"/>
            <a:ext cx="2743200" cy="365125"/>
          </a:xfrm>
        </p:spPr>
        <p:txBody>
          <a:bodyPr/>
          <a:lstStyle>
            <a:lvl1pPr>
              <a:defRPr b="1">
                <a:solidFill>
                  <a:srgbClr val="00B050"/>
                </a:solidFill>
              </a:defRPr>
            </a:lvl1pPr>
          </a:lstStyle>
          <a:p>
            <a:r>
              <a:rPr lang="en-US"/>
              <a:t>Bộ môn Mạng máy tính</a:t>
            </a:r>
            <a:endParaRPr lang="vi-VN" dirty="0"/>
          </a:p>
        </p:txBody>
      </p:sp>
      <p:sp>
        <p:nvSpPr>
          <p:cNvPr id="6" name="Slide Number Placeholder 5"/>
          <p:cNvSpPr>
            <a:spLocks noGrp="1"/>
          </p:cNvSpPr>
          <p:nvPr>
            <p:ph type="sldNum" sz="quarter" idx="12"/>
          </p:nvPr>
        </p:nvSpPr>
        <p:spPr/>
        <p:txBody>
          <a:bodyPr/>
          <a:lstStyle/>
          <a:p>
            <a:fld id="{126FA1BB-6C0F-402E-9AF9-1EAC980C76FC}" type="slidenum">
              <a:rPr lang="vi-VN" smtClean="0"/>
              <a:pPr/>
              <a:t>‹#›</a:t>
            </a:fld>
            <a:endParaRPr lang="vi-VN" dirty="0"/>
          </a:p>
        </p:txBody>
      </p:sp>
    </p:spTree>
    <p:extLst>
      <p:ext uri="{BB962C8B-B14F-4D97-AF65-F5344CB8AC3E}">
        <p14:creationId xmlns:p14="http://schemas.microsoft.com/office/powerpoint/2010/main" val="3878541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vi-VN"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6" name="Slide Number Placeholder 5"/>
          <p:cNvSpPr>
            <a:spLocks noGrp="1"/>
          </p:cNvSpPr>
          <p:nvPr>
            <p:ph type="sldNum" sz="quarter" idx="12"/>
          </p:nvPr>
        </p:nvSpPr>
        <p:spPr/>
        <p:txBody>
          <a:bodyPr/>
          <a:lstStyle/>
          <a:p>
            <a:fld id="{126FA1BB-6C0F-402E-9AF9-1EAC980C76FC}" type="slidenum">
              <a:rPr lang="vi-VN" smtClean="0"/>
              <a:pPr/>
              <a:t>‹#›</a:t>
            </a:fld>
            <a:endParaRPr lang="vi-VN"/>
          </a:p>
        </p:txBody>
      </p:sp>
      <p:sp>
        <p:nvSpPr>
          <p:cNvPr id="7" name="Date Placeholder 3">
            <a:extLst>
              <a:ext uri="{FF2B5EF4-FFF2-40B4-BE49-F238E27FC236}">
                <a16:creationId xmlns:a16="http://schemas.microsoft.com/office/drawing/2014/main" id="{E7BEE52F-77BA-5078-BCEE-D6FFD80ECE4F}"/>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20697633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vi-V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Slide Number Placeholder 6"/>
          <p:cNvSpPr>
            <a:spLocks noGrp="1"/>
          </p:cNvSpPr>
          <p:nvPr>
            <p:ph type="sldNum" sz="quarter" idx="12"/>
          </p:nvPr>
        </p:nvSpPr>
        <p:spPr/>
        <p:txBody>
          <a:bodyPr/>
          <a:lstStyle/>
          <a:p>
            <a:fld id="{126FA1BB-6C0F-402E-9AF9-1EAC980C76FC}" type="slidenum">
              <a:rPr lang="vi-VN" smtClean="0"/>
              <a:pPr/>
              <a:t>‹#›</a:t>
            </a:fld>
            <a:endParaRPr lang="vi-VN"/>
          </a:p>
        </p:txBody>
      </p:sp>
      <p:sp>
        <p:nvSpPr>
          <p:cNvPr id="8" name="Date Placeholder 3">
            <a:extLst>
              <a:ext uri="{FF2B5EF4-FFF2-40B4-BE49-F238E27FC236}">
                <a16:creationId xmlns:a16="http://schemas.microsoft.com/office/drawing/2014/main" id="{31AA48C2-430A-3D32-1061-5F6741DF8E22}"/>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42345188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9" name="Slide Number Placeholder 8"/>
          <p:cNvSpPr>
            <a:spLocks noGrp="1"/>
          </p:cNvSpPr>
          <p:nvPr>
            <p:ph type="sldNum" sz="quarter" idx="12"/>
          </p:nvPr>
        </p:nvSpPr>
        <p:spPr/>
        <p:txBody>
          <a:bodyPr/>
          <a:lstStyle/>
          <a:p>
            <a:fld id="{126FA1BB-6C0F-402E-9AF9-1EAC980C76FC}" type="slidenum">
              <a:rPr lang="vi-VN" smtClean="0"/>
              <a:pPr/>
              <a:t>‹#›</a:t>
            </a:fld>
            <a:endParaRPr lang="vi-VN"/>
          </a:p>
        </p:txBody>
      </p:sp>
      <p:sp>
        <p:nvSpPr>
          <p:cNvPr id="10" name="Date Placeholder 3">
            <a:extLst>
              <a:ext uri="{FF2B5EF4-FFF2-40B4-BE49-F238E27FC236}">
                <a16:creationId xmlns:a16="http://schemas.microsoft.com/office/drawing/2014/main" id="{46E79684-D115-C5EA-F2AC-BC3265508D87}"/>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3810738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vi-VN"/>
          </a:p>
        </p:txBody>
      </p:sp>
      <p:sp>
        <p:nvSpPr>
          <p:cNvPr id="5" name="Slide Number Placeholder 4"/>
          <p:cNvSpPr>
            <a:spLocks noGrp="1"/>
          </p:cNvSpPr>
          <p:nvPr>
            <p:ph type="sldNum" sz="quarter" idx="12"/>
          </p:nvPr>
        </p:nvSpPr>
        <p:spPr/>
        <p:txBody>
          <a:bodyPr/>
          <a:lstStyle/>
          <a:p>
            <a:fld id="{126FA1BB-6C0F-402E-9AF9-1EAC980C76FC}" type="slidenum">
              <a:rPr lang="vi-VN" smtClean="0"/>
              <a:pPr/>
              <a:t>‹#›</a:t>
            </a:fld>
            <a:endParaRPr lang="vi-VN"/>
          </a:p>
        </p:txBody>
      </p:sp>
      <p:sp>
        <p:nvSpPr>
          <p:cNvPr id="6" name="Date Placeholder 3">
            <a:extLst>
              <a:ext uri="{FF2B5EF4-FFF2-40B4-BE49-F238E27FC236}">
                <a16:creationId xmlns:a16="http://schemas.microsoft.com/office/drawing/2014/main" id="{97CE13C6-A001-9A5B-A91C-FF0B67AD04E9}"/>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368108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26FA1BB-6C0F-402E-9AF9-1EAC980C76FC}" type="slidenum">
              <a:rPr lang="vi-VN" smtClean="0"/>
              <a:pPr/>
              <a:t>‹#›</a:t>
            </a:fld>
            <a:endParaRPr lang="vi-VN"/>
          </a:p>
        </p:txBody>
      </p:sp>
      <p:sp>
        <p:nvSpPr>
          <p:cNvPr id="5" name="Date Placeholder 3">
            <a:extLst>
              <a:ext uri="{FF2B5EF4-FFF2-40B4-BE49-F238E27FC236}">
                <a16:creationId xmlns:a16="http://schemas.microsoft.com/office/drawing/2014/main" id="{2C8DA68F-E7A9-5272-F50D-237B7E42D592}"/>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2432413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126FA1BB-6C0F-402E-9AF9-1EAC980C76FC}" type="slidenum">
              <a:rPr lang="vi-VN" smtClean="0"/>
              <a:pPr/>
              <a:t>‹#›</a:t>
            </a:fld>
            <a:endParaRPr lang="vi-VN"/>
          </a:p>
        </p:txBody>
      </p:sp>
      <p:sp>
        <p:nvSpPr>
          <p:cNvPr id="8" name="Date Placeholder 3">
            <a:extLst>
              <a:ext uri="{FF2B5EF4-FFF2-40B4-BE49-F238E27FC236}">
                <a16:creationId xmlns:a16="http://schemas.microsoft.com/office/drawing/2014/main" id="{ED99E1C9-1027-D65E-36D2-449EE91EAA1E}"/>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2044653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126FA1BB-6C0F-402E-9AF9-1EAC980C76FC}" type="slidenum">
              <a:rPr lang="vi-VN" smtClean="0"/>
              <a:pPr/>
              <a:t>‹#›</a:t>
            </a:fld>
            <a:endParaRPr lang="vi-VN"/>
          </a:p>
        </p:txBody>
      </p:sp>
      <p:sp>
        <p:nvSpPr>
          <p:cNvPr id="8" name="Date Placeholder 3">
            <a:extLst>
              <a:ext uri="{FF2B5EF4-FFF2-40B4-BE49-F238E27FC236}">
                <a16:creationId xmlns:a16="http://schemas.microsoft.com/office/drawing/2014/main" id="{E24CCEA7-948C-7933-5A40-0FE32DBB81E1}"/>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36780185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vi-V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Slide Number Placeholder 5"/>
          <p:cNvSpPr>
            <a:spLocks noGrp="1"/>
          </p:cNvSpPr>
          <p:nvPr>
            <p:ph type="sldNum" sz="quarter" idx="12"/>
          </p:nvPr>
        </p:nvSpPr>
        <p:spPr/>
        <p:txBody>
          <a:bodyPr/>
          <a:lstStyle/>
          <a:p>
            <a:fld id="{126FA1BB-6C0F-402E-9AF9-1EAC980C76FC}" type="slidenum">
              <a:rPr lang="vi-VN" smtClean="0"/>
              <a:pPr/>
              <a:t>‹#›</a:t>
            </a:fld>
            <a:endParaRPr lang="vi-VN"/>
          </a:p>
        </p:txBody>
      </p:sp>
      <p:sp>
        <p:nvSpPr>
          <p:cNvPr id="7" name="Date Placeholder 3">
            <a:extLst>
              <a:ext uri="{FF2B5EF4-FFF2-40B4-BE49-F238E27FC236}">
                <a16:creationId xmlns:a16="http://schemas.microsoft.com/office/drawing/2014/main" id="{C4AD8CFA-EEE6-6B00-1BD6-54887768A08F}"/>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146581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Slide Number Placeholder 5"/>
          <p:cNvSpPr>
            <a:spLocks noGrp="1"/>
          </p:cNvSpPr>
          <p:nvPr>
            <p:ph type="sldNum" sz="quarter" idx="12"/>
          </p:nvPr>
        </p:nvSpPr>
        <p:spPr/>
        <p:txBody>
          <a:bodyPr/>
          <a:lstStyle/>
          <a:p>
            <a:fld id="{126FA1BB-6C0F-402E-9AF9-1EAC980C76FC}" type="slidenum">
              <a:rPr lang="vi-VN" smtClean="0"/>
              <a:pPr/>
              <a:t>‹#›</a:t>
            </a:fld>
            <a:endParaRPr lang="vi-VN"/>
          </a:p>
        </p:txBody>
      </p:sp>
      <p:sp>
        <p:nvSpPr>
          <p:cNvPr id="7" name="Date Placeholder 3">
            <a:extLst>
              <a:ext uri="{FF2B5EF4-FFF2-40B4-BE49-F238E27FC236}">
                <a16:creationId xmlns:a16="http://schemas.microsoft.com/office/drawing/2014/main" id="{B667740A-CC60-C460-CD7A-198AE6215B0A}"/>
              </a:ext>
            </a:extLst>
          </p:cNvPr>
          <p:cNvSpPr>
            <a:spLocks noGrp="1"/>
          </p:cNvSpPr>
          <p:nvPr>
            <p:ph type="dt" sz="half" idx="10"/>
          </p:nvPr>
        </p:nvSpPr>
        <p:spPr>
          <a:xfrm>
            <a:off x="838200" y="6356350"/>
            <a:ext cx="2743200" cy="365125"/>
          </a:xfrm>
        </p:spPr>
        <p:txBody>
          <a:bodyPr/>
          <a:lstStyle>
            <a:lvl1pPr>
              <a:defRPr b="1">
                <a:solidFill>
                  <a:srgbClr val="00B050"/>
                </a:solidFill>
              </a:defRPr>
            </a:lvl1pPr>
          </a:lstStyle>
          <a:p>
            <a:r>
              <a:rPr lang="en-US"/>
              <a:t>Bộ môn Mạng máy tính</a:t>
            </a:r>
            <a:endParaRPr lang="vi-VN" dirty="0"/>
          </a:p>
        </p:txBody>
      </p:sp>
    </p:spTree>
    <p:extLst>
      <p:ext uri="{BB962C8B-B14F-4D97-AF65-F5344CB8AC3E}">
        <p14:creationId xmlns:p14="http://schemas.microsoft.com/office/powerpoint/2010/main" val="5421570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18581" y="329956"/>
            <a:ext cx="6592020" cy="1325563"/>
          </a:xfrm>
          <a:prstGeom prst="rect">
            <a:avLst/>
          </a:prstGeom>
        </p:spPr>
        <p:txBody>
          <a:bodyPr vert="horz" lIns="91440" tIns="45720" rIns="91440" bIns="45720" rtlCol="0" anchor="ctr">
            <a:normAutofit/>
          </a:bodyPr>
          <a:lstStyle/>
          <a:p>
            <a:r>
              <a:rPr lang="en-US" dirty="0"/>
              <a:t>CLICK TO EDIT MASTER TITLE STYLE</a:t>
            </a:r>
            <a:endParaRPr lang="vi-VN" dirty="0"/>
          </a:p>
        </p:txBody>
      </p:sp>
      <p:sp>
        <p:nvSpPr>
          <p:cNvPr id="3" name="Text Placeholder 2"/>
          <p:cNvSpPr>
            <a:spLocks noGrp="1"/>
          </p:cNvSpPr>
          <p:nvPr>
            <p:ph type="body" idx="1"/>
          </p:nvPr>
        </p:nvSpPr>
        <p:spPr>
          <a:xfrm>
            <a:off x="1863968" y="2470637"/>
            <a:ext cx="9489831" cy="370632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vi-VN"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Bộ môn Mạng máy tính</a:t>
            </a:r>
            <a:endParaRPr lang="vi-V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6FA1BB-6C0F-402E-9AF9-1EAC980C76FC}" type="slidenum">
              <a:rPr lang="vi-VN" smtClean="0"/>
              <a:pPr/>
              <a:t>‹#›</a:t>
            </a:fld>
            <a:endParaRPr lang="vi-VN"/>
          </a:p>
        </p:txBody>
      </p:sp>
      <p:pic>
        <p:nvPicPr>
          <p:cNvPr id="8" name="Picture 7"/>
          <p:cNvPicPr>
            <a:picLocks noChangeAspect="1"/>
          </p:cNvPicPr>
          <p:nvPr userDrawn="1"/>
        </p:nvPicPr>
        <p:blipFill>
          <a:blip r:embed="rId14">
            <a:alphaModFix amt="20000"/>
          </a:blip>
          <a:stretch>
            <a:fillRect/>
          </a:stretch>
        </p:blipFill>
        <p:spPr>
          <a:xfrm>
            <a:off x="8896289" y="968590"/>
            <a:ext cx="3165082" cy="497354"/>
          </a:xfrm>
          <a:prstGeom prst="rect">
            <a:avLst/>
          </a:prstGeom>
          <a:ln>
            <a:noFill/>
          </a:ln>
          <a:effectLst>
            <a:softEdge rad="112500"/>
          </a:effectLst>
        </p:spPr>
      </p:pic>
    </p:spTree>
    <p:extLst>
      <p:ext uri="{BB962C8B-B14F-4D97-AF65-F5344CB8AC3E}">
        <p14:creationId xmlns:p14="http://schemas.microsoft.com/office/powerpoint/2010/main" val="31087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txStyles>
    <p:titleStyle>
      <a:lvl1pPr algn="l" defTabSz="914400" rtl="0" eaLnBrk="1" latinLnBrk="0" hangingPunct="1">
        <a:lnSpc>
          <a:spcPct val="90000"/>
        </a:lnSpc>
        <a:spcBef>
          <a:spcPct val="0"/>
        </a:spcBef>
        <a:buNone/>
        <a:defRPr sz="4400" b="1"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Tahoma" panose="020B0604030504040204" pitchFamily="34" charset="0"/>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Tahoma" panose="020B0604030504040204" pitchFamily="34" charset="0"/>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Tahoma" panose="020B0604030504040204" pitchFamily="34" charset="0"/>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Tahoma" panose="020B0604030504040204" pitchFamily="34" charset="0"/>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Tahoma" panose="020B0604030504040204" pitchFamily="34" charset="0"/>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Layout" Target="../slideLayouts/slideLayout2.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64080" y="1121678"/>
            <a:ext cx="7315200" cy="581378"/>
          </a:xfrm>
          <a:prstGeom prst="rect">
            <a:avLst/>
          </a:prstGeom>
          <a:noFill/>
        </p:spPr>
        <p:txBody>
          <a:bodyPr wrap="square" lIns="18288" tIns="18288" rIns="18288" bIns="18288" anchor="ctr">
            <a:spAutoFit/>
          </a:bodyPr>
          <a:lstStyle/>
          <a:p>
            <a:pPr>
              <a:lnSpc>
                <a:spcPct val="105000"/>
              </a:lnSpc>
            </a:pPr>
            <a:r>
              <a:rPr sz="3600" b="1" dirty="0">
                <a:solidFill>
                  <a:srgbClr val="1F4E79"/>
                </a:solidFill>
                <a:latin typeface="Times New Roman"/>
              </a:rPr>
              <a:t>ĐỒ ÁN TỐT NGHIỆP</a:t>
            </a:r>
          </a:p>
        </p:txBody>
      </p:sp>
      <p:sp>
        <p:nvSpPr>
          <p:cNvPr id="3" name="TextBox 2"/>
          <p:cNvSpPr txBox="1"/>
          <p:nvPr/>
        </p:nvSpPr>
        <p:spPr>
          <a:xfrm>
            <a:off x="1432560" y="2926080"/>
            <a:ext cx="9326880" cy="1005840"/>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3600" b="1" dirty="0">
                <a:solidFill>
                  <a:srgbClr val="000000"/>
                </a:solidFill>
                <a:latin typeface="Times New Roman"/>
              </a:rPr>
              <a:t>NGHIÊN CỨU VÀ PHÁT TRIỂN TRÒ CHƠI SINH TỒN 3D</a:t>
            </a:r>
          </a:p>
        </p:txBody>
      </p:sp>
      <p:sp>
        <p:nvSpPr>
          <p:cNvPr id="4" name="TextBox 3"/>
          <p:cNvSpPr txBox="1"/>
          <p:nvPr/>
        </p:nvSpPr>
        <p:spPr>
          <a:xfrm>
            <a:off x="1935480" y="4389120"/>
            <a:ext cx="8321040" cy="320040"/>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a:solidFill>
                  <a:srgbClr val="000000"/>
                </a:solidFill>
                <a:latin typeface="Times New Roman"/>
              </a:rPr>
              <a:t>Sinh </a:t>
            </a:r>
            <a:r>
              <a:rPr sz="2000" b="0" dirty="0" err="1">
                <a:solidFill>
                  <a:srgbClr val="000000"/>
                </a:solidFill>
                <a:latin typeface="Times New Roman"/>
              </a:rPr>
              <a:t>viên</a:t>
            </a:r>
            <a:r>
              <a:rPr sz="2000" b="0" dirty="0">
                <a:solidFill>
                  <a:srgbClr val="000000"/>
                </a:solidFill>
                <a:latin typeface="Times New Roman"/>
              </a:rPr>
              <a:t> </a:t>
            </a:r>
            <a:r>
              <a:rPr sz="2000" b="0" dirty="0" err="1">
                <a:solidFill>
                  <a:srgbClr val="000000"/>
                </a:solidFill>
                <a:latin typeface="Times New Roman"/>
              </a:rPr>
              <a:t>thực</a:t>
            </a:r>
            <a:r>
              <a:rPr sz="2000" b="0" dirty="0">
                <a:solidFill>
                  <a:srgbClr val="000000"/>
                </a:solidFill>
                <a:latin typeface="Times New Roman"/>
              </a:rPr>
              <a:t> </a:t>
            </a:r>
            <a:r>
              <a:rPr sz="2000" b="0" dirty="0" err="1">
                <a:solidFill>
                  <a:srgbClr val="000000"/>
                </a:solidFill>
                <a:latin typeface="Times New Roman"/>
              </a:rPr>
              <a:t>hiện</a:t>
            </a:r>
            <a:r>
              <a:rPr sz="2000" b="0" dirty="0">
                <a:solidFill>
                  <a:srgbClr val="000000"/>
                </a:solidFill>
                <a:latin typeface="Times New Roman"/>
              </a:rPr>
              <a:t>: Thái Văn Hào</a:t>
            </a:r>
          </a:p>
        </p:txBody>
      </p:sp>
      <p:sp>
        <p:nvSpPr>
          <p:cNvPr id="5" name="TextBox 4"/>
          <p:cNvSpPr txBox="1"/>
          <p:nvPr/>
        </p:nvSpPr>
        <p:spPr>
          <a:xfrm>
            <a:off x="1935480" y="4773168"/>
            <a:ext cx="8321040" cy="320040"/>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err="1">
                <a:solidFill>
                  <a:srgbClr val="000000"/>
                </a:solidFill>
                <a:latin typeface="Times New Roman"/>
              </a:rPr>
              <a:t>Mã</a:t>
            </a:r>
            <a:r>
              <a:rPr sz="2000" b="0" dirty="0">
                <a:solidFill>
                  <a:srgbClr val="000000"/>
                </a:solidFill>
                <a:latin typeface="Times New Roman"/>
              </a:rPr>
              <a:t> </a:t>
            </a:r>
            <a:r>
              <a:rPr sz="2000" b="0" dirty="0" err="1">
                <a:solidFill>
                  <a:srgbClr val="000000"/>
                </a:solidFill>
                <a:latin typeface="Times New Roman"/>
              </a:rPr>
              <a:t>sinh</a:t>
            </a:r>
            <a:r>
              <a:rPr sz="2000" b="0" dirty="0">
                <a:solidFill>
                  <a:srgbClr val="000000"/>
                </a:solidFill>
                <a:latin typeface="Times New Roman"/>
              </a:rPr>
              <a:t> </a:t>
            </a:r>
            <a:r>
              <a:rPr sz="2000" b="0" dirty="0" err="1">
                <a:solidFill>
                  <a:srgbClr val="000000"/>
                </a:solidFill>
                <a:latin typeface="Times New Roman"/>
              </a:rPr>
              <a:t>viên</a:t>
            </a:r>
            <a:r>
              <a:rPr sz="2000" b="0" dirty="0">
                <a:solidFill>
                  <a:srgbClr val="000000"/>
                </a:solidFill>
                <a:latin typeface="Times New Roman"/>
              </a:rPr>
              <a:t>: 2121051075</a:t>
            </a:r>
          </a:p>
        </p:txBody>
      </p:sp>
      <p:sp>
        <p:nvSpPr>
          <p:cNvPr id="6" name="TextBox 5"/>
          <p:cNvSpPr txBox="1"/>
          <p:nvPr/>
        </p:nvSpPr>
        <p:spPr>
          <a:xfrm>
            <a:off x="1935480" y="5157216"/>
            <a:ext cx="8321040" cy="320040"/>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err="1">
                <a:solidFill>
                  <a:srgbClr val="000000"/>
                </a:solidFill>
                <a:latin typeface="Times New Roman"/>
              </a:rPr>
              <a:t>Giáo</a:t>
            </a:r>
            <a:r>
              <a:rPr sz="2000" b="0" dirty="0">
                <a:solidFill>
                  <a:srgbClr val="000000"/>
                </a:solidFill>
                <a:latin typeface="Times New Roman"/>
              </a:rPr>
              <a:t> </a:t>
            </a:r>
            <a:r>
              <a:rPr sz="2000" b="0" dirty="0" err="1">
                <a:solidFill>
                  <a:srgbClr val="000000"/>
                </a:solidFill>
                <a:latin typeface="Times New Roman"/>
              </a:rPr>
              <a:t>viên</a:t>
            </a:r>
            <a:r>
              <a:rPr sz="2000" b="0" dirty="0">
                <a:solidFill>
                  <a:srgbClr val="000000"/>
                </a:solidFill>
                <a:latin typeface="Times New Roman"/>
              </a:rPr>
              <a:t> </a:t>
            </a:r>
            <a:r>
              <a:rPr sz="2000" b="0" dirty="0" err="1">
                <a:solidFill>
                  <a:srgbClr val="000000"/>
                </a:solidFill>
                <a:latin typeface="Times New Roman"/>
              </a:rPr>
              <a:t>hướng</a:t>
            </a:r>
            <a:r>
              <a:rPr sz="2000" b="0" dirty="0">
                <a:solidFill>
                  <a:srgbClr val="000000"/>
                </a:solidFill>
                <a:latin typeface="Times New Roman"/>
              </a:rPr>
              <a:t> </a:t>
            </a:r>
            <a:r>
              <a:rPr sz="2000" b="0" dirty="0" err="1">
                <a:solidFill>
                  <a:srgbClr val="000000"/>
                </a:solidFill>
                <a:latin typeface="Times New Roman"/>
              </a:rPr>
              <a:t>dẫn</a:t>
            </a:r>
            <a:r>
              <a:rPr sz="2000" b="0" dirty="0">
                <a:solidFill>
                  <a:srgbClr val="000000"/>
                </a:solidFill>
                <a:latin typeface="Times New Roman"/>
              </a:rPr>
              <a:t>: Phạm Quang Hiển</a:t>
            </a:r>
          </a:p>
        </p:txBody>
      </p:sp>
    </p:spTree>
    <p:extLst>
      <p:ext uri="{BB962C8B-B14F-4D97-AF65-F5344CB8AC3E}">
        <p14:creationId xmlns:p14="http://schemas.microsoft.com/office/powerpoint/2010/main" val="2461206410"/>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NỘI DUNG TRÌNH BÀY</a:t>
            </a:r>
          </a:p>
        </p:txBody>
      </p:sp>
      <p:sp>
        <p:nvSpPr>
          <p:cNvPr id="3" name="anim-appear-10-agenda-1"/>
          <p:cNvSpPr txBox="1"/>
          <p:nvPr/>
        </p:nvSpPr>
        <p:spPr>
          <a:xfrm>
            <a:off x="2148840" y="2364105"/>
            <a:ext cx="8917000" cy="3571042"/>
          </a:xfrm>
          <a:prstGeom prst="rect">
            <a:avLst/>
          </a:prstGeom>
          <a:noFill/>
        </p:spPr>
        <p:txBody>
          <a:bodyPr wrap="square" lIns="18288" tIns="18288" rIns="18288" bIns="18288" anchor="t">
            <a:spAutoFit/>
          </a:bodyPr>
          <a:lstStyle/>
          <a:p>
            <a:pPr>
              <a:lnSpc>
                <a:spcPct val="105000"/>
              </a:lnSpc>
              <a:spcBef>
                <a:spcPts val="0"/>
              </a:spcBef>
              <a:spcAft>
                <a:spcPts val="0"/>
              </a:spcAft>
            </a:pPr>
            <a:r>
              <a:rPr sz="2000" b="0" dirty="0">
                <a:solidFill>
                  <a:srgbClr val="000000"/>
                </a:solidFill>
                <a:latin typeface="Times New Roman"/>
              </a:rPr>
              <a:t>1. GIỚI THIỆU ĐỀ TÀI</a:t>
            </a:r>
            <a:endParaRPr lang="en-US" sz="2000" b="0" dirty="0">
              <a:solidFill>
                <a:srgbClr val="000000"/>
              </a:solidFill>
              <a:latin typeface="Times New Roman"/>
            </a:endParaRPr>
          </a:p>
          <a:p>
            <a:pPr>
              <a:lnSpc>
                <a:spcPct val="105000"/>
              </a:lnSpc>
              <a:spcBef>
                <a:spcPts val="0"/>
              </a:spcBef>
              <a:spcAft>
                <a:spcPts val="0"/>
              </a:spcAft>
            </a:pPr>
            <a:endParaRPr lang="en-US" sz="2000" b="0" dirty="0">
              <a:solidFill>
                <a:srgbClr val="000000"/>
              </a:solidFill>
              <a:latin typeface="Times New Roman"/>
            </a:endParaRPr>
          </a:p>
          <a:p>
            <a:pPr>
              <a:lnSpc>
                <a:spcPct val="105000"/>
              </a:lnSpc>
            </a:pPr>
            <a:r>
              <a:rPr lang="en-US" sz="2000" dirty="0">
                <a:solidFill>
                  <a:srgbClr val="000000"/>
                </a:solidFill>
                <a:latin typeface="Times New Roman"/>
              </a:rPr>
              <a:t>2. LÝ THUYẾT VÀ CÔNG NGHỆ</a:t>
            </a:r>
          </a:p>
          <a:p>
            <a:pPr>
              <a:lnSpc>
                <a:spcPct val="105000"/>
              </a:lnSpc>
            </a:pPr>
            <a:endParaRPr lang="en-US" sz="2000" dirty="0">
              <a:solidFill>
                <a:srgbClr val="000000"/>
              </a:solidFill>
              <a:latin typeface="Times New Roman"/>
            </a:endParaRPr>
          </a:p>
          <a:p>
            <a:pPr>
              <a:lnSpc>
                <a:spcPct val="105000"/>
              </a:lnSpc>
            </a:pPr>
            <a:r>
              <a:rPr lang="en-US" sz="2000" dirty="0">
                <a:solidFill>
                  <a:srgbClr val="000000"/>
                </a:solidFill>
                <a:latin typeface="Times New Roman"/>
              </a:rPr>
              <a:t>3. PHÂN TÍCH HỆ THỐNG</a:t>
            </a:r>
          </a:p>
          <a:p>
            <a:pPr>
              <a:lnSpc>
                <a:spcPct val="105000"/>
              </a:lnSpc>
            </a:pPr>
            <a:endParaRPr lang="en-US" sz="2000" dirty="0">
              <a:solidFill>
                <a:srgbClr val="000000"/>
              </a:solidFill>
              <a:latin typeface="Times New Roman"/>
            </a:endParaRPr>
          </a:p>
          <a:p>
            <a:pPr>
              <a:lnSpc>
                <a:spcPct val="105000"/>
              </a:lnSpc>
            </a:pPr>
            <a:r>
              <a:rPr lang="en-US" sz="2000" dirty="0">
                <a:solidFill>
                  <a:srgbClr val="000000"/>
                </a:solidFill>
                <a:latin typeface="Times New Roman"/>
              </a:rPr>
              <a:t>4. QUY TRÌNH THỰC HIỆN</a:t>
            </a:r>
          </a:p>
          <a:p>
            <a:pPr>
              <a:lnSpc>
                <a:spcPct val="105000"/>
              </a:lnSpc>
            </a:pPr>
            <a:endParaRPr lang="en-US" sz="2000" dirty="0">
              <a:solidFill>
                <a:srgbClr val="000000"/>
              </a:solidFill>
              <a:latin typeface="Times New Roman"/>
            </a:endParaRPr>
          </a:p>
          <a:p>
            <a:pPr>
              <a:lnSpc>
                <a:spcPct val="105000"/>
              </a:lnSpc>
            </a:pPr>
            <a:r>
              <a:rPr lang="en-US" sz="2000" dirty="0">
                <a:solidFill>
                  <a:srgbClr val="000000"/>
                </a:solidFill>
                <a:latin typeface="Times New Roman"/>
              </a:rPr>
              <a:t>5. GIAO DIỆN VÀ TRẢI NGHIỆM</a:t>
            </a:r>
          </a:p>
          <a:p>
            <a:pPr>
              <a:lnSpc>
                <a:spcPct val="105000"/>
              </a:lnSpc>
            </a:pPr>
            <a:endParaRPr lang="en-US" sz="2000" dirty="0">
              <a:solidFill>
                <a:srgbClr val="000000"/>
              </a:solidFill>
              <a:latin typeface="Times New Roman"/>
            </a:endParaRPr>
          </a:p>
          <a:p>
            <a:pPr>
              <a:lnSpc>
                <a:spcPct val="105000"/>
              </a:lnSpc>
            </a:pPr>
            <a:r>
              <a:rPr lang="en-US" sz="2000" dirty="0">
                <a:solidFill>
                  <a:srgbClr val="000000"/>
                </a:solidFill>
                <a:latin typeface="Times New Roman"/>
              </a:rPr>
              <a:t>6. KẾT LUẬN</a:t>
            </a:r>
          </a:p>
        </p:txBody>
      </p:sp>
    </p:spTree>
    <p:extLst>
      <p:ext uri="{BB962C8B-B14F-4D97-AF65-F5344CB8AC3E}">
        <p14:creationId xmlns:p14="http://schemas.microsoft.com/office/powerpoint/2010/main" val="362644790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GIỚI THIỆU ĐỀ TÀI</a:t>
            </a:r>
          </a:p>
        </p:txBody>
      </p:sp>
      <p:sp>
        <p:nvSpPr>
          <p:cNvPr id="3" name="TextBox 2"/>
          <p:cNvSpPr txBox="1"/>
          <p:nvPr/>
        </p:nvSpPr>
        <p:spPr>
          <a:xfrm>
            <a:off x="843915" y="2696784"/>
            <a:ext cx="10682935" cy="399918"/>
          </a:xfrm>
          <a:prstGeom prst="rect">
            <a:avLst/>
          </a:prstGeom>
          <a:noFill/>
        </p:spPr>
        <p:txBody>
          <a:bodyPr wrap="square" lIns="18288" tIns="18288" rIns="18288" bIns="18288" anchor="ctr">
            <a:spAutoFit/>
          </a:bodyPr>
          <a:lstStyle/>
          <a:p>
            <a:pPr algn="l">
              <a:lnSpc>
                <a:spcPct val="105000"/>
              </a:lnSpc>
              <a:spcBef>
                <a:spcPts val="0"/>
              </a:spcBef>
              <a:spcAft>
                <a:spcPts val="0"/>
              </a:spcAft>
            </a:pPr>
            <a:r>
              <a:rPr sz="2400" b="1" dirty="0">
                <a:solidFill>
                  <a:srgbClr val="000000"/>
                </a:solidFill>
                <a:latin typeface="Times New Roman"/>
              </a:rPr>
              <a:t>Lý do </a:t>
            </a:r>
            <a:r>
              <a:rPr sz="2400" b="1" dirty="0" err="1">
                <a:solidFill>
                  <a:srgbClr val="000000"/>
                </a:solidFill>
                <a:latin typeface="Times New Roman"/>
              </a:rPr>
              <a:t>chọn</a:t>
            </a:r>
            <a:r>
              <a:rPr sz="2400" b="1" dirty="0">
                <a:solidFill>
                  <a:srgbClr val="000000"/>
                </a:solidFill>
                <a:latin typeface="Times New Roman"/>
              </a:rPr>
              <a:t> </a:t>
            </a:r>
            <a:r>
              <a:rPr sz="2400" b="1" dirty="0" err="1">
                <a:solidFill>
                  <a:srgbClr val="000000"/>
                </a:solidFill>
                <a:latin typeface="Times New Roman"/>
              </a:rPr>
              <a:t>đề</a:t>
            </a:r>
            <a:r>
              <a:rPr sz="2400" b="1" dirty="0">
                <a:solidFill>
                  <a:srgbClr val="000000"/>
                </a:solidFill>
                <a:latin typeface="Times New Roman"/>
              </a:rPr>
              <a:t> </a:t>
            </a:r>
            <a:r>
              <a:rPr sz="2400" b="1" dirty="0" err="1">
                <a:solidFill>
                  <a:srgbClr val="000000"/>
                </a:solidFill>
                <a:latin typeface="Times New Roman"/>
              </a:rPr>
              <a:t>tài</a:t>
            </a:r>
            <a:r>
              <a:rPr lang="en-US" sz="2400" b="1" dirty="0">
                <a:solidFill>
                  <a:srgbClr val="000000"/>
                </a:solidFill>
                <a:latin typeface="Times New Roman"/>
              </a:rPr>
              <a:t>:</a:t>
            </a:r>
            <a:endParaRPr sz="2400" b="1" dirty="0">
              <a:solidFill>
                <a:srgbClr val="000000"/>
              </a:solidFill>
              <a:latin typeface="Times New Roman"/>
            </a:endParaRPr>
          </a:p>
        </p:txBody>
      </p:sp>
      <p:sp>
        <p:nvSpPr>
          <p:cNvPr id="4" name="anim-appear-10-line-1"/>
          <p:cNvSpPr txBox="1"/>
          <p:nvPr/>
        </p:nvSpPr>
        <p:spPr>
          <a:xfrm>
            <a:off x="843915" y="3429000"/>
            <a:ext cx="10058400" cy="1693605"/>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0" dirty="0">
                <a:solidFill>
                  <a:srgbClr val="000000"/>
                </a:solidFill>
                <a:latin typeface="Times New Roman"/>
              </a:rPr>
              <a:t>- </a:t>
            </a:r>
            <a:r>
              <a:rPr sz="2000" b="0" dirty="0" err="1">
                <a:solidFill>
                  <a:srgbClr val="000000"/>
                </a:solidFill>
                <a:latin typeface="Times New Roman"/>
              </a:rPr>
              <a:t>Thể</a:t>
            </a:r>
            <a:r>
              <a:rPr sz="2000" b="0" dirty="0">
                <a:solidFill>
                  <a:srgbClr val="000000"/>
                </a:solidFill>
                <a:latin typeface="Times New Roman"/>
              </a:rPr>
              <a:t> </a:t>
            </a:r>
            <a:r>
              <a:rPr sz="2000" b="0" dirty="0" err="1">
                <a:solidFill>
                  <a:srgbClr val="000000"/>
                </a:solidFill>
                <a:latin typeface="Times New Roman"/>
              </a:rPr>
              <a:t>loại</a:t>
            </a:r>
            <a:r>
              <a:rPr sz="2000" b="0" dirty="0">
                <a:solidFill>
                  <a:srgbClr val="000000"/>
                </a:solidFill>
                <a:latin typeface="Times New Roman"/>
              </a:rPr>
              <a:t> roguelike </a:t>
            </a:r>
            <a:r>
              <a:rPr sz="2000" b="0" dirty="0" err="1">
                <a:solidFill>
                  <a:srgbClr val="000000"/>
                </a:solidFill>
                <a:latin typeface="Times New Roman"/>
              </a:rPr>
              <a:t>sinh</a:t>
            </a:r>
            <a:r>
              <a:rPr sz="2000" b="0" dirty="0">
                <a:solidFill>
                  <a:srgbClr val="000000"/>
                </a:solidFill>
                <a:latin typeface="Times New Roman"/>
              </a:rPr>
              <a:t> </a:t>
            </a:r>
            <a:r>
              <a:rPr sz="2000" b="0" dirty="0" err="1">
                <a:solidFill>
                  <a:srgbClr val="000000"/>
                </a:solidFill>
                <a:latin typeface="Times New Roman"/>
              </a:rPr>
              <a:t>tồn</a:t>
            </a:r>
            <a:r>
              <a:rPr sz="2000" b="0" dirty="0">
                <a:solidFill>
                  <a:srgbClr val="000000"/>
                </a:solidFill>
                <a:latin typeface="Times New Roman"/>
              </a:rPr>
              <a:t> </a:t>
            </a:r>
            <a:r>
              <a:rPr sz="2000" b="0" dirty="0" err="1">
                <a:solidFill>
                  <a:srgbClr val="000000"/>
                </a:solidFill>
                <a:latin typeface="Times New Roman"/>
              </a:rPr>
              <a:t>đánh</a:t>
            </a:r>
            <a:r>
              <a:rPr sz="2000" b="0" dirty="0">
                <a:solidFill>
                  <a:srgbClr val="000000"/>
                </a:solidFill>
                <a:latin typeface="Times New Roman"/>
              </a:rPr>
              <a:t> </a:t>
            </a:r>
            <a:r>
              <a:rPr sz="2000" b="0" dirty="0" err="1">
                <a:solidFill>
                  <a:srgbClr val="000000"/>
                </a:solidFill>
                <a:latin typeface="Times New Roman"/>
              </a:rPr>
              <a:t>quái</a:t>
            </a:r>
            <a:r>
              <a:rPr sz="2000" b="0" dirty="0">
                <a:solidFill>
                  <a:srgbClr val="000000"/>
                </a:solidFill>
                <a:latin typeface="Times New Roman"/>
              </a:rPr>
              <a:t> </a:t>
            </a:r>
            <a:r>
              <a:rPr sz="2000" b="0" dirty="0" err="1">
                <a:solidFill>
                  <a:srgbClr val="000000"/>
                </a:solidFill>
                <a:latin typeface="Times New Roman"/>
              </a:rPr>
              <a:t>có</a:t>
            </a:r>
            <a:r>
              <a:rPr sz="2000" b="0" dirty="0">
                <a:solidFill>
                  <a:srgbClr val="000000"/>
                </a:solidFill>
                <a:latin typeface="Times New Roman"/>
              </a:rPr>
              <a:t> </a:t>
            </a:r>
            <a:r>
              <a:rPr sz="2000" b="0" dirty="0" err="1">
                <a:solidFill>
                  <a:srgbClr val="000000"/>
                </a:solidFill>
                <a:latin typeface="Times New Roman"/>
              </a:rPr>
              <a:t>tính</a:t>
            </a:r>
            <a:r>
              <a:rPr sz="2000" b="0" dirty="0">
                <a:solidFill>
                  <a:srgbClr val="000000"/>
                </a:solidFill>
                <a:latin typeface="Times New Roman"/>
              </a:rPr>
              <a:t> </a:t>
            </a:r>
            <a:r>
              <a:rPr sz="2000" b="0" dirty="0" err="1">
                <a:solidFill>
                  <a:srgbClr val="000000"/>
                </a:solidFill>
                <a:latin typeface="Times New Roman"/>
              </a:rPr>
              <a:t>hấp</a:t>
            </a:r>
            <a:r>
              <a:rPr sz="2000" b="0" dirty="0">
                <a:solidFill>
                  <a:srgbClr val="000000"/>
                </a:solidFill>
                <a:latin typeface="Times New Roman"/>
              </a:rPr>
              <a:t> </a:t>
            </a:r>
            <a:r>
              <a:rPr sz="2000" b="0" dirty="0" err="1">
                <a:solidFill>
                  <a:srgbClr val="000000"/>
                </a:solidFill>
                <a:latin typeface="Times New Roman"/>
              </a:rPr>
              <a:t>dẫn</a:t>
            </a:r>
            <a:r>
              <a:rPr sz="2000" b="0" dirty="0">
                <a:solidFill>
                  <a:srgbClr val="000000"/>
                </a:solidFill>
                <a:latin typeface="Times New Roman"/>
              </a:rPr>
              <a:t>, </a:t>
            </a:r>
            <a:r>
              <a:rPr sz="2000" b="0" dirty="0" err="1">
                <a:solidFill>
                  <a:srgbClr val="000000"/>
                </a:solidFill>
                <a:latin typeface="Times New Roman"/>
              </a:rPr>
              <a:t>nhịp</a:t>
            </a:r>
            <a:r>
              <a:rPr sz="2000" b="0" dirty="0">
                <a:solidFill>
                  <a:srgbClr val="000000"/>
                </a:solidFill>
                <a:latin typeface="Times New Roman"/>
              </a:rPr>
              <a:t> </a:t>
            </a:r>
            <a:r>
              <a:rPr sz="2000" b="0" dirty="0" err="1">
                <a:solidFill>
                  <a:srgbClr val="000000"/>
                </a:solidFill>
                <a:latin typeface="Times New Roman"/>
              </a:rPr>
              <a:t>độ</a:t>
            </a:r>
            <a:r>
              <a:rPr sz="2000" b="0" dirty="0">
                <a:solidFill>
                  <a:srgbClr val="000000"/>
                </a:solidFill>
                <a:latin typeface="Times New Roman"/>
              </a:rPr>
              <a:t> </a:t>
            </a:r>
            <a:r>
              <a:rPr sz="2000" b="0" dirty="0" err="1">
                <a:solidFill>
                  <a:srgbClr val="000000"/>
                </a:solidFill>
                <a:latin typeface="Times New Roman"/>
              </a:rPr>
              <a:t>nhanh</a:t>
            </a:r>
            <a:r>
              <a:rPr sz="2000" b="0" dirty="0">
                <a:solidFill>
                  <a:srgbClr val="000000"/>
                </a:solidFill>
                <a:latin typeface="Times New Roman"/>
              </a:rPr>
              <a:t> </a:t>
            </a:r>
            <a:r>
              <a:rPr sz="2000" b="0" dirty="0" err="1">
                <a:solidFill>
                  <a:srgbClr val="000000"/>
                </a:solidFill>
                <a:latin typeface="Times New Roman"/>
              </a:rPr>
              <a:t>và</a:t>
            </a:r>
            <a:r>
              <a:rPr sz="2000" b="0" dirty="0">
                <a:solidFill>
                  <a:srgbClr val="000000"/>
                </a:solidFill>
                <a:latin typeface="Times New Roman"/>
              </a:rPr>
              <a:t> </a:t>
            </a:r>
            <a:r>
              <a:rPr sz="2000" b="0" dirty="0" err="1">
                <a:solidFill>
                  <a:srgbClr val="000000"/>
                </a:solidFill>
                <a:latin typeface="Times New Roman"/>
              </a:rPr>
              <a:t>giá</a:t>
            </a:r>
            <a:r>
              <a:rPr sz="2000" b="0" dirty="0">
                <a:solidFill>
                  <a:srgbClr val="000000"/>
                </a:solidFill>
                <a:latin typeface="Times New Roman"/>
              </a:rPr>
              <a:t> </a:t>
            </a:r>
            <a:r>
              <a:rPr sz="2000" b="0" dirty="0" err="1">
                <a:solidFill>
                  <a:srgbClr val="000000"/>
                </a:solidFill>
                <a:latin typeface="Times New Roman"/>
              </a:rPr>
              <a:t>trị</a:t>
            </a:r>
            <a:r>
              <a:rPr sz="2000" b="0" dirty="0">
                <a:solidFill>
                  <a:srgbClr val="000000"/>
                </a:solidFill>
                <a:latin typeface="Times New Roman"/>
              </a:rPr>
              <a:t> </a:t>
            </a:r>
            <a:r>
              <a:rPr sz="2000" b="0" dirty="0" err="1">
                <a:solidFill>
                  <a:srgbClr val="000000"/>
                </a:solidFill>
                <a:latin typeface="Times New Roman"/>
              </a:rPr>
              <a:t>chơi</a:t>
            </a:r>
            <a:r>
              <a:rPr sz="2000" b="0" dirty="0">
                <a:solidFill>
                  <a:srgbClr val="000000"/>
                </a:solidFill>
                <a:latin typeface="Times New Roman"/>
              </a:rPr>
              <a:t> </a:t>
            </a:r>
            <a:r>
              <a:rPr sz="2000" b="0" dirty="0" err="1">
                <a:solidFill>
                  <a:srgbClr val="000000"/>
                </a:solidFill>
                <a:latin typeface="Times New Roman"/>
              </a:rPr>
              <a:t>cao</a:t>
            </a:r>
            <a:r>
              <a:rPr sz="2000" b="0" dirty="0">
                <a:solidFill>
                  <a:srgbClr val="000000"/>
                </a:solidFill>
                <a:latin typeface="Times New Roman"/>
              </a:rPr>
              <a:t>.</a:t>
            </a:r>
            <a:endParaRPr lang="en-US" sz="2000" dirty="0">
              <a:solidFill>
                <a:srgbClr val="000000"/>
              </a:solidFill>
              <a:latin typeface="Times New Roman"/>
            </a:endParaRPr>
          </a:p>
          <a:p>
            <a:pPr algn="l">
              <a:lnSpc>
                <a:spcPct val="105000"/>
              </a:lnSpc>
              <a:spcBef>
                <a:spcPts val="0"/>
              </a:spcBef>
              <a:spcAft>
                <a:spcPts val="1000"/>
              </a:spcAft>
            </a:pPr>
            <a:r>
              <a:rPr sz="2000" b="0">
                <a:latin typeface="Times New Roman"/>
              </a:rPr>
              <a:t>- Đề tài phù hợp để áp dụng những kiến thức về Unity, C#, lối chơi, giao diện và kết nối dữ liệu.</a:t>
            </a:r>
          </a:p>
          <a:p>
            <a:pPr algn="l">
              <a:lnSpc>
                <a:spcPct val="105000"/>
              </a:lnSpc>
              <a:spcBef>
                <a:spcPts val="0"/>
              </a:spcBef>
              <a:spcAft>
                <a:spcPts val="1000"/>
              </a:spcAft>
            </a:pPr>
            <a:r>
              <a:rPr sz="2000" dirty="0">
                <a:solidFill>
                  <a:srgbClr val="000000"/>
                </a:solidFill>
                <a:latin typeface="Times New Roman"/>
              </a:rPr>
              <a:t>- Roguelike </a:t>
            </a:r>
            <a:r>
              <a:rPr sz="2000" dirty="0" err="1">
                <a:solidFill>
                  <a:srgbClr val="000000"/>
                </a:solidFill>
                <a:latin typeface="Times New Roman"/>
              </a:rPr>
              <a:t>có</a:t>
            </a:r>
            <a:r>
              <a:rPr sz="2000" dirty="0">
                <a:solidFill>
                  <a:srgbClr val="000000"/>
                </a:solidFill>
                <a:latin typeface="Times New Roman"/>
              </a:rPr>
              <a:t> </a:t>
            </a:r>
            <a:r>
              <a:rPr sz="2000" dirty="0" err="1">
                <a:solidFill>
                  <a:srgbClr val="000000"/>
                </a:solidFill>
                <a:latin typeface="Times New Roman"/>
              </a:rPr>
              <a:t>vòng</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ngắn</a:t>
            </a:r>
            <a:r>
              <a:rPr sz="2000" dirty="0">
                <a:solidFill>
                  <a:srgbClr val="000000"/>
                </a:solidFill>
                <a:latin typeface="Times New Roman"/>
              </a:rPr>
              <a:t>, </a:t>
            </a:r>
            <a:r>
              <a:rPr sz="2000" dirty="0" err="1">
                <a:solidFill>
                  <a:srgbClr val="000000"/>
                </a:solidFill>
                <a:latin typeface="Times New Roman"/>
              </a:rPr>
              <a:t>dễ</a:t>
            </a:r>
            <a:r>
              <a:rPr sz="2000" dirty="0">
                <a:solidFill>
                  <a:srgbClr val="000000"/>
                </a:solidFill>
                <a:latin typeface="Times New Roman"/>
              </a:rPr>
              <a:t> demo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dễ</a:t>
            </a:r>
            <a:r>
              <a:rPr sz="2000" dirty="0">
                <a:solidFill>
                  <a:srgbClr val="000000"/>
                </a:solidFill>
                <a:latin typeface="Times New Roman"/>
              </a:rPr>
              <a:t> </a:t>
            </a:r>
            <a:r>
              <a:rPr sz="2000" dirty="0" err="1">
                <a:solidFill>
                  <a:srgbClr val="000000"/>
                </a:solidFill>
                <a:latin typeface="Times New Roman"/>
              </a:rPr>
              <a:t>đánh</a:t>
            </a:r>
            <a:r>
              <a:rPr sz="2000" dirty="0">
                <a:solidFill>
                  <a:srgbClr val="000000"/>
                </a:solidFill>
                <a:latin typeface="Times New Roman"/>
              </a:rPr>
              <a:t> </a:t>
            </a:r>
            <a:r>
              <a:rPr sz="2000" dirty="0" err="1">
                <a:solidFill>
                  <a:srgbClr val="000000"/>
                </a:solidFill>
                <a:latin typeface="Times New Roman"/>
              </a:rPr>
              <a:t>giá</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Đề</a:t>
            </a:r>
            <a:r>
              <a:rPr sz="2000" dirty="0">
                <a:solidFill>
                  <a:srgbClr val="000000"/>
                </a:solidFill>
                <a:latin typeface="Times New Roman"/>
              </a:rPr>
              <a:t> </a:t>
            </a:r>
            <a:r>
              <a:rPr sz="2000" dirty="0" err="1">
                <a:solidFill>
                  <a:srgbClr val="000000"/>
                </a:solidFill>
                <a:latin typeface="Times New Roman"/>
              </a:rPr>
              <a:t>tài</a:t>
            </a:r>
            <a:r>
              <a:rPr sz="2000" dirty="0">
                <a:solidFill>
                  <a:srgbClr val="000000"/>
                </a:solidFill>
                <a:latin typeface="Times New Roman"/>
              </a:rPr>
              <a:t> </a:t>
            </a:r>
            <a:r>
              <a:rPr sz="2000" dirty="0" err="1">
                <a:solidFill>
                  <a:srgbClr val="000000"/>
                </a:solidFill>
                <a:latin typeface="Times New Roman"/>
              </a:rPr>
              <a:t>có</a:t>
            </a:r>
            <a:r>
              <a:rPr sz="2000" dirty="0">
                <a:solidFill>
                  <a:srgbClr val="000000"/>
                </a:solidFill>
                <a:latin typeface="Times New Roman"/>
              </a:rPr>
              <a:t> </a:t>
            </a:r>
            <a:r>
              <a:rPr sz="2000" dirty="0" err="1">
                <a:solidFill>
                  <a:srgbClr val="000000"/>
                </a:solidFill>
                <a:latin typeface="Times New Roman"/>
              </a:rPr>
              <a:t>tiềm</a:t>
            </a:r>
            <a:r>
              <a:rPr sz="2000" dirty="0">
                <a:solidFill>
                  <a:srgbClr val="000000"/>
                </a:solidFill>
                <a:latin typeface="Times New Roman"/>
              </a:rPr>
              <a:t> </a:t>
            </a:r>
            <a:r>
              <a:rPr sz="2000" dirty="0" err="1">
                <a:solidFill>
                  <a:srgbClr val="000000"/>
                </a:solidFill>
                <a:latin typeface="Times New Roman"/>
              </a:rPr>
              <a:t>năng</a:t>
            </a:r>
            <a:r>
              <a:rPr sz="2000" dirty="0">
                <a:solidFill>
                  <a:srgbClr val="000000"/>
                </a:solidFill>
                <a:latin typeface="Times New Roman"/>
              </a:rPr>
              <a:t> </a:t>
            </a:r>
            <a:r>
              <a:rPr sz="2000" dirty="0" err="1">
                <a:solidFill>
                  <a:srgbClr val="000000"/>
                </a:solidFill>
                <a:latin typeface="Times New Roman"/>
              </a:rPr>
              <a:t>mở</a:t>
            </a:r>
            <a:r>
              <a:rPr sz="2000" dirty="0">
                <a:solidFill>
                  <a:srgbClr val="000000"/>
                </a:solidFill>
                <a:latin typeface="Times New Roman"/>
              </a:rPr>
              <a:t> </a:t>
            </a:r>
            <a:r>
              <a:rPr sz="2000" dirty="0" err="1">
                <a:solidFill>
                  <a:srgbClr val="000000"/>
                </a:solidFill>
                <a:latin typeface="Times New Roman"/>
              </a:rPr>
              <a:t>rộng</a:t>
            </a:r>
            <a:r>
              <a:rPr sz="2000" dirty="0">
                <a:solidFill>
                  <a:srgbClr val="000000"/>
                </a:solidFill>
                <a:latin typeface="Times New Roman"/>
              </a:rPr>
              <a:t> </a:t>
            </a:r>
            <a:r>
              <a:rPr sz="2000" dirty="0" err="1">
                <a:solidFill>
                  <a:srgbClr val="000000"/>
                </a:solidFill>
                <a:latin typeface="Times New Roman"/>
              </a:rPr>
              <a:t>thành</a:t>
            </a:r>
            <a:r>
              <a:rPr sz="2000" dirty="0">
                <a:solidFill>
                  <a:srgbClr val="000000"/>
                </a:solidFill>
                <a:latin typeface="Times New Roman"/>
              </a:rPr>
              <a:t> </a:t>
            </a:r>
            <a:r>
              <a:rPr sz="2000" dirty="0" err="1">
                <a:solidFill>
                  <a:srgbClr val="000000"/>
                </a:solidFill>
                <a:latin typeface="Times New Roman"/>
              </a:rPr>
              <a:t>một</a:t>
            </a:r>
            <a:r>
              <a:rPr sz="2000" dirty="0">
                <a:solidFill>
                  <a:srgbClr val="000000"/>
                </a:solidFill>
                <a:latin typeface="Times New Roman"/>
              </a:rPr>
              <a:t> game </a:t>
            </a:r>
            <a:r>
              <a:rPr sz="2000" dirty="0" err="1">
                <a:solidFill>
                  <a:srgbClr val="000000"/>
                </a:solidFill>
                <a:latin typeface="Times New Roman"/>
              </a:rPr>
              <a:t>hoàn</a:t>
            </a:r>
            <a:r>
              <a:rPr sz="2000" dirty="0">
                <a:solidFill>
                  <a:srgbClr val="000000"/>
                </a:solidFill>
                <a:latin typeface="Times New Roman"/>
              </a:rPr>
              <a:t> </a:t>
            </a:r>
            <a:r>
              <a:rPr sz="2000" dirty="0" err="1">
                <a:solidFill>
                  <a:srgbClr val="000000"/>
                </a:solidFill>
                <a:latin typeface="Times New Roman"/>
              </a:rPr>
              <a:t>thiện</a:t>
            </a:r>
            <a:r>
              <a:rPr sz="2000" dirty="0">
                <a:solidFill>
                  <a:srgbClr val="000000"/>
                </a:solidFill>
                <a:latin typeface="Times New Roman"/>
              </a:rPr>
              <a:t> </a:t>
            </a:r>
            <a:r>
              <a:rPr sz="2000" dirty="0" err="1">
                <a:solidFill>
                  <a:srgbClr val="000000"/>
                </a:solidFill>
                <a:latin typeface="Times New Roman"/>
              </a:rPr>
              <a:t>hơn</a:t>
            </a:r>
            <a:r>
              <a:rPr sz="2000" dirty="0">
                <a:solidFill>
                  <a:srgbClr val="000000"/>
                </a:solidFill>
                <a:latin typeface="Times New Roman"/>
              </a:rPr>
              <a:t> </a:t>
            </a:r>
            <a:r>
              <a:rPr sz="2000" dirty="0" err="1">
                <a:solidFill>
                  <a:srgbClr val="000000"/>
                </a:solidFill>
                <a:latin typeface="Times New Roman"/>
              </a:rPr>
              <a:t>trong</a:t>
            </a:r>
            <a:r>
              <a:rPr sz="2000" dirty="0">
                <a:solidFill>
                  <a:srgbClr val="000000"/>
                </a:solidFill>
                <a:latin typeface="Times New Roman"/>
              </a:rPr>
              <a:t> </a:t>
            </a:r>
            <a:r>
              <a:rPr sz="2000" dirty="0" err="1">
                <a:solidFill>
                  <a:srgbClr val="000000"/>
                </a:solidFill>
                <a:latin typeface="Times New Roman"/>
              </a:rPr>
              <a:t>tương</a:t>
            </a:r>
            <a:r>
              <a:rPr sz="2000" dirty="0">
                <a:solidFill>
                  <a:srgbClr val="000000"/>
                </a:solidFill>
                <a:latin typeface="Times New Roman"/>
              </a:rPr>
              <a:t> lai.</a:t>
            </a:r>
          </a:p>
        </p:txBody>
      </p:sp>
    </p:spTree>
    <p:extLst>
      <p:ext uri="{BB962C8B-B14F-4D97-AF65-F5344CB8AC3E}">
        <p14:creationId xmlns:p14="http://schemas.microsoft.com/office/powerpoint/2010/main" val="136392465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GIỚI THIỆU ĐỀ TÀI</a:t>
            </a:r>
          </a:p>
        </p:txBody>
      </p:sp>
      <p:sp>
        <p:nvSpPr>
          <p:cNvPr id="3" name="TextBox 2"/>
          <p:cNvSpPr txBox="1"/>
          <p:nvPr/>
        </p:nvSpPr>
        <p:spPr>
          <a:xfrm>
            <a:off x="777239" y="2623251"/>
            <a:ext cx="5135727" cy="399918"/>
          </a:xfrm>
          <a:prstGeom prst="rect">
            <a:avLst/>
          </a:prstGeom>
          <a:noFill/>
        </p:spPr>
        <p:txBody>
          <a:bodyPr wrap="square" lIns="18288" tIns="18288" rIns="18288" bIns="18288" anchor="ctr">
            <a:spAutoFit/>
          </a:bodyPr>
          <a:lstStyle/>
          <a:p>
            <a:pPr algn="l">
              <a:lnSpc>
                <a:spcPct val="105000"/>
              </a:lnSpc>
              <a:spcBef>
                <a:spcPts val="0"/>
              </a:spcBef>
              <a:spcAft>
                <a:spcPts val="0"/>
              </a:spcAft>
            </a:pPr>
            <a:r>
              <a:rPr lang="en-US" sz="2400" b="1" dirty="0" err="1">
                <a:solidFill>
                  <a:srgbClr val="000000"/>
                </a:solidFill>
                <a:latin typeface="Times New Roman"/>
              </a:rPr>
              <a:t>Mục</a:t>
            </a:r>
            <a:r>
              <a:rPr lang="en-US" sz="2400" b="1" dirty="0">
                <a:solidFill>
                  <a:srgbClr val="000000"/>
                </a:solidFill>
                <a:latin typeface="Times New Roman"/>
              </a:rPr>
              <a:t> </a:t>
            </a:r>
            <a:r>
              <a:rPr lang="en-US" sz="2400" b="1" dirty="0" err="1">
                <a:solidFill>
                  <a:srgbClr val="000000"/>
                </a:solidFill>
                <a:latin typeface="Times New Roman"/>
              </a:rPr>
              <a:t>tiêu</a:t>
            </a:r>
            <a:endParaRPr lang="en-US" sz="2400" b="1" dirty="0">
              <a:solidFill>
                <a:srgbClr val="000000"/>
              </a:solidFill>
              <a:latin typeface="Times New Roman"/>
            </a:endParaRPr>
          </a:p>
        </p:txBody>
      </p:sp>
      <p:sp>
        <p:nvSpPr>
          <p:cNvPr id="4" name="TextBox 3"/>
          <p:cNvSpPr txBox="1"/>
          <p:nvPr/>
        </p:nvSpPr>
        <p:spPr>
          <a:xfrm>
            <a:off x="6324446" y="2623251"/>
            <a:ext cx="5135727" cy="399918"/>
          </a:xfrm>
          <a:prstGeom prst="rect">
            <a:avLst/>
          </a:prstGeom>
          <a:noFill/>
        </p:spPr>
        <p:txBody>
          <a:bodyPr wrap="square" lIns="18288" tIns="18288" rIns="18288" bIns="18288" anchor="ctr">
            <a:spAutoFit/>
          </a:bodyPr>
          <a:lstStyle/>
          <a:p>
            <a:pPr algn="l">
              <a:lnSpc>
                <a:spcPct val="105000"/>
              </a:lnSpc>
              <a:spcBef>
                <a:spcPts val="0"/>
              </a:spcBef>
              <a:spcAft>
                <a:spcPts val="0"/>
              </a:spcAft>
            </a:pPr>
            <a:r>
              <a:rPr sz="2400" b="1" dirty="0">
                <a:solidFill>
                  <a:srgbClr val="000000"/>
                </a:solidFill>
                <a:latin typeface="Times New Roman"/>
              </a:rPr>
              <a:t>Phạm vi</a:t>
            </a:r>
          </a:p>
        </p:txBody>
      </p:sp>
      <p:sp>
        <p:nvSpPr>
          <p:cNvPr id="5" name="anim-appear-10-line-1"/>
          <p:cNvSpPr txBox="1"/>
          <p:nvPr/>
        </p:nvSpPr>
        <p:spPr>
          <a:xfrm>
            <a:off x="777239" y="3352039"/>
            <a:ext cx="5318761" cy="1888530"/>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0" dirty="0">
                <a:solidFill>
                  <a:srgbClr val="000000"/>
                </a:solidFill>
                <a:latin typeface="Times New Roman"/>
              </a:rPr>
              <a:t>- </a:t>
            </a:r>
            <a:r>
              <a:rPr sz="2000" b="0" dirty="0" err="1">
                <a:solidFill>
                  <a:srgbClr val="000000"/>
                </a:solidFill>
                <a:latin typeface="Times New Roman"/>
              </a:rPr>
              <a:t>Xây</a:t>
            </a:r>
            <a:r>
              <a:rPr sz="2000" b="0" dirty="0">
                <a:solidFill>
                  <a:srgbClr val="000000"/>
                </a:solidFill>
                <a:latin typeface="Times New Roman"/>
              </a:rPr>
              <a:t> </a:t>
            </a:r>
            <a:r>
              <a:rPr sz="2000" b="0" dirty="0" err="1">
                <a:solidFill>
                  <a:srgbClr val="000000"/>
                </a:solidFill>
                <a:latin typeface="Times New Roman"/>
              </a:rPr>
              <a:t>dựng</a:t>
            </a:r>
            <a:r>
              <a:rPr sz="2000" b="0" dirty="0">
                <a:solidFill>
                  <a:srgbClr val="000000"/>
                </a:solidFill>
                <a:latin typeface="Times New Roman"/>
              </a:rPr>
              <a:t> game </a:t>
            </a:r>
            <a:r>
              <a:rPr sz="2000" b="0" dirty="0" err="1">
                <a:solidFill>
                  <a:srgbClr val="000000"/>
                </a:solidFill>
                <a:latin typeface="Times New Roman"/>
              </a:rPr>
              <a:t>sinh</a:t>
            </a:r>
            <a:r>
              <a:rPr sz="2000" b="0" dirty="0">
                <a:solidFill>
                  <a:srgbClr val="000000"/>
                </a:solidFill>
                <a:latin typeface="Times New Roman"/>
              </a:rPr>
              <a:t> </a:t>
            </a:r>
            <a:r>
              <a:rPr sz="2000" b="0" dirty="0" err="1">
                <a:solidFill>
                  <a:srgbClr val="000000"/>
                </a:solidFill>
                <a:latin typeface="Times New Roman"/>
              </a:rPr>
              <a:t>tồn</a:t>
            </a:r>
            <a:r>
              <a:rPr sz="2000" b="0" dirty="0">
                <a:solidFill>
                  <a:srgbClr val="000000"/>
                </a:solidFill>
                <a:latin typeface="Times New Roman"/>
              </a:rPr>
              <a:t> </a:t>
            </a:r>
            <a:r>
              <a:rPr sz="2000" b="0" dirty="0" err="1">
                <a:solidFill>
                  <a:srgbClr val="000000"/>
                </a:solidFill>
                <a:latin typeface="Times New Roman"/>
              </a:rPr>
              <a:t>đánh</a:t>
            </a:r>
            <a:r>
              <a:rPr sz="2000" b="0" dirty="0">
                <a:solidFill>
                  <a:srgbClr val="000000"/>
                </a:solidFill>
                <a:latin typeface="Times New Roman"/>
              </a:rPr>
              <a:t> </a:t>
            </a:r>
            <a:r>
              <a:rPr sz="2000" b="0" dirty="0" err="1">
                <a:solidFill>
                  <a:srgbClr val="000000"/>
                </a:solidFill>
                <a:latin typeface="Times New Roman"/>
              </a:rPr>
              <a:t>quái</a:t>
            </a:r>
            <a:r>
              <a:rPr sz="2000" b="0" dirty="0">
                <a:solidFill>
                  <a:srgbClr val="000000"/>
                </a:solidFill>
                <a:latin typeface="Times New Roman"/>
              </a:rPr>
              <a:t> 3D </a:t>
            </a:r>
            <a:r>
              <a:rPr sz="2000" b="0" dirty="0" err="1">
                <a:solidFill>
                  <a:srgbClr val="000000"/>
                </a:solidFill>
                <a:latin typeface="Times New Roman"/>
              </a:rPr>
              <a:t>trên</a:t>
            </a:r>
            <a:r>
              <a:rPr sz="2000" b="0" dirty="0">
                <a:solidFill>
                  <a:srgbClr val="000000"/>
                </a:solidFill>
                <a:latin typeface="Times New Roman"/>
              </a:rPr>
              <a:t> Unity.</a:t>
            </a:r>
            <a:endParaRPr lang="en-US" sz="2000" b="0" dirty="0">
              <a:solidFill>
                <a:srgbClr val="000000"/>
              </a:solidFill>
              <a:latin typeface="Times New Roman"/>
            </a:endParaRPr>
          </a:p>
          <a:p>
            <a:pPr algn="l">
              <a:lnSpc>
                <a:spcPct val="105000"/>
              </a:lnSpc>
              <a:spcBef>
                <a:spcPts val="0"/>
              </a:spcBef>
              <a:spcAft>
                <a:spcPts val="1000"/>
              </a:spcAft>
            </a:pPr>
            <a:r>
              <a:rPr sz="2000" b="0">
                <a:latin typeface="Times New Roman"/>
              </a:rPr>
              <a:t>- Hoàn thiện lối chơi từ di chuyển, chiến đấu, nhận kinh nghiệm đến chọn nâng cấp theo đợt quái.</a:t>
            </a:r>
          </a:p>
          <a:p>
            <a:pPr algn="l">
              <a:lnSpc>
                <a:spcPct val="105000"/>
              </a:lnSpc>
              <a:spcBef>
                <a:spcPts val="0"/>
              </a:spcBef>
              <a:spcAft>
                <a:spcPts val="1000"/>
              </a:spcAft>
            </a:pPr>
            <a:r>
              <a:rPr sz="2000" b="0" dirty="0">
                <a:latin typeface="Times New Roman"/>
              </a:rPr>
              <a:t>- </a:t>
            </a:r>
            <a:r>
              <a:rPr sz="2000" b="0" dirty="0" err="1">
                <a:latin typeface="Times New Roman"/>
              </a:rPr>
              <a:t>Xây</a:t>
            </a:r>
            <a:r>
              <a:rPr sz="2000" b="0" dirty="0">
                <a:latin typeface="Times New Roman"/>
              </a:rPr>
              <a:t> </a:t>
            </a:r>
            <a:r>
              <a:rPr sz="2000" b="0" dirty="0" err="1">
                <a:latin typeface="Times New Roman"/>
              </a:rPr>
              <a:t>dựng</a:t>
            </a:r>
            <a:r>
              <a:rPr sz="2000" b="0" dirty="0">
                <a:latin typeface="Times New Roman"/>
              </a:rPr>
              <a:t> </a:t>
            </a:r>
            <a:r>
              <a:rPr sz="2000" b="0" dirty="0" err="1">
                <a:latin typeface="Times New Roman"/>
              </a:rPr>
              <a:t>giao</a:t>
            </a:r>
            <a:r>
              <a:rPr sz="2000" b="0" dirty="0">
                <a:latin typeface="Times New Roman"/>
              </a:rPr>
              <a:t> </a:t>
            </a:r>
            <a:r>
              <a:rPr sz="2000" b="0" dirty="0" err="1">
                <a:latin typeface="Times New Roman"/>
              </a:rPr>
              <a:t>diện</a:t>
            </a:r>
            <a:r>
              <a:rPr sz="2000" b="0" dirty="0">
                <a:latin typeface="Times New Roman"/>
              </a:rPr>
              <a:t> </a:t>
            </a:r>
            <a:r>
              <a:rPr sz="2000" b="0" dirty="0" err="1">
                <a:latin typeface="Times New Roman"/>
              </a:rPr>
              <a:t>và</a:t>
            </a:r>
            <a:r>
              <a:rPr sz="2000" b="0" dirty="0">
                <a:latin typeface="Times New Roman"/>
              </a:rPr>
              <a:t> </a:t>
            </a:r>
            <a:r>
              <a:rPr sz="2000" b="0" dirty="0" err="1">
                <a:latin typeface="Times New Roman"/>
              </a:rPr>
              <a:t>bảng</a:t>
            </a:r>
            <a:r>
              <a:rPr sz="2000" b="0" dirty="0">
                <a:latin typeface="Times New Roman"/>
              </a:rPr>
              <a:t> </a:t>
            </a:r>
            <a:r>
              <a:rPr sz="2000" b="0" dirty="0" err="1">
                <a:latin typeface="Times New Roman"/>
              </a:rPr>
              <a:t>xếp</a:t>
            </a:r>
            <a:r>
              <a:rPr sz="2000" b="0" dirty="0">
                <a:latin typeface="Times New Roman"/>
              </a:rPr>
              <a:t> </a:t>
            </a:r>
            <a:r>
              <a:rPr sz="2000" b="0" dirty="0" err="1">
                <a:latin typeface="Times New Roman"/>
              </a:rPr>
              <a:t>hạng</a:t>
            </a:r>
            <a:r>
              <a:rPr sz="2000" b="0" dirty="0">
                <a:latin typeface="Times New Roman"/>
              </a:rPr>
              <a:t>, </a:t>
            </a:r>
            <a:r>
              <a:rPr sz="2000" b="0" dirty="0" err="1">
                <a:latin typeface="Times New Roman"/>
              </a:rPr>
              <a:t>hướng</a:t>
            </a:r>
            <a:r>
              <a:rPr sz="2000" b="0" dirty="0">
                <a:latin typeface="Times New Roman"/>
              </a:rPr>
              <a:t> </a:t>
            </a:r>
            <a:r>
              <a:rPr sz="2000" b="0" dirty="0" err="1">
                <a:latin typeface="Times New Roman"/>
              </a:rPr>
              <a:t>tới</a:t>
            </a:r>
            <a:r>
              <a:rPr sz="2000" b="0" dirty="0">
                <a:latin typeface="Times New Roman"/>
              </a:rPr>
              <a:t> </a:t>
            </a:r>
            <a:r>
              <a:rPr sz="2000" b="0" dirty="0" err="1">
                <a:latin typeface="Times New Roman"/>
              </a:rPr>
              <a:t>một</a:t>
            </a:r>
            <a:r>
              <a:rPr sz="2000" b="0" dirty="0">
                <a:latin typeface="Times New Roman"/>
              </a:rPr>
              <a:t> </a:t>
            </a:r>
            <a:r>
              <a:rPr sz="2000" b="0" dirty="0" err="1">
                <a:latin typeface="Times New Roman"/>
              </a:rPr>
              <a:t>trò</a:t>
            </a:r>
            <a:r>
              <a:rPr sz="2000" b="0" dirty="0">
                <a:latin typeface="Times New Roman"/>
              </a:rPr>
              <a:t> </a:t>
            </a:r>
            <a:r>
              <a:rPr sz="2000" b="0" dirty="0" err="1">
                <a:latin typeface="Times New Roman"/>
              </a:rPr>
              <a:t>chơi</a:t>
            </a:r>
            <a:r>
              <a:rPr sz="2000" b="0" dirty="0">
                <a:latin typeface="Times New Roman"/>
              </a:rPr>
              <a:t> </a:t>
            </a:r>
            <a:r>
              <a:rPr sz="2000" b="0" dirty="0" err="1">
                <a:latin typeface="Times New Roman"/>
              </a:rPr>
              <a:t>hoàn</a:t>
            </a:r>
            <a:r>
              <a:rPr sz="2000" b="0" dirty="0">
                <a:latin typeface="Times New Roman"/>
              </a:rPr>
              <a:t> </a:t>
            </a:r>
            <a:r>
              <a:rPr sz="2000" b="0" dirty="0" err="1">
                <a:latin typeface="Times New Roman"/>
              </a:rPr>
              <a:t>chỉnh</a:t>
            </a:r>
            <a:r>
              <a:rPr sz="2000" b="0" dirty="0">
                <a:latin typeface="Times New Roman"/>
              </a:rPr>
              <a:t> </a:t>
            </a:r>
            <a:r>
              <a:rPr sz="2000" b="0" dirty="0" err="1">
                <a:latin typeface="Times New Roman"/>
              </a:rPr>
              <a:t>có</a:t>
            </a:r>
            <a:r>
              <a:rPr sz="2000" b="0" dirty="0">
                <a:latin typeface="Times New Roman"/>
              </a:rPr>
              <a:t> </a:t>
            </a:r>
            <a:r>
              <a:rPr sz="2000" b="0" dirty="0" err="1">
                <a:latin typeface="Times New Roman"/>
              </a:rPr>
              <a:t>thể</a:t>
            </a:r>
            <a:r>
              <a:rPr sz="2000" b="0" dirty="0">
                <a:latin typeface="Times New Roman"/>
              </a:rPr>
              <a:t> </a:t>
            </a:r>
            <a:r>
              <a:rPr sz="2000" b="0" dirty="0" err="1">
                <a:latin typeface="Times New Roman"/>
              </a:rPr>
              <a:t>tiếp</a:t>
            </a:r>
            <a:r>
              <a:rPr sz="2000" b="0" dirty="0">
                <a:latin typeface="Times New Roman"/>
              </a:rPr>
              <a:t> </a:t>
            </a:r>
            <a:r>
              <a:rPr sz="2000" b="0" dirty="0" err="1">
                <a:latin typeface="Times New Roman"/>
              </a:rPr>
              <a:t>tục</a:t>
            </a:r>
            <a:r>
              <a:rPr sz="2000" b="0" dirty="0">
                <a:latin typeface="Times New Roman"/>
              </a:rPr>
              <a:t> </a:t>
            </a:r>
            <a:r>
              <a:rPr sz="2000" b="0" dirty="0" err="1">
                <a:latin typeface="Times New Roman"/>
              </a:rPr>
              <a:t>phát</a:t>
            </a:r>
            <a:r>
              <a:rPr sz="2000" b="0" dirty="0">
                <a:latin typeface="Times New Roman"/>
              </a:rPr>
              <a:t> </a:t>
            </a:r>
            <a:r>
              <a:rPr sz="2000" b="0" dirty="0" err="1">
                <a:latin typeface="Times New Roman"/>
              </a:rPr>
              <a:t>triển</a:t>
            </a:r>
            <a:r>
              <a:rPr sz="2000" b="0" dirty="0">
                <a:latin typeface="Times New Roman"/>
              </a:rPr>
              <a:t>.</a:t>
            </a:r>
          </a:p>
        </p:txBody>
      </p:sp>
      <p:sp>
        <p:nvSpPr>
          <p:cNvPr id="7" name="anim-appear-40-line-1"/>
          <p:cNvSpPr txBox="1"/>
          <p:nvPr/>
        </p:nvSpPr>
        <p:spPr>
          <a:xfrm>
            <a:off x="6324446" y="3352039"/>
            <a:ext cx="5135727" cy="2858026"/>
          </a:xfrm>
          <a:prstGeom prst="rect">
            <a:avLst/>
          </a:prstGeom>
          <a:noFill/>
        </p:spPr>
        <p:txBody>
          <a:bodyPr wrap="square" lIns="18288" tIns="18288" rIns="18288" bIns="18288" anchor="t">
            <a:spAutoFit/>
          </a:bodyPr>
          <a:lstStyle/>
          <a:p>
            <a:pPr>
              <a:lnSpc>
                <a:spcPct val="105000"/>
              </a:lnSpc>
              <a:spcAft>
                <a:spcPts val="1000"/>
              </a:spcAft>
            </a:pPr>
            <a:r>
              <a:rPr lang="en-US" sz="2000" dirty="0">
                <a:solidFill>
                  <a:srgbClr val="000000"/>
                </a:solidFill>
                <a:latin typeface="Times New Roman"/>
              </a:rPr>
              <a:t>- </a:t>
            </a:r>
            <a:r>
              <a:rPr lang="vi-VN" sz="2000" dirty="0">
                <a:solidFill>
                  <a:srgbClr val="000000"/>
                </a:solidFill>
                <a:latin typeface="Times New Roman"/>
              </a:rPr>
              <a:t>Tập trung xây dựng các chức năng chính: nhân vật, quái, đợt quái, nâng cấp, giao diện trong trận và bảng xếp hạng.</a:t>
            </a:r>
            <a:endParaRPr lang="en-US" sz="2000" dirty="0">
              <a:solidFill>
                <a:srgbClr val="000000"/>
              </a:solidFill>
              <a:latin typeface="Times New Roman"/>
            </a:endParaRPr>
          </a:p>
          <a:p>
            <a:pPr>
              <a:lnSpc>
                <a:spcPct val="105000"/>
              </a:lnSpc>
              <a:spcAft>
                <a:spcPts val="1000"/>
              </a:spcAft>
            </a:pPr>
            <a:r>
              <a:rPr lang="en-US" sz="2000" dirty="0">
                <a:solidFill>
                  <a:srgbClr val="000000"/>
                </a:solidFill>
                <a:latin typeface="Times New Roman"/>
              </a:rPr>
              <a:t>- </a:t>
            </a:r>
            <a:r>
              <a:rPr lang="vi-VN" sz="2000" dirty="0">
                <a:solidFill>
                  <a:srgbClr val="000000"/>
                </a:solidFill>
                <a:latin typeface="Times New Roman"/>
              </a:rPr>
              <a:t>Phát triển trò chơi ở mức có thể chơi được, có vòng chơi rõ ràng từ bắt đầu trận, chiến đấu, lên cấp đến kết thúc và lưu điểm.</a:t>
            </a:r>
            <a:endParaRPr lang="en-US" sz="2000" dirty="0">
              <a:solidFill>
                <a:srgbClr val="000000"/>
              </a:solidFill>
              <a:latin typeface="Times New Roman"/>
            </a:endParaRPr>
          </a:p>
          <a:p>
            <a:pPr>
              <a:lnSpc>
                <a:spcPct val="105000"/>
              </a:lnSpc>
              <a:spcAft>
                <a:spcPts val="1000"/>
              </a:spcAft>
            </a:pPr>
            <a:r>
              <a:rPr sz="2000" dirty="0">
                <a:solidFill>
                  <a:srgbClr val="000000"/>
                </a:solidFill>
                <a:latin typeface="Times New Roman"/>
              </a:rPr>
              <a:t>- </a:t>
            </a:r>
            <a:r>
              <a:rPr sz="2000" dirty="0" err="1">
                <a:solidFill>
                  <a:srgbClr val="000000"/>
                </a:solidFill>
                <a:latin typeface="Times New Roman"/>
              </a:rPr>
              <a:t>Sản</a:t>
            </a:r>
            <a:r>
              <a:rPr sz="2000" dirty="0">
                <a:solidFill>
                  <a:srgbClr val="000000"/>
                </a:solidFill>
                <a:latin typeface="Times New Roman"/>
              </a:rPr>
              <a:t> </a:t>
            </a:r>
            <a:r>
              <a:rPr sz="2000" dirty="0" err="1">
                <a:solidFill>
                  <a:srgbClr val="000000"/>
                </a:solidFill>
                <a:latin typeface="Times New Roman"/>
              </a:rPr>
              <a:t>phẩm</a:t>
            </a:r>
            <a:r>
              <a:rPr sz="2000" dirty="0">
                <a:solidFill>
                  <a:srgbClr val="000000"/>
                </a:solidFill>
                <a:latin typeface="Times New Roman"/>
              </a:rPr>
              <a:t> </a:t>
            </a:r>
            <a:r>
              <a:rPr sz="2000" dirty="0" err="1">
                <a:solidFill>
                  <a:srgbClr val="000000"/>
                </a:solidFill>
                <a:latin typeface="Times New Roman"/>
              </a:rPr>
              <a:t>là</a:t>
            </a:r>
            <a:r>
              <a:rPr sz="2000" dirty="0">
                <a:solidFill>
                  <a:srgbClr val="000000"/>
                </a:solidFill>
                <a:latin typeface="Times New Roman"/>
              </a:rPr>
              <a:t> </a:t>
            </a:r>
            <a:r>
              <a:rPr sz="2000" dirty="0" err="1">
                <a:solidFill>
                  <a:srgbClr val="000000"/>
                </a:solidFill>
                <a:latin typeface="Times New Roman"/>
              </a:rPr>
              <a:t>một</a:t>
            </a:r>
            <a:r>
              <a:rPr sz="2000" dirty="0">
                <a:solidFill>
                  <a:srgbClr val="000000"/>
                </a:solidFill>
                <a:latin typeface="Times New Roman"/>
              </a:rPr>
              <a:t> </a:t>
            </a:r>
            <a:r>
              <a:rPr sz="2000" dirty="0" err="1">
                <a:solidFill>
                  <a:srgbClr val="000000"/>
                </a:solidFill>
                <a:latin typeface="Times New Roman"/>
              </a:rPr>
              <a:t>bản</a:t>
            </a:r>
            <a:r>
              <a:rPr sz="2000" dirty="0">
                <a:solidFill>
                  <a:srgbClr val="000000"/>
                </a:solidFill>
                <a:latin typeface="Times New Roman"/>
              </a:rPr>
              <a:t> game </a:t>
            </a:r>
            <a:r>
              <a:rPr sz="2000" dirty="0" err="1">
                <a:solidFill>
                  <a:srgbClr val="000000"/>
                </a:solidFill>
                <a:latin typeface="Times New Roman"/>
              </a:rPr>
              <a:t>cơ</a:t>
            </a:r>
            <a:r>
              <a:rPr sz="2000" dirty="0">
                <a:solidFill>
                  <a:srgbClr val="000000"/>
                </a:solidFill>
                <a:latin typeface="Times New Roman"/>
              </a:rPr>
              <a:t> </a:t>
            </a:r>
            <a:r>
              <a:rPr sz="2000" dirty="0" err="1">
                <a:solidFill>
                  <a:srgbClr val="000000"/>
                </a:solidFill>
                <a:latin typeface="Times New Roman"/>
              </a:rPr>
              <a:t>bản</a:t>
            </a:r>
            <a:r>
              <a:rPr sz="2000" dirty="0">
                <a:solidFill>
                  <a:srgbClr val="000000"/>
                </a:solidFill>
                <a:latin typeface="Times New Roman"/>
              </a:rPr>
              <a:t> </a:t>
            </a:r>
            <a:r>
              <a:rPr sz="2000" dirty="0" err="1">
                <a:solidFill>
                  <a:srgbClr val="000000"/>
                </a:solidFill>
                <a:latin typeface="Times New Roman"/>
              </a:rPr>
              <a:t>có</a:t>
            </a:r>
            <a:r>
              <a:rPr sz="2000" dirty="0">
                <a:solidFill>
                  <a:srgbClr val="000000"/>
                </a:solidFill>
                <a:latin typeface="Times New Roman"/>
              </a:rPr>
              <a:t> </a:t>
            </a:r>
            <a:r>
              <a:rPr sz="2000" dirty="0" err="1">
                <a:solidFill>
                  <a:srgbClr val="000000"/>
                </a:solidFill>
                <a:latin typeface="Times New Roman"/>
              </a:rPr>
              <a:t>thể</a:t>
            </a:r>
            <a:r>
              <a:rPr sz="2000" dirty="0">
                <a:solidFill>
                  <a:srgbClr val="000000"/>
                </a:solidFill>
                <a:latin typeface="Times New Roman"/>
              </a:rPr>
              <a:t> </a:t>
            </a:r>
            <a:r>
              <a:rPr sz="2000" dirty="0" err="1">
                <a:solidFill>
                  <a:srgbClr val="000000"/>
                </a:solidFill>
                <a:latin typeface="Times New Roman"/>
              </a:rPr>
              <a:t>phát</a:t>
            </a:r>
            <a:r>
              <a:rPr sz="2000" dirty="0">
                <a:solidFill>
                  <a:srgbClr val="000000"/>
                </a:solidFill>
                <a:latin typeface="Times New Roman"/>
              </a:rPr>
              <a:t> </a:t>
            </a:r>
            <a:r>
              <a:rPr sz="2000" dirty="0" err="1">
                <a:solidFill>
                  <a:srgbClr val="000000"/>
                </a:solidFill>
                <a:latin typeface="Times New Roman"/>
              </a:rPr>
              <a:t>triển</a:t>
            </a:r>
            <a:r>
              <a:rPr sz="2000" dirty="0">
                <a:solidFill>
                  <a:srgbClr val="000000"/>
                </a:solidFill>
                <a:latin typeface="Times New Roman"/>
              </a:rPr>
              <a:t> </a:t>
            </a:r>
            <a:r>
              <a:rPr sz="2000" dirty="0" err="1">
                <a:solidFill>
                  <a:srgbClr val="000000"/>
                </a:solidFill>
                <a:latin typeface="Times New Roman"/>
              </a:rPr>
              <a:t>thêm</a:t>
            </a:r>
            <a:r>
              <a:rPr sz="2000" dirty="0">
                <a:solidFill>
                  <a:srgbClr val="000000"/>
                </a:solidFill>
                <a:latin typeface="Times New Roman"/>
              </a:rPr>
              <a:t> </a:t>
            </a:r>
            <a:r>
              <a:rPr sz="2000" dirty="0" err="1">
                <a:solidFill>
                  <a:srgbClr val="000000"/>
                </a:solidFill>
                <a:latin typeface="Times New Roman"/>
              </a:rPr>
              <a:t>nhiều</a:t>
            </a:r>
            <a:r>
              <a:rPr sz="2000" dirty="0">
                <a:solidFill>
                  <a:srgbClr val="000000"/>
                </a:solidFill>
                <a:latin typeface="Times New Roman"/>
              </a:rPr>
              <a:t> </a:t>
            </a:r>
            <a:r>
              <a:rPr sz="2000" dirty="0" err="1">
                <a:solidFill>
                  <a:srgbClr val="000000"/>
                </a:solidFill>
                <a:latin typeface="Times New Roman"/>
              </a:rPr>
              <a:t>tính</a:t>
            </a:r>
            <a:r>
              <a:rPr sz="2000" dirty="0">
                <a:solidFill>
                  <a:srgbClr val="000000"/>
                </a:solidFill>
                <a:latin typeface="Times New Roman"/>
              </a:rPr>
              <a:t> </a:t>
            </a:r>
            <a:r>
              <a:rPr sz="2000" dirty="0" err="1">
                <a:solidFill>
                  <a:srgbClr val="000000"/>
                </a:solidFill>
                <a:latin typeface="Times New Roman"/>
              </a:rPr>
              <a:t>năng</a:t>
            </a:r>
            <a:r>
              <a:rPr sz="2000" dirty="0">
                <a:solidFill>
                  <a:srgbClr val="000000"/>
                </a:solidFill>
                <a:latin typeface="Times New Roman"/>
              </a:rPr>
              <a:t> </a:t>
            </a:r>
            <a:r>
              <a:rPr sz="2000" dirty="0" err="1">
                <a:solidFill>
                  <a:srgbClr val="000000"/>
                </a:solidFill>
                <a:latin typeface="Times New Roman"/>
              </a:rPr>
              <a:t>sau</a:t>
            </a:r>
            <a:r>
              <a:rPr sz="2000" dirty="0">
                <a:solidFill>
                  <a:srgbClr val="000000"/>
                </a:solidFill>
                <a:latin typeface="Times New Roman"/>
              </a:rPr>
              <a:t> </a:t>
            </a:r>
            <a:r>
              <a:rPr sz="2000" dirty="0" err="1">
                <a:solidFill>
                  <a:srgbClr val="000000"/>
                </a:solidFill>
                <a:latin typeface="Times New Roman"/>
              </a:rPr>
              <a:t>này</a:t>
            </a:r>
            <a:endParaRPr sz="2000" dirty="0">
              <a:solidFill>
                <a:srgbClr val="000000"/>
              </a:solidFill>
              <a:latin typeface="Times New Roman"/>
            </a:endParaRPr>
          </a:p>
        </p:txBody>
      </p:sp>
    </p:spTree>
    <p:extLst>
      <p:ext uri="{BB962C8B-B14F-4D97-AF65-F5344CB8AC3E}">
        <p14:creationId xmlns:p14="http://schemas.microsoft.com/office/powerpoint/2010/main" val="193463738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grpId="0" nodeType="afterEffect">
                                  <p:stCondLst>
                                    <p:cond delay="200"/>
                                  </p:stCondLst>
                                  <p:childTnLst>
                                    <p:set>
                                      <p:cBhvr>
                                        <p:cTn id="9"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P spid="7"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20265" y="557784"/>
            <a:ext cx="6217920" cy="1163075"/>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LÝ THUYẾT VÀ</a:t>
            </a:r>
            <a:r>
              <a:rPr lang="en-US" sz="3600" b="1" dirty="0">
                <a:solidFill>
                  <a:srgbClr val="1F4E79"/>
                </a:solidFill>
                <a:latin typeface="Times New Roman"/>
              </a:rPr>
              <a:t>
</a:t>
            </a:r>
            <a:r>
              <a:rPr sz="3600" b="1" dirty="0">
                <a:solidFill>
                  <a:srgbClr val="1F4E79"/>
                </a:solidFill>
                <a:latin typeface="Times New Roman"/>
              </a:rPr>
              <a:t>CÔNG</a:t>
            </a:r>
            <a:r>
              <a:rPr lang="en-US" sz="3600" b="1" dirty="0">
                <a:solidFill>
                  <a:srgbClr val="1F4E79"/>
                </a:solidFill>
                <a:latin typeface="Times New Roman"/>
              </a:rPr>
              <a:t> </a:t>
            </a:r>
            <a:r>
              <a:rPr sz="3600" b="1" dirty="0">
                <a:solidFill>
                  <a:srgbClr val="1F4E79"/>
                </a:solidFill>
                <a:latin typeface="Times New Roman"/>
              </a:rPr>
              <a:t>NGHỆ</a:t>
            </a:r>
          </a:p>
        </p:txBody>
      </p:sp>
      <p:sp>
        <p:nvSpPr>
          <p:cNvPr id="6" name="anim-appear-20-line-1"/>
          <p:cNvSpPr txBox="1"/>
          <p:nvPr/>
        </p:nvSpPr>
        <p:spPr>
          <a:xfrm>
            <a:off x="710565" y="2380392"/>
            <a:ext cx="6217920" cy="4081951"/>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a:latin typeface="Times New Roman"/>
              </a:rPr>
              <a:t>Tổng quan lối chơi</a:t>
            </a:r>
            <a:endParaRPr sz="2400" b="1" dirty="0">
              <a:solidFill>
                <a:srgbClr val="000000"/>
              </a:solidFill>
              <a:latin typeface="Times New Roman"/>
            </a:endParaRPr>
          </a:p>
          <a:p>
            <a:pPr algn="l">
              <a:lnSpc>
                <a:spcPct val="105000"/>
              </a:lnSpc>
              <a:spcBef>
                <a:spcPts val="0"/>
              </a:spcBef>
              <a:spcAft>
                <a:spcPts val="1000"/>
              </a:spcAft>
            </a:pPr>
            <a:r>
              <a:rPr lang="en-US" sz="2000" dirty="0">
                <a:solidFill>
                  <a:srgbClr val="000000"/>
                </a:solidFill>
                <a:latin typeface="Times New Roman"/>
              </a:rPr>
              <a:t>- </a:t>
            </a:r>
            <a:r>
              <a:rPr lang="en-US" sz="2000" dirty="0" err="1">
                <a:solidFill>
                  <a:srgbClr val="000000"/>
                </a:solidFill>
                <a:latin typeface="Times New Roman"/>
              </a:rPr>
              <a:t>Góc</a:t>
            </a:r>
            <a:r>
              <a:rPr lang="en-US" sz="2000" dirty="0">
                <a:solidFill>
                  <a:srgbClr val="000000"/>
                </a:solidFill>
                <a:latin typeface="Times New Roman"/>
              </a:rPr>
              <a:t> </a:t>
            </a:r>
            <a:r>
              <a:rPr lang="en-US" sz="2000" dirty="0" err="1">
                <a:solidFill>
                  <a:srgbClr val="000000"/>
                </a:solidFill>
                <a:latin typeface="Times New Roman"/>
              </a:rPr>
              <a:t>nhìn</a:t>
            </a:r>
            <a:r>
              <a:rPr lang="en-US" sz="2000" dirty="0">
                <a:solidFill>
                  <a:srgbClr val="000000"/>
                </a:solidFill>
                <a:latin typeface="Times New Roman"/>
              </a:rPr>
              <a:t> </a:t>
            </a:r>
            <a:r>
              <a:rPr lang="en-US" sz="2000" dirty="0" err="1">
                <a:solidFill>
                  <a:srgbClr val="000000"/>
                </a:solidFill>
                <a:latin typeface="Times New Roman"/>
              </a:rPr>
              <a:t>tổng</a:t>
            </a:r>
            <a:r>
              <a:rPr lang="en-US" sz="2000" dirty="0">
                <a:solidFill>
                  <a:srgbClr val="000000"/>
                </a:solidFill>
                <a:latin typeface="Times New Roman"/>
              </a:rPr>
              <a:t> </a:t>
            </a:r>
            <a:r>
              <a:rPr lang="en-US" sz="2000" dirty="0" err="1">
                <a:solidFill>
                  <a:srgbClr val="000000"/>
                </a:solidFill>
                <a:latin typeface="Times New Roman"/>
              </a:rPr>
              <a:t>quan</a:t>
            </a:r>
            <a:r>
              <a:rPr lang="en-US" sz="2000" dirty="0">
                <a:solidFill>
                  <a:srgbClr val="000000"/>
                </a:solidFill>
                <a:latin typeface="Times New Roman"/>
              </a:rPr>
              <a:t> </a:t>
            </a:r>
            <a:r>
              <a:rPr lang="en-US" sz="2000" dirty="0" err="1">
                <a:solidFill>
                  <a:srgbClr val="000000"/>
                </a:solidFill>
                <a:latin typeface="Times New Roman"/>
              </a:rPr>
              <a:t>từ</a:t>
            </a:r>
            <a:r>
              <a:rPr lang="en-US" sz="2000" dirty="0">
                <a:solidFill>
                  <a:srgbClr val="000000"/>
                </a:solidFill>
                <a:latin typeface="Times New Roman"/>
              </a:rPr>
              <a:t> </a:t>
            </a:r>
            <a:r>
              <a:rPr lang="en-US" sz="2000" dirty="0" err="1">
                <a:solidFill>
                  <a:srgbClr val="000000"/>
                </a:solidFill>
                <a:latin typeface="Times New Roman"/>
              </a:rPr>
              <a:t>trên</a:t>
            </a:r>
            <a:r>
              <a:rPr lang="en-US" sz="2000" dirty="0">
                <a:solidFill>
                  <a:srgbClr val="000000"/>
                </a:solidFill>
                <a:latin typeface="Times New Roman"/>
              </a:rPr>
              <a:t> </a:t>
            </a:r>
            <a:r>
              <a:rPr lang="en-US" sz="2000" dirty="0" err="1">
                <a:solidFill>
                  <a:srgbClr val="000000"/>
                </a:solidFill>
                <a:latin typeface="Times New Roman"/>
              </a:rPr>
              <a:t>xuống</a:t>
            </a:r>
            <a:endParaRPr lang="en-US" sz="2000" dirty="0">
              <a:solidFill>
                <a:srgbClr val="000000"/>
              </a:solidFill>
              <a:latin typeface="Times New Roman"/>
            </a:endParaRPr>
          </a:p>
          <a:p>
            <a:pPr algn="l">
              <a:lnSpc>
                <a:spcPct val="105000"/>
              </a:lnSpc>
              <a:spcBef>
                <a:spcPts val="0"/>
              </a:spcBef>
              <a:spcAft>
                <a:spcPts val="1000"/>
              </a:spcAft>
            </a:pPr>
            <a:r>
              <a:rPr sz="2000" dirty="0">
                <a:solidFill>
                  <a:srgbClr val="000000"/>
                </a:solidFill>
                <a:latin typeface="Times New Roman"/>
              </a:rPr>
              <a:t>- </a:t>
            </a:r>
            <a:r>
              <a:rPr lang="en-US" sz="2000" dirty="0">
                <a:solidFill>
                  <a:srgbClr val="000000"/>
                </a:solidFill>
                <a:latin typeface="Times New Roman"/>
              </a:rPr>
              <a:t>Nhân vật</a:t>
            </a:r>
            <a:r>
              <a:rPr sz="2000" dirty="0">
                <a:solidFill>
                  <a:srgbClr val="000000"/>
                </a:solidFill>
                <a:latin typeface="Times New Roman"/>
              </a:rPr>
              <a:t> di </a:t>
            </a:r>
            <a:r>
              <a:rPr sz="2000" dirty="0" err="1">
                <a:solidFill>
                  <a:srgbClr val="000000"/>
                </a:solidFill>
                <a:latin typeface="Times New Roman"/>
              </a:rPr>
              <a:t>chuyển</a:t>
            </a:r>
            <a:r>
              <a:rPr sz="2000" dirty="0">
                <a:solidFill>
                  <a:srgbClr val="000000"/>
                </a:solidFill>
                <a:latin typeface="Times New Roman"/>
              </a:rPr>
              <a:t>, né </a:t>
            </a:r>
            <a:r>
              <a:rPr sz="2000" dirty="0" err="1">
                <a:solidFill>
                  <a:srgbClr val="000000"/>
                </a:solidFill>
                <a:latin typeface="Times New Roman"/>
              </a:rPr>
              <a:t>tránh</a:t>
            </a:r>
            <a:r>
              <a:rPr lang="en-US" sz="2000" dirty="0">
                <a:solidFill>
                  <a:srgbClr val="000000"/>
                </a:solidFill>
                <a:latin typeface="Times New Roman"/>
              </a:rPr>
              <a:t>, </a:t>
            </a:r>
            <a:r>
              <a:rPr sz="2000" dirty="0" err="1">
                <a:solidFill>
                  <a:srgbClr val="000000"/>
                </a:solidFill>
                <a:latin typeface="Times New Roman"/>
              </a:rPr>
              <a:t>tấn</a:t>
            </a:r>
            <a:r>
              <a:rPr sz="2000" dirty="0">
                <a:solidFill>
                  <a:srgbClr val="000000"/>
                </a:solidFill>
                <a:latin typeface="Times New Roman"/>
              </a:rPr>
              <a:t> </a:t>
            </a:r>
            <a:r>
              <a:rPr sz="2000" dirty="0" err="1">
                <a:solidFill>
                  <a:srgbClr val="000000"/>
                </a:solidFill>
                <a:latin typeface="Times New Roman"/>
              </a:rPr>
              <a:t>công</a:t>
            </a:r>
            <a:r>
              <a:rPr sz="2000" dirty="0">
                <a:solidFill>
                  <a:srgbClr val="000000"/>
                </a:solidFill>
                <a:latin typeface="Times New Roman"/>
              </a:rPr>
              <a:t> </a:t>
            </a:r>
            <a:r>
              <a:rPr lang="en-US" sz="2000" dirty="0" err="1">
                <a:solidFill>
                  <a:srgbClr val="000000"/>
                </a:solidFill>
                <a:latin typeface="Times New Roman"/>
              </a:rPr>
              <a:t>kẻ</a:t>
            </a:r>
            <a:r>
              <a:rPr lang="en-US" sz="2000" dirty="0">
                <a:solidFill>
                  <a:srgbClr val="000000"/>
                </a:solidFill>
                <a:latin typeface="Times New Roman"/>
              </a:rPr>
              <a:t> </a:t>
            </a:r>
            <a:r>
              <a:rPr lang="en-US" sz="2000" dirty="0" err="1">
                <a:solidFill>
                  <a:srgbClr val="000000"/>
                </a:solidFill>
                <a:latin typeface="Times New Roman"/>
              </a:rPr>
              <a:t>thù</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Khi </a:t>
            </a:r>
            <a:r>
              <a:rPr sz="2000" dirty="0" err="1">
                <a:solidFill>
                  <a:srgbClr val="000000"/>
                </a:solidFill>
                <a:latin typeface="Times New Roman"/>
              </a:rPr>
              <a:t>tiêu</a:t>
            </a:r>
            <a:r>
              <a:rPr sz="2000" dirty="0">
                <a:solidFill>
                  <a:srgbClr val="000000"/>
                </a:solidFill>
                <a:latin typeface="Times New Roman"/>
              </a:rPr>
              <a:t> </a:t>
            </a:r>
            <a:r>
              <a:rPr sz="2000" dirty="0" err="1">
                <a:solidFill>
                  <a:srgbClr val="000000"/>
                </a:solidFill>
                <a:latin typeface="Times New Roman"/>
              </a:rPr>
              <a:t>diệt</a:t>
            </a:r>
            <a:r>
              <a:rPr sz="2000" dirty="0">
                <a:solidFill>
                  <a:srgbClr val="000000"/>
                </a:solidFill>
                <a:latin typeface="Times New Roman"/>
              </a:rPr>
              <a:t> quái, </a:t>
            </a:r>
            <a:r>
              <a:rPr sz="2000" dirty="0" err="1">
                <a:solidFill>
                  <a:srgbClr val="000000"/>
                </a:solidFill>
                <a:latin typeface="Times New Roman"/>
              </a:rPr>
              <a:t>người</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nhận</a:t>
            </a:r>
            <a:r>
              <a:rPr sz="2000" dirty="0">
                <a:solidFill>
                  <a:srgbClr val="000000"/>
                </a:solidFill>
                <a:latin typeface="Times New Roman"/>
              </a:rPr>
              <a:t> </a:t>
            </a:r>
            <a:r>
              <a:rPr sz="2000" dirty="0" err="1">
                <a:solidFill>
                  <a:srgbClr val="000000"/>
                </a:solidFill>
                <a:latin typeface="Times New Roman"/>
              </a:rPr>
              <a:t>kinh</a:t>
            </a:r>
            <a:r>
              <a:rPr sz="2000" dirty="0">
                <a:solidFill>
                  <a:srgbClr val="000000"/>
                </a:solidFill>
                <a:latin typeface="Times New Roman"/>
              </a:rPr>
              <a:t> </a:t>
            </a:r>
            <a:r>
              <a:rPr sz="2000" dirty="0" err="1">
                <a:solidFill>
                  <a:srgbClr val="000000"/>
                </a:solidFill>
                <a:latin typeface="Times New Roman"/>
              </a:rPr>
              <a:t>nghiệm</a:t>
            </a:r>
            <a:r>
              <a:rPr sz="2000" dirty="0">
                <a:solidFill>
                  <a:srgbClr val="000000"/>
                </a:solidFill>
                <a:latin typeface="Times New Roman"/>
              </a:rPr>
              <a:t>, </a:t>
            </a:r>
            <a:r>
              <a:rPr sz="2000" dirty="0" err="1">
                <a:solidFill>
                  <a:srgbClr val="000000"/>
                </a:solidFill>
                <a:latin typeface="Times New Roman"/>
              </a:rPr>
              <a:t>lên</a:t>
            </a:r>
            <a:r>
              <a:rPr sz="2000" dirty="0">
                <a:solidFill>
                  <a:srgbClr val="000000"/>
                </a:solidFill>
                <a:latin typeface="Times New Roman"/>
              </a:rPr>
              <a:t> </a:t>
            </a:r>
            <a:r>
              <a:rPr sz="2000" dirty="0" err="1">
                <a:solidFill>
                  <a:srgbClr val="000000"/>
                </a:solidFill>
                <a:latin typeface="Times New Roman"/>
              </a:rPr>
              <a:t>cấp</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chọn</a:t>
            </a:r>
            <a:r>
              <a:rPr sz="2000" dirty="0">
                <a:solidFill>
                  <a:srgbClr val="000000"/>
                </a:solidFill>
                <a:latin typeface="Times New Roman"/>
              </a:rPr>
              <a:t> nâng cấp </a:t>
            </a:r>
            <a:r>
              <a:rPr sz="2000" dirty="0" err="1">
                <a:solidFill>
                  <a:srgbClr val="000000"/>
                </a:solidFill>
                <a:latin typeface="Times New Roman"/>
              </a:rPr>
              <a:t>để</a:t>
            </a:r>
            <a:r>
              <a:rPr sz="2000" dirty="0">
                <a:solidFill>
                  <a:srgbClr val="000000"/>
                </a:solidFill>
                <a:latin typeface="Times New Roman"/>
              </a:rPr>
              <a:t> </a:t>
            </a:r>
            <a:r>
              <a:rPr sz="2000" dirty="0" err="1">
                <a:solidFill>
                  <a:srgbClr val="000000"/>
                </a:solidFill>
                <a:latin typeface="Times New Roman"/>
              </a:rPr>
              <a:t>tăng</a:t>
            </a:r>
            <a:r>
              <a:rPr sz="2000" dirty="0">
                <a:solidFill>
                  <a:srgbClr val="000000"/>
                </a:solidFill>
                <a:latin typeface="Times New Roman"/>
              </a:rPr>
              <a:t> </a:t>
            </a:r>
            <a:r>
              <a:rPr sz="2000" dirty="0" err="1">
                <a:solidFill>
                  <a:srgbClr val="000000"/>
                </a:solidFill>
                <a:latin typeface="Times New Roman"/>
              </a:rPr>
              <a:t>sức</a:t>
            </a:r>
            <a:r>
              <a:rPr sz="2000" dirty="0">
                <a:solidFill>
                  <a:srgbClr val="000000"/>
                </a:solidFill>
                <a:latin typeface="Times New Roman"/>
              </a:rPr>
              <a:t> </a:t>
            </a:r>
            <a:r>
              <a:rPr sz="2000" dirty="0" err="1">
                <a:solidFill>
                  <a:srgbClr val="000000"/>
                </a:solidFill>
                <a:latin typeface="Times New Roman"/>
              </a:rPr>
              <a:t>mạnh</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Độ</a:t>
            </a:r>
            <a:r>
              <a:rPr sz="2000" dirty="0">
                <a:solidFill>
                  <a:srgbClr val="000000"/>
                </a:solidFill>
                <a:latin typeface="Times New Roman"/>
              </a:rPr>
              <a:t> </a:t>
            </a:r>
            <a:r>
              <a:rPr sz="2000" dirty="0" err="1">
                <a:solidFill>
                  <a:srgbClr val="000000"/>
                </a:solidFill>
                <a:latin typeface="Times New Roman"/>
              </a:rPr>
              <a:t>khó</a:t>
            </a:r>
            <a:r>
              <a:rPr sz="2000" dirty="0">
                <a:solidFill>
                  <a:srgbClr val="000000"/>
                </a:solidFill>
                <a:latin typeface="Times New Roman"/>
              </a:rPr>
              <a:t> </a:t>
            </a:r>
            <a:r>
              <a:rPr sz="2000" dirty="0" err="1">
                <a:solidFill>
                  <a:srgbClr val="000000"/>
                </a:solidFill>
                <a:latin typeface="Times New Roman"/>
              </a:rPr>
              <a:t>tăng</a:t>
            </a:r>
            <a:r>
              <a:rPr sz="2000" dirty="0">
                <a:solidFill>
                  <a:srgbClr val="000000"/>
                </a:solidFill>
                <a:latin typeface="Times New Roman"/>
              </a:rPr>
              <a:t> </a:t>
            </a:r>
            <a:r>
              <a:rPr sz="2000" dirty="0" err="1">
                <a:solidFill>
                  <a:srgbClr val="000000"/>
                </a:solidFill>
                <a:latin typeface="Times New Roman"/>
              </a:rPr>
              <a:t>dần</a:t>
            </a:r>
            <a:r>
              <a:rPr lang="en-US" sz="2000" dirty="0">
                <a:solidFill>
                  <a:srgbClr val="000000"/>
                </a:solidFill>
                <a:latin typeface="Times New Roman"/>
              </a:rPr>
              <a:t>, quái </a:t>
            </a:r>
            <a:r>
              <a:rPr lang="en-US" sz="2000" dirty="0" err="1">
                <a:solidFill>
                  <a:srgbClr val="000000"/>
                </a:solidFill>
                <a:latin typeface="Times New Roman"/>
              </a:rPr>
              <a:t>thay</a:t>
            </a:r>
            <a:r>
              <a:rPr lang="en-US" sz="2000" dirty="0">
                <a:solidFill>
                  <a:srgbClr val="000000"/>
                </a:solidFill>
                <a:latin typeface="Times New Roman"/>
              </a:rPr>
              <a:t> </a:t>
            </a:r>
            <a:r>
              <a:rPr lang="en-US" sz="2000" dirty="0" err="1">
                <a:solidFill>
                  <a:srgbClr val="000000"/>
                </a:solidFill>
                <a:latin typeface="Times New Roman"/>
              </a:rPr>
              <a:t>đổi</a:t>
            </a:r>
            <a:r>
              <a:rPr lang="en-US" sz="2000" dirty="0">
                <a:solidFill>
                  <a:srgbClr val="000000"/>
                </a:solidFill>
                <a:latin typeface="Times New Roman"/>
              </a:rPr>
              <a:t> </a:t>
            </a:r>
            <a:r>
              <a:rPr sz="2000" dirty="0" err="1">
                <a:solidFill>
                  <a:srgbClr val="000000"/>
                </a:solidFill>
                <a:latin typeface="Times New Roman"/>
              </a:rPr>
              <a:t>theo</a:t>
            </a:r>
            <a:r>
              <a:rPr sz="2000" dirty="0">
                <a:solidFill>
                  <a:srgbClr val="000000"/>
                </a:solidFill>
                <a:latin typeface="Times New Roman"/>
              </a:rPr>
              <a:t> </a:t>
            </a:r>
            <a:r>
              <a:rPr sz="2000" dirty="0" err="1">
                <a:solidFill>
                  <a:srgbClr val="000000"/>
                </a:solidFill>
                <a:latin typeface="Times New Roman"/>
              </a:rPr>
              <a:t>từng</a:t>
            </a:r>
            <a:r>
              <a:rPr sz="2000" dirty="0">
                <a:solidFill>
                  <a:srgbClr val="000000"/>
                </a:solidFill>
                <a:latin typeface="Times New Roman"/>
              </a:rPr>
              <a:t> đợt quái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có</a:t>
            </a:r>
            <a:r>
              <a:rPr sz="2000" dirty="0">
                <a:solidFill>
                  <a:srgbClr val="000000"/>
                </a:solidFill>
                <a:latin typeface="Times New Roman"/>
              </a:rPr>
              <a:t> boss ở </a:t>
            </a:r>
            <a:r>
              <a:rPr sz="2000" dirty="0" err="1">
                <a:solidFill>
                  <a:srgbClr val="000000"/>
                </a:solidFill>
                <a:latin typeface="Times New Roman"/>
              </a:rPr>
              <a:t>các</a:t>
            </a:r>
            <a:r>
              <a:rPr sz="2000" dirty="0">
                <a:solidFill>
                  <a:srgbClr val="000000"/>
                </a:solidFill>
                <a:latin typeface="Times New Roman"/>
              </a:rPr>
              <a:t> </a:t>
            </a:r>
            <a:r>
              <a:rPr sz="2000" dirty="0" err="1">
                <a:solidFill>
                  <a:srgbClr val="000000"/>
                </a:solidFill>
                <a:latin typeface="Times New Roman"/>
              </a:rPr>
              <a:t>mốc</a:t>
            </a:r>
            <a:r>
              <a:rPr sz="2000" dirty="0">
                <a:solidFill>
                  <a:srgbClr val="000000"/>
                </a:solidFill>
                <a:latin typeface="Times New Roman"/>
              </a:rPr>
              <a:t> </a:t>
            </a:r>
            <a:r>
              <a:rPr sz="2000" dirty="0" err="1">
                <a:solidFill>
                  <a:srgbClr val="000000"/>
                </a:solidFill>
                <a:latin typeface="Times New Roman"/>
              </a:rPr>
              <a:t>quan</a:t>
            </a:r>
            <a:r>
              <a:rPr sz="2000" dirty="0">
                <a:solidFill>
                  <a:srgbClr val="000000"/>
                </a:solidFill>
                <a:latin typeface="Times New Roman"/>
              </a:rPr>
              <a:t> </a:t>
            </a:r>
            <a:r>
              <a:rPr sz="2000" dirty="0" err="1">
                <a:solidFill>
                  <a:srgbClr val="000000"/>
                </a:solidFill>
                <a:latin typeface="Times New Roman"/>
              </a:rPr>
              <a:t>trọng</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Trò</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có</a:t>
            </a:r>
            <a:r>
              <a:rPr sz="2000" dirty="0">
                <a:solidFill>
                  <a:srgbClr val="000000"/>
                </a:solidFill>
                <a:latin typeface="Times New Roman"/>
              </a:rPr>
              <a:t> giao diện thông tin trong trận </a:t>
            </a:r>
            <a:r>
              <a:rPr sz="2000" dirty="0" err="1">
                <a:solidFill>
                  <a:srgbClr val="000000"/>
                </a:solidFill>
                <a:latin typeface="Times New Roman"/>
              </a:rPr>
              <a:t>để</a:t>
            </a:r>
            <a:r>
              <a:rPr sz="2000" dirty="0">
                <a:solidFill>
                  <a:srgbClr val="000000"/>
                </a:solidFill>
                <a:latin typeface="Times New Roman"/>
              </a:rPr>
              <a:t> </a:t>
            </a:r>
            <a:r>
              <a:rPr sz="2000" dirty="0" err="1">
                <a:solidFill>
                  <a:srgbClr val="000000"/>
                </a:solidFill>
                <a:latin typeface="Times New Roman"/>
              </a:rPr>
              <a:t>hỗ</a:t>
            </a:r>
            <a:r>
              <a:rPr sz="2000" dirty="0">
                <a:solidFill>
                  <a:srgbClr val="000000"/>
                </a:solidFill>
                <a:latin typeface="Times New Roman"/>
              </a:rPr>
              <a:t> </a:t>
            </a:r>
            <a:r>
              <a:rPr sz="2000" dirty="0" err="1">
                <a:solidFill>
                  <a:srgbClr val="000000"/>
                </a:solidFill>
                <a:latin typeface="Times New Roman"/>
              </a:rPr>
              <a:t>trợ</a:t>
            </a:r>
            <a:r>
              <a:rPr sz="2000" dirty="0">
                <a:solidFill>
                  <a:srgbClr val="000000"/>
                </a:solidFill>
                <a:latin typeface="Times New Roman"/>
              </a:rPr>
              <a:t> </a:t>
            </a:r>
            <a:r>
              <a:rPr sz="2000" dirty="0" err="1">
                <a:solidFill>
                  <a:srgbClr val="000000"/>
                </a:solidFill>
                <a:latin typeface="Times New Roman"/>
              </a:rPr>
              <a:t>trải</a:t>
            </a:r>
            <a:r>
              <a:rPr sz="2000" dirty="0">
                <a:solidFill>
                  <a:srgbClr val="000000"/>
                </a:solidFill>
                <a:latin typeface="Times New Roman"/>
              </a:rPr>
              <a:t> </a:t>
            </a:r>
            <a:r>
              <a:rPr sz="2000" dirty="0" err="1">
                <a:solidFill>
                  <a:srgbClr val="000000"/>
                </a:solidFill>
                <a:latin typeface="Times New Roman"/>
              </a:rPr>
              <a:t>nghiệm</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theo</a:t>
            </a:r>
            <a:r>
              <a:rPr sz="2000" dirty="0">
                <a:solidFill>
                  <a:srgbClr val="000000"/>
                </a:solidFill>
                <a:latin typeface="Times New Roman"/>
              </a:rPr>
              <a:t> </a:t>
            </a:r>
            <a:r>
              <a:rPr sz="2000" dirty="0" err="1">
                <a:solidFill>
                  <a:srgbClr val="000000"/>
                </a:solidFill>
                <a:latin typeface="Times New Roman"/>
              </a:rPr>
              <a:t>dõi</a:t>
            </a:r>
            <a:r>
              <a:rPr sz="2000" dirty="0">
                <a:solidFill>
                  <a:srgbClr val="000000"/>
                </a:solidFill>
                <a:latin typeface="Times New Roman"/>
              </a:rPr>
              <a:t> </a:t>
            </a:r>
            <a:r>
              <a:rPr sz="2000" dirty="0" err="1">
                <a:solidFill>
                  <a:srgbClr val="000000"/>
                </a:solidFill>
                <a:latin typeface="Times New Roman"/>
              </a:rPr>
              <a:t>kết</a:t>
            </a:r>
            <a:r>
              <a:rPr sz="2000" dirty="0">
                <a:solidFill>
                  <a:srgbClr val="000000"/>
                </a:solidFill>
                <a:latin typeface="Times New Roman"/>
              </a:rPr>
              <a:t> </a:t>
            </a:r>
            <a:r>
              <a:rPr sz="2000" dirty="0" err="1">
                <a:solidFill>
                  <a:srgbClr val="000000"/>
                </a:solidFill>
                <a:latin typeface="Times New Roman"/>
              </a:rPr>
              <a:t>quả</a:t>
            </a:r>
            <a:r>
              <a:rPr lang="en-US" sz="2000" dirty="0">
                <a:solidFill>
                  <a:srgbClr val="000000"/>
                </a:solidFill>
                <a:latin typeface="Times New Roman"/>
              </a:rPr>
              <a:t> </a:t>
            </a:r>
            <a:r>
              <a:rPr lang="en-US" sz="2000" dirty="0" err="1">
                <a:solidFill>
                  <a:srgbClr val="000000"/>
                </a:solidFill>
                <a:latin typeface="Times New Roman"/>
              </a:rPr>
              <a:t>trong</a:t>
            </a:r>
            <a:r>
              <a:rPr lang="en-US" sz="2000" dirty="0">
                <a:solidFill>
                  <a:srgbClr val="000000"/>
                </a:solidFill>
                <a:latin typeface="Times New Roman"/>
              </a:rPr>
              <a:t> </a:t>
            </a:r>
            <a:r>
              <a:rPr lang="en-US" sz="2000" dirty="0" err="1">
                <a:solidFill>
                  <a:srgbClr val="000000"/>
                </a:solidFill>
                <a:latin typeface="Times New Roman"/>
              </a:rPr>
              <a:t>quá</a:t>
            </a:r>
            <a:r>
              <a:rPr lang="en-US" sz="2000" dirty="0">
                <a:solidFill>
                  <a:srgbClr val="000000"/>
                </a:solidFill>
                <a:latin typeface="Times New Roman"/>
              </a:rPr>
              <a:t> </a:t>
            </a:r>
            <a:r>
              <a:rPr lang="en-US" sz="2000" dirty="0" err="1">
                <a:solidFill>
                  <a:srgbClr val="000000"/>
                </a:solidFill>
                <a:latin typeface="Times New Roman"/>
              </a:rPr>
              <a:t>trình</a:t>
            </a:r>
            <a:r>
              <a:rPr lang="en-US" sz="2000" dirty="0">
                <a:solidFill>
                  <a:srgbClr val="000000"/>
                </a:solidFill>
                <a:latin typeface="Times New Roman"/>
              </a:rPr>
              <a:t> </a:t>
            </a:r>
            <a:r>
              <a:rPr lang="en-US" sz="2000" dirty="0" err="1">
                <a:solidFill>
                  <a:srgbClr val="000000"/>
                </a:solidFill>
                <a:latin typeface="Times New Roman"/>
              </a:rPr>
              <a:t>chơi</a:t>
            </a:r>
            <a:r>
              <a:rPr sz="2000" dirty="0">
                <a:solidFill>
                  <a:srgbClr val="000000"/>
                </a:solidFill>
                <a:latin typeface="Times New Roman"/>
              </a:rPr>
              <a:t>.</a:t>
            </a:r>
            <a:endParaRPr lang="en-US" sz="2000" dirty="0">
              <a:solidFill>
                <a:srgbClr val="000000"/>
              </a:solidFill>
              <a:latin typeface="Times New Roman"/>
            </a:endParaRPr>
          </a:p>
          <a:p>
            <a:pPr>
              <a:lnSpc>
                <a:spcPct val="105000"/>
              </a:lnSpc>
              <a:spcAft>
                <a:spcPts val="1000"/>
              </a:spcAft>
            </a:pPr>
            <a:r>
              <a:rPr lang="en-US" sz="2000" dirty="0">
                <a:solidFill>
                  <a:srgbClr val="000000"/>
                </a:solidFill>
                <a:latin typeface="Times New Roman"/>
              </a:rPr>
              <a:t>- </a:t>
            </a:r>
            <a:r>
              <a:rPr lang="en-US" sz="2000" dirty="0" err="1">
                <a:solidFill>
                  <a:srgbClr val="000000"/>
                </a:solidFill>
                <a:latin typeface="Times New Roman"/>
              </a:rPr>
              <a:t>Bảng</a:t>
            </a:r>
            <a:r>
              <a:rPr lang="en-US" sz="2000" dirty="0">
                <a:solidFill>
                  <a:srgbClr val="000000"/>
                </a:solidFill>
                <a:latin typeface="Times New Roman"/>
              </a:rPr>
              <a:t> </a:t>
            </a:r>
            <a:r>
              <a:rPr lang="en-US" sz="2000" dirty="0" err="1">
                <a:solidFill>
                  <a:srgbClr val="000000"/>
                </a:solidFill>
                <a:latin typeface="Times New Roman"/>
              </a:rPr>
              <a:t>xếp</a:t>
            </a:r>
            <a:r>
              <a:rPr lang="en-US" sz="2000" dirty="0">
                <a:solidFill>
                  <a:srgbClr val="000000"/>
                </a:solidFill>
                <a:latin typeface="Times New Roman"/>
              </a:rPr>
              <a:t> </a:t>
            </a:r>
            <a:r>
              <a:rPr lang="en-US" sz="2000" dirty="0" err="1">
                <a:solidFill>
                  <a:srgbClr val="000000"/>
                </a:solidFill>
                <a:latin typeface="Times New Roman"/>
              </a:rPr>
              <a:t>hạng</a:t>
            </a:r>
            <a:r>
              <a:rPr lang="en-US" sz="2000" dirty="0">
                <a:solidFill>
                  <a:srgbClr val="000000"/>
                </a:solidFill>
                <a:latin typeface="Times New Roman"/>
              </a:rPr>
              <a:t> </a:t>
            </a:r>
            <a:r>
              <a:rPr lang="en-US" sz="2000" dirty="0" err="1">
                <a:solidFill>
                  <a:srgbClr val="000000"/>
                </a:solidFill>
                <a:latin typeface="Times New Roman"/>
              </a:rPr>
              <a:t>theo</a:t>
            </a:r>
            <a:r>
              <a:rPr lang="en-US" sz="2000" dirty="0">
                <a:solidFill>
                  <a:srgbClr val="000000"/>
                </a:solidFill>
                <a:latin typeface="Times New Roman"/>
              </a:rPr>
              <a:t> </a:t>
            </a:r>
            <a:r>
              <a:rPr lang="en-US" sz="2000" dirty="0" err="1">
                <a:solidFill>
                  <a:srgbClr val="000000"/>
                </a:solidFill>
                <a:latin typeface="Times New Roman"/>
              </a:rPr>
              <a:t>điểm</a:t>
            </a:r>
            <a:r>
              <a:rPr lang="en-US" sz="2000" dirty="0">
                <a:solidFill>
                  <a:srgbClr val="000000"/>
                </a:solidFill>
                <a:latin typeface="Times New Roman"/>
              </a:rPr>
              <a:t> </a:t>
            </a:r>
            <a:r>
              <a:rPr lang="en-US" sz="2000" dirty="0" err="1">
                <a:solidFill>
                  <a:srgbClr val="000000"/>
                </a:solidFill>
                <a:latin typeface="Times New Roman"/>
              </a:rPr>
              <a:t>kinh</a:t>
            </a:r>
            <a:r>
              <a:rPr lang="en-US" sz="2000" dirty="0">
                <a:solidFill>
                  <a:srgbClr val="000000"/>
                </a:solidFill>
                <a:latin typeface="Times New Roman"/>
              </a:rPr>
              <a:t> </a:t>
            </a:r>
            <a:r>
              <a:rPr lang="en-US" sz="2000" dirty="0" err="1">
                <a:solidFill>
                  <a:srgbClr val="000000"/>
                </a:solidFill>
                <a:latin typeface="Times New Roman"/>
              </a:rPr>
              <a:t>nghiệm</a:t>
            </a:r>
            <a:endParaRPr sz="2000" dirty="0">
              <a:solidFill>
                <a:srgbClr val="000000"/>
              </a:solidFill>
              <a:latin typeface="Times New Roman"/>
            </a:endParaRPr>
          </a:p>
        </p:txBody>
      </p:sp>
      <p:pic>
        <p:nvPicPr>
          <p:cNvPr id="9" name="anim-fade-10-media" descr="doc_image_35.png">
            <a:extLst>
              <a:ext uri="{FF2B5EF4-FFF2-40B4-BE49-F238E27FC236}">
                <a16:creationId xmlns:a16="http://schemas.microsoft.com/office/drawing/2014/main" id="{E4B24DE5-DC49-B121-92A4-6B3B1F65A5F9}"/>
              </a:ext>
            </a:extLst>
          </p:cNvPr>
          <p:cNvPicPr>
            <a:picLocks noChangeAspect="1"/>
          </p:cNvPicPr>
          <p:nvPr/>
        </p:nvPicPr>
        <p:blipFill>
          <a:blip r:embed="rId3"/>
          <a:stretch>
            <a:fillRect/>
          </a:stretch>
        </p:blipFill>
        <p:spPr>
          <a:xfrm>
            <a:off x="7131558" y="2380392"/>
            <a:ext cx="4553712" cy="2512800"/>
          </a:xfrm>
          <a:prstGeom prst="rect">
            <a:avLst/>
          </a:prstGeom>
          <a:ln w="8890">
            <a:solidFill>
              <a:srgbClr val="1F4E79"/>
            </a:solidFill>
          </a:ln>
        </p:spPr>
      </p:pic>
    </p:spTree>
    <p:extLst>
      <p:ext uri="{BB962C8B-B14F-4D97-AF65-F5344CB8AC3E}">
        <p14:creationId xmlns:p14="http://schemas.microsoft.com/office/powerpoint/2010/main" val="364073349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20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entr" presetSubtype="0" fill="hold" nodeType="clickEffect">
                                  <p:stCondLst>
                                    <p:cond delay="0"/>
                                  </p:stCondLst>
                                  <p:childTnLst>
                                    <p:set>
                                      <p:cBhvr>
                                        <p:cTn id="10" dur="1" fill="hold">
                                          <p:stCondLst>
                                            <p:cond delay="499"/>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20265" y="559731"/>
            <a:ext cx="6217920" cy="1163075"/>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LÝ THUYẾT VÀ</a:t>
            </a:r>
            <a:r>
              <a:rPr lang="en-US" sz="3600" b="1" dirty="0">
                <a:solidFill>
                  <a:srgbClr val="1F4E79"/>
                </a:solidFill>
                <a:latin typeface="Times New Roman"/>
              </a:rPr>
              <a:t>
</a:t>
            </a:r>
            <a:r>
              <a:rPr sz="3600" b="1" dirty="0">
                <a:solidFill>
                  <a:srgbClr val="1F4E79"/>
                </a:solidFill>
                <a:latin typeface="Times New Roman"/>
              </a:rPr>
              <a:t>CÔNG NGHỆ</a:t>
            </a:r>
          </a:p>
        </p:txBody>
      </p:sp>
      <p:sp>
        <p:nvSpPr>
          <p:cNvPr id="3" name="TextBox 2"/>
          <p:cNvSpPr txBox="1"/>
          <p:nvPr/>
        </p:nvSpPr>
        <p:spPr>
          <a:xfrm>
            <a:off x="889788" y="2570695"/>
            <a:ext cx="5158587" cy="339388"/>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1" dirty="0">
                <a:solidFill>
                  <a:srgbClr val="000000"/>
                </a:solidFill>
                <a:latin typeface="Times New Roman"/>
              </a:rPr>
              <a:t>Unity Engine</a:t>
            </a:r>
          </a:p>
        </p:txBody>
      </p:sp>
      <p:sp>
        <p:nvSpPr>
          <p:cNvPr id="5" name="TextBox 4"/>
          <p:cNvSpPr txBox="1"/>
          <p:nvPr/>
        </p:nvSpPr>
        <p:spPr>
          <a:xfrm>
            <a:off x="889788" y="3998451"/>
            <a:ext cx="5122011" cy="339388"/>
          </a:xfrm>
          <a:prstGeom prst="rect">
            <a:avLst/>
          </a:prstGeom>
          <a:noFill/>
        </p:spPr>
        <p:txBody>
          <a:bodyPr wrap="square" lIns="18288" tIns="18288" rIns="18288" bIns="18288" anchor="t">
            <a:spAutoFit/>
          </a:bodyPr>
          <a:lstStyle/>
          <a:p>
            <a:pPr algn="ctr">
              <a:lnSpc>
                <a:spcPct val="105000"/>
              </a:lnSpc>
              <a:spcBef>
                <a:spcPts val="0"/>
              </a:spcBef>
              <a:spcAft>
                <a:spcPts val="1000"/>
              </a:spcAft>
            </a:pPr>
            <a:r>
              <a:rPr sz="2000" b="0">
                <a:latin typeface="Times New Roman"/>
              </a:rPr>
              <a:t>Dựng cảnh, lối chơi và giao diện.</a:t>
            </a:r>
          </a:p>
        </p:txBody>
      </p:sp>
      <p:sp>
        <p:nvSpPr>
          <p:cNvPr id="6" name="TextBox 5"/>
          <p:cNvSpPr txBox="1"/>
          <p:nvPr/>
        </p:nvSpPr>
        <p:spPr>
          <a:xfrm>
            <a:off x="6272250" y="2575973"/>
            <a:ext cx="5158587" cy="339388"/>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1" dirty="0">
                <a:solidFill>
                  <a:srgbClr val="000000"/>
                </a:solidFill>
                <a:latin typeface="Times New Roman"/>
              </a:rPr>
              <a:t>C#</a:t>
            </a:r>
          </a:p>
        </p:txBody>
      </p:sp>
      <p:sp>
        <p:nvSpPr>
          <p:cNvPr id="8" name="TextBox 7"/>
          <p:cNvSpPr txBox="1"/>
          <p:nvPr/>
        </p:nvSpPr>
        <p:spPr>
          <a:xfrm>
            <a:off x="6272250" y="4052023"/>
            <a:ext cx="5122011" cy="339388"/>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lang="en-US" sz="2000" b="0" dirty="0" err="1">
                <a:solidFill>
                  <a:srgbClr val="000000"/>
                </a:solidFill>
                <a:latin typeface="Times New Roman"/>
              </a:rPr>
              <a:t>Ngôn</a:t>
            </a:r>
            <a:r>
              <a:rPr lang="en-US" sz="2000" b="0" dirty="0">
                <a:solidFill>
                  <a:srgbClr val="000000"/>
                </a:solidFill>
                <a:latin typeface="Times New Roman"/>
              </a:rPr>
              <a:t> </a:t>
            </a:r>
            <a:r>
              <a:rPr lang="en-US" sz="2000" b="0" dirty="0" err="1">
                <a:solidFill>
                  <a:srgbClr val="000000"/>
                </a:solidFill>
                <a:latin typeface="Times New Roman"/>
              </a:rPr>
              <a:t>ngữ</a:t>
            </a:r>
            <a:r>
              <a:rPr lang="en-US" sz="2000" b="0" dirty="0">
                <a:solidFill>
                  <a:srgbClr val="000000"/>
                </a:solidFill>
                <a:latin typeface="Times New Roman"/>
              </a:rPr>
              <a:t> </a:t>
            </a:r>
            <a:r>
              <a:rPr lang="en-US" sz="2000" b="0" dirty="0" err="1">
                <a:solidFill>
                  <a:srgbClr val="000000"/>
                </a:solidFill>
                <a:latin typeface="Times New Roman"/>
              </a:rPr>
              <a:t>lập</a:t>
            </a:r>
            <a:r>
              <a:rPr lang="en-US" sz="2000" b="0" dirty="0">
                <a:solidFill>
                  <a:srgbClr val="000000"/>
                </a:solidFill>
                <a:latin typeface="Times New Roman"/>
              </a:rPr>
              <a:t> </a:t>
            </a:r>
            <a:r>
              <a:rPr lang="en-US" sz="2000" b="0" dirty="0" err="1">
                <a:solidFill>
                  <a:srgbClr val="000000"/>
                </a:solidFill>
                <a:latin typeface="Times New Roman"/>
              </a:rPr>
              <a:t>trình</a:t>
            </a:r>
            <a:r>
              <a:rPr lang="en-US" sz="2000" b="0" dirty="0">
                <a:solidFill>
                  <a:srgbClr val="000000"/>
                </a:solidFill>
                <a:latin typeface="Times New Roman"/>
              </a:rPr>
              <a:t> </a:t>
            </a:r>
            <a:r>
              <a:rPr lang="en-US" sz="2000" b="0" dirty="0" err="1">
                <a:solidFill>
                  <a:srgbClr val="000000"/>
                </a:solidFill>
                <a:latin typeface="Times New Roman"/>
              </a:rPr>
              <a:t>chính</a:t>
            </a:r>
            <a:endParaRPr sz="2000" b="0" dirty="0">
              <a:solidFill>
                <a:srgbClr val="000000"/>
              </a:solidFill>
              <a:latin typeface="Times New Roman"/>
            </a:endParaRPr>
          </a:p>
        </p:txBody>
      </p:sp>
      <p:sp>
        <p:nvSpPr>
          <p:cNvPr id="12" name="TextBox 11"/>
          <p:cNvSpPr txBox="1"/>
          <p:nvPr/>
        </p:nvSpPr>
        <p:spPr>
          <a:xfrm>
            <a:off x="6253962" y="4833835"/>
            <a:ext cx="5158587" cy="339388"/>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1" dirty="0" err="1">
                <a:solidFill>
                  <a:srgbClr val="000000"/>
                </a:solidFill>
                <a:latin typeface="Times New Roman"/>
              </a:rPr>
              <a:t>PlayFab</a:t>
            </a:r>
            <a:endParaRPr sz="2000" b="1" dirty="0">
              <a:solidFill>
                <a:srgbClr val="000000"/>
              </a:solidFill>
              <a:latin typeface="Times New Roman"/>
            </a:endParaRPr>
          </a:p>
        </p:txBody>
      </p:sp>
      <p:sp>
        <p:nvSpPr>
          <p:cNvPr id="14" name="TextBox 13"/>
          <p:cNvSpPr txBox="1"/>
          <p:nvPr/>
        </p:nvSpPr>
        <p:spPr>
          <a:xfrm>
            <a:off x="6272250" y="6141957"/>
            <a:ext cx="5122011" cy="365760"/>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a:solidFill>
                  <a:srgbClr val="000000"/>
                </a:solidFill>
                <a:latin typeface="Times New Roman"/>
              </a:rPr>
              <a:t>Lưu bảng xếp hạng </a:t>
            </a:r>
            <a:r>
              <a:rPr sz="2000" b="0" dirty="0" err="1">
                <a:solidFill>
                  <a:srgbClr val="000000"/>
                </a:solidFill>
                <a:latin typeface="Times New Roman"/>
              </a:rPr>
              <a:t>và</a:t>
            </a:r>
            <a:r>
              <a:rPr sz="2000" b="0" dirty="0">
                <a:solidFill>
                  <a:srgbClr val="000000"/>
                </a:solidFill>
                <a:latin typeface="Times New Roman"/>
              </a:rPr>
              <a:t> </a:t>
            </a:r>
            <a:r>
              <a:rPr sz="2000" b="0" dirty="0" err="1">
                <a:solidFill>
                  <a:srgbClr val="000000"/>
                </a:solidFill>
                <a:latin typeface="Times New Roman"/>
              </a:rPr>
              <a:t>đồng</a:t>
            </a:r>
            <a:r>
              <a:rPr sz="2000" b="0" dirty="0">
                <a:solidFill>
                  <a:srgbClr val="000000"/>
                </a:solidFill>
                <a:latin typeface="Times New Roman"/>
              </a:rPr>
              <a:t> </a:t>
            </a:r>
            <a:r>
              <a:rPr sz="2000" b="0" dirty="0" err="1">
                <a:solidFill>
                  <a:srgbClr val="000000"/>
                </a:solidFill>
                <a:latin typeface="Times New Roman"/>
              </a:rPr>
              <a:t>bộ</a:t>
            </a:r>
            <a:r>
              <a:rPr sz="2000" b="0" dirty="0">
                <a:solidFill>
                  <a:srgbClr val="000000"/>
                </a:solidFill>
                <a:latin typeface="Times New Roman"/>
              </a:rPr>
              <a:t> </a:t>
            </a:r>
            <a:r>
              <a:rPr sz="2000" b="0" dirty="0" err="1">
                <a:solidFill>
                  <a:srgbClr val="000000"/>
                </a:solidFill>
                <a:latin typeface="Times New Roman"/>
              </a:rPr>
              <a:t>tên</a:t>
            </a:r>
            <a:r>
              <a:rPr sz="2000" b="0" dirty="0">
                <a:solidFill>
                  <a:srgbClr val="000000"/>
                </a:solidFill>
                <a:latin typeface="Times New Roman"/>
              </a:rPr>
              <a:t> </a:t>
            </a:r>
            <a:r>
              <a:rPr sz="2000" b="0" dirty="0" err="1">
                <a:solidFill>
                  <a:srgbClr val="000000"/>
                </a:solidFill>
                <a:latin typeface="Times New Roman"/>
              </a:rPr>
              <a:t>người</a:t>
            </a:r>
            <a:r>
              <a:rPr sz="2000" b="0" dirty="0">
                <a:solidFill>
                  <a:srgbClr val="000000"/>
                </a:solidFill>
                <a:latin typeface="Times New Roman"/>
              </a:rPr>
              <a:t> </a:t>
            </a:r>
            <a:r>
              <a:rPr sz="2000" b="0" dirty="0" err="1">
                <a:solidFill>
                  <a:srgbClr val="000000"/>
                </a:solidFill>
                <a:latin typeface="Times New Roman"/>
              </a:rPr>
              <a:t>chơi</a:t>
            </a:r>
            <a:r>
              <a:rPr sz="2000" b="0" dirty="0">
                <a:solidFill>
                  <a:srgbClr val="000000"/>
                </a:solidFill>
                <a:latin typeface="Times New Roman"/>
              </a:rPr>
              <a:t>.</a:t>
            </a:r>
          </a:p>
        </p:txBody>
      </p:sp>
      <p:pic>
        <p:nvPicPr>
          <p:cNvPr id="16" name="Picture 15">
            <a:extLst>
              <a:ext uri="{FF2B5EF4-FFF2-40B4-BE49-F238E27FC236}">
                <a16:creationId xmlns:a16="http://schemas.microsoft.com/office/drawing/2014/main" id="{E59DB44E-E506-E3C3-5782-DB4BFC79902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9336" y="5152156"/>
            <a:ext cx="2787838" cy="1036800"/>
          </a:xfrm>
          <a:prstGeom prst="rect">
            <a:avLst/>
          </a:prstGeom>
        </p:spPr>
      </p:pic>
      <p:pic>
        <p:nvPicPr>
          <p:cNvPr id="18" name="Picture 17">
            <a:extLst>
              <a:ext uri="{FF2B5EF4-FFF2-40B4-BE49-F238E27FC236}">
                <a16:creationId xmlns:a16="http://schemas.microsoft.com/office/drawing/2014/main" id="{CB530E90-8EEC-44A9-448F-317312F26B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32694" y="3050903"/>
            <a:ext cx="936000" cy="936000"/>
          </a:xfrm>
          <a:prstGeom prst="rect">
            <a:avLst/>
          </a:prstGeom>
        </p:spPr>
      </p:pic>
      <p:pic>
        <p:nvPicPr>
          <p:cNvPr id="20" name="Picture 19">
            <a:extLst>
              <a:ext uri="{FF2B5EF4-FFF2-40B4-BE49-F238E27FC236}">
                <a16:creationId xmlns:a16="http://schemas.microsoft.com/office/drawing/2014/main" id="{D49C11FA-A222-D975-0433-6F7169B3B0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41093" y="2961000"/>
            <a:ext cx="2543694" cy="936000"/>
          </a:xfrm>
          <a:prstGeom prst="rect">
            <a:avLst/>
          </a:prstGeom>
        </p:spPr>
      </p:pic>
      <p:pic>
        <p:nvPicPr>
          <p:cNvPr id="22" name="Picture 21">
            <a:extLst>
              <a:ext uri="{FF2B5EF4-FFF2-40B4-BE49-F238E27FC236}">
                <a16:creationId xmlns:a16="http://schemas.microsoft.com/office/drawing/2014/main" id="{6EF0CD74-BCC6-E049-1E16-B875943453B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42171" y="5163549"/>
            <a:ext cx="936000" cy="936000"/>
          </a:xfrm>
          <a:prstGeom prst="rect">
            <a:avLst/>
          </a:prstGeom>
        </p:spPr>
      </p:pic>
      <p:sp>
        <p:nvSpPr>
          <p:cNvPr id="24" name="TextBox 23">
            <a:extLst>
              <a:ext uri="{FF2B5EF4-FFF2-40B4-BE49-F238E27FC236}">
                <a16:creationId xmlns:a16="http://schemas.microsoft.com/office/drawing/2014/main" id="{D5B1AFBB-DC89-72EB-648B-E0E657116E49}"/>
              </a:ext>
            </a:extLst>
          </p:cNvPr>
          <p:cNvSpPr txBox="1"/>
          <p:nvPr/>
        </p:nvSpPr>
        <p:spPr>
          <a:xfrm>
            <a:off x="251383" y="4757368"/>
            <a:ext cx="6096000" cy="394788"/>
          </a:xfrm>
          <a:prstGeom prst="rect">
            <a:avLst/>
          </a:prstGeom>
          <a:noFill/>
        </p:spPr>
        <p:txBody>
          <a:bodyPr wrap="square">
            <a:spAutoFit/>
          </a:bodyPr>
          <a:lstStyle/>
          <a:p>
            <a:pPr algn="ctr">
              <a:lnSpc>
                <a:spcPct val="105000"/>
              </a:lnSpc>
              <a:spcBef>
                <a:spcPts val="0"/>
              </a:spcBef>
              <a:spcAft>
                <a:spcPts val="0"/>
              </a:spcAft>
            </a:pPr>
            <a:r>
              <a:rPr lang="en-US" sz="2000" b="1" dirty="0">
                <a:solidFill>
                  <a:srgbClr val="000000"/>
                </a:solidFill>
                <a:latin typeface="Times New Roman"/>
              </a:rPr>
              <a:t>Visual Studio Code</a:t>
            </a:r>
          </a:p>
        </p:txBody>
      </p:sp>
      <p:sp>
        <p:nvSpPr>
          <p:cNvPr id="25" name="TextBox 24">
            <a:extLst>
              <a:ext uri="{FF2B5EF4-FFF2-40B4-BE49-F238E27FC236}">
                <a16:creationId xmlns:a16="http://schemas.microsoft.com/office/drawing/2014/main" id="{E25358D3-ED00-9675-5E4A-478EE96FC231}"/>
              </a:ext>
            </a:extLst>
          </p:cNvPr>
          <p:cNvSpPr txBox="1"/>
          <p:nvPr/>
        </p:nvSpPr>
        <p:spPr>
          <a:xfrm>
            <a:off x="646024" y="6168329"/>
            <a:ext cx="5122011"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0" dirty="0" err="1">
                <a:latin typeface="Times New Roman"/>
              </a:rPr>
              <a:t>Môi</a:t>
            </a:r>
            <a:r>
              <a:rPr sz="2000" b="0" dirty="0">
                <a:latin typeface="Times New Roman"/>
              </a:rPr>
              <a:t> </a:t>
            </a:r>
            <a:r>
              <a:rPr sz="2000" b="0" dirty="0" err="1">
                <a:latin typeface="Times New Roman"/>
              </a:rPr>
              <a:t>trường</a:t>
            </a:r>
            <a:r>
              <a:rPr sz="2000" b="0" dirty="0">
                <a:latin typeface="Times New Roman"/>
              </a:rPr>
              <a:t> </a:t>
            </a:r>
            <a:r>
              <a:rPr sz="2000" b="0" dirty="0" err="1">
                <a:latin typeface="Times New Roman"/>
              </a:rPr>
              <a:t>lập</a:t>
            </a:r>
            <a:r>
              <a:rPr sz="2000" b="0" dirty="0">
                <a:latin typeface="Times New Roman"/>
              </a:rPr>
              <a:t> </a:t>
            </a:r>
            <a:r>
              <a:rPr sz="2000" b="0" dirty="0" err="1">
                <a:latin typeface="Times New Roman"/>
              </a:rPr>
              <a:t>trình</a:t>
            </a:r>
            <a:r>
              <a:rPr sz="2000" b="0" dirty="0">
                <a:latin typeface="Times New Roman"/>
              </a:rPr>
              <a:t> </a:t>
            </a:r>
            <a:r>
              <a:rPr sz="2000" b="0" dirty="0" err="1">
                <a:latin typeface="Times New Roman"/>
              </a:rPr>
              <a:t>và</a:t>
            </a:r>
            <a:r>
              <a:rPr sz="2000" b="0" dirty="0">
                <a:latin typeface="Times New Roman"/>
              </a:rPr>
              <a:t> </a:t>
            </a:r>
            <a:r>
              <a:rPr sz="2000" b="0" dirty="0" err="1">
                <a:latin typeface="Times New Roman"/>
              </a:rPr>
              <a:t>chỉnh</a:t>
            </a:r>
            <a:r>
              <a:rPr sz="2000" b="0" dirty="0">
                <a:latin typeface="Times New Roman"/>
              </a:rPr>
              <a:t> </a:t>
            </a:r>
            <a:r>
              <a:rPr sz="2000" b="0" dirty="0" err="1">
                <a:latin typeface="Times New Roman"/>
              </a:rPr>
              <a:t>sửa</a:t>
            </a:r>
            <a:r>
              <a:rPr sz="2000" b="0" dirty="0">
                <a:latin typeface="Times New Roman"/>
              </a:rPr>
              <a:t> </a:t>
            </a:r>
            <a:r>
              <a:rPr sz="2000" b="0" dirty="0" err="1">
                <a:latin typeface="Times New Roman"/>
              </a:rPr>
              <a:t>mã</a:t>
            </a:r>
            <a:r>
              <a:rPr sz="2000" b="0" dirty="0">
                <a:latin typeface="Times New Roman"/>
              </a:rPr>
              <a:t> </a:t>
            </a:r>
            <a:r>
              <a:rPr sz="2000" b="0" dirty="0" err="1">
                <a:latin typeface="Times New Roman"/>
              </a:rPr>
              <a:t>nguồn</a:t>
            </a:r>
            <a:r>
              <a:rPr sz="2000" b="0" dirty="0">
                <a:latin typeface="Times New Roman"/>
              </a:rPr>
              <a:t>.</a:t>
            </a:r>
            <a:endParaRPr sz="2000" b="0" dirty="0">
              <a:solidFill>
                <a:srgbClr val="000000"/>
              </a:solidFill>
              <a:latin typeface="Times New Roman"/>
            </a:endParaRPr>
          </a:p>
        </p:txBody>
      </p:sp>
      <p:sp>
        <p:nvSpPr>
          <p:cNvPr id="7" name="TextBox 6">
            <a:extLst>
              <a:ext uri="{FF2B5EF4-FFF2-40B4-BE49-F238E27FC236}">
                <a16:creationId xmlns:a16="http://schemas.microsoft.com/office/drawing/2014/main" id="{E48ACF92-55FD-891B-6034-76DCF719D77D}"/>
              </a:ext>
            </a:extLst>
          </p:cNvPr>
          <p:cNvSpPr txBox="1"/>
          <p:nvPr/>
        </p:nvSpPr>
        <p:spPr>
          <a:xfrm>
            <a:off x="2963799" y="1919371"/>
            <a:ext cx="6096000" cy="515782"/>
          </a:xfrm>
          <a:prstGeom prst="rect">
            <a:avLst/>
          </a:prstGeom>
          <a:noFill/>
        </p:spPr>
        <p:txBody>
          <a:bodyPr wrap="square">
            <a:spAutoFit/>
          </a:bodyPr>
          <a:lstStyle/>
          <a:p>
            <a:pPr algn="ctr">
              <a:lnSpc>
                <a:spcPct val="105000"/>
              </a:lnSpc>
              <a:spcBef>
                <a:spcPts val="0"/>
              </a:spcBef>
              <a:spcAft>
                <a:spcPts val="0"/>
              </a:spcAft>
            </a:pPr>
            <a:r>
              <a:rPr lang="en-US" sz="2800" b="1" dirty="0">
                <a:latin typeface="Times New Roman"/>
              </a:rPr>
              <a:t>Công </a:t>
            </a:r>
            <a:r>
              <a:rPr lang="en-US" sz="2800" b="1" dirty="0" err="1">
                <a:latin typeface="Times New Roman"/>
              </a:rPr>
              <a:t>cụ</a:t>
            </a:r>
            <a:r>
              <a:rPr lang="en-US" sz="2800" b="1" dirty="0">
                <a:latin typeface="Times New Roman"/>
              </a:rPr>
              <a:t> </a:t>
            </a:r>
            <a:r>
              <a:rPr lang="en-US" sz="2800" b="1" dirty="0" err="1">
                <a:latin typeface="Times New Roman"/>
              </a:rPr>
              <a:t>hỗ</a:t>
            </a:r>
            <a:r>
              <a:rPr lang="en-US" sz="2800" b="1" dirty="0">
                <a:latin typeface="Times New Roman"/>
              </a:rPr>
              <a:t> </a:t>
            </a:r>
            <a:r>
              <a:rPr lang="en-US" sz="2800" b="1" dirty="0" err="1">
                <a:latin typeface="Times New Roman"/>
              </a:rPr>
              <a:t>trợ</a:t>
            </a:r>
            <a:r>
              <a:rPr lang="en-US" sz="2800" b="1" dirty="0">
                <a:latin typeface="Times New Roman"/>
              </a:rPr>
              <a:t> </a:t>
            </a:r>
            <a:r>
              <a:rPr lang="en-US" sz="2800" b="1" dirty="0" err="1">
                <a:latin typeface="Times New Roman"/>
              </a:rPr>
              <a:t>phát</a:t>
            </a:r>
            <a:r>
              <a:rPr lang="en-US" sz="2800" b="1" dirty="0">
                <a:latin typeface="Times New Roman"/>
              </a:rPr>
              <a:t> </a:t>
            </a:r>
            <a:r>
              <a:rPr lang="en-US" sz="2800" b="1" dirty="0" err="1">
                <a:latin typeface="Times New Roman"/>
              </a:rPr>
              <a:t>triển</a:t>
            </a:r>
            <a:endParaRPr lang="en-US" sz="2800" b="1" dirty="0">
              <a:latin typeface="Times New Roman"/>
            </a:endParaRPr>
          </a:p>
        </p:txBody>
      </p:sp>
    </p:spTree>
    <p:extLst>
      <p:ext uri="{BB962C8B-B14F-4D97-AF65-F5344CB8AC3E}">
        <p14:creationId xmlns:p14="http://schemas.microsoft.com/office/powerpoint/2010/main" val="3381826541"/>
      </p:ext>
    </p:extLst>
  </p:cSld>
  <p:clrMapOvr>
    <a:masterClrMapping/>
  </p:clrMapOvr>
  <p:transition spd="med">
    <p:fade/>
  </p:transition>
  <p:timing>
    <p:tnLst>
      <p:par>
        <p:cTn id="1" dur="indef"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0E2FC-AC95-73B2-DF77-2BDCF2CDA0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D16223-29FF-5DC1-07FE-85192E2F55FE}"/>
              </a:ext>
            </a:extLst>
          </p:cNvPr>
          <p:cNvSpPr txBox="1"/>
          <p:nvPr/>
        </p:nvSpPr>
        <p:spPr>
          <a:xfrm>
            <a:off x="2120265" y="559731"/>
            <a:ext cx="6217920" cy="1163075"/>
          </a:xfrm>
          <a:prstGeom prst="rect">
            <a:avLst/>
          </a:prstGeom>
          <a:noFill/>
        </p:spPr>
        <p:txBody>
          <a:bodyPr wrap="square" lIns="18288" tIns="18288" rIns="18288" bIns="18288" anchor="t">
            <a:spAutoFit/>
          </a:bodyPr>
          <a:lstStyle/>
          <a:p>
            <a:pPr>
              <a:lnSpc>
                <a:spcPct val="105000"/>
              </a:lnSpc>
              <a:spcBef>
                <a:spcPts val="0"/>
              </a:spcBef>
              <a:spcAft>
                <a:spcPts val="0"/>
              </a:spcAft>
            </a:pPr>
            <a:r>
              <a:rPr sz="3600" b="1" dirty="0">
                <a:solidFill>
                  <a:srgbClr val="1F4E79"/>
                </a:solidFill>
                <a:latin typeface="Times New Roman"/>
              </a:rPr>
              <a:t>LÝ THUYẾT VÀ
CÔNG NGHỆ</a:t>
            </a:r>
          </a:p>
        </p:txBody>
      </p:sp>
      <p:sp>
        <p:nvSpPr>
          <p:cNvPr id="3" name="TextBox 2">
            <a:extLst>
              <a:ext uri="{FF2B5EF4-FFF2-40B4-BE49-F238E27FC236}">
                <a16:creationId xmlns:a16="http://schemas.microsoft.com/office/drawing/2014/main" id="{43D06D57-6E4E-E276-7C4F-B25E7FF39FE8}"/>
              </a:ext>
            </a:extLst>
          </p:cNvPr>
          <p:cNvSpPr txBox="1"/>
          <p:nvPr/>
        </p:nvSpPr>
        <p:spPr>
          <a:xfrm>
            <a:off x="848412" y="2585021"/>
            <a:ext cx="5158587"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1" dirty="0">
                <a:latin typeface="Times New Roman"/>
              </a:rPr>
              <a:t>Git/GitHub</a:t>
            </a:r>
          </a:p>
        </p:txBody>
      </p:sp>
      <p:sp>
        <p:nvSpPr>
          <p:cNvPr id="5" name="TextBox 4">
            <a:extLst>
              <a:ext uri="{FF2B5EF4-FFF2-40B4-BE49-F238E27FC236}">
                <a16:creationId xmlns:a16="http://schemas.microsoft.com/office/drawing/2014/main" id="{FFA21AF4-608F-B3DA-6823-81A93B203B56}"/>
              </a:ext>
            </a:extLst>
          </p:cNvPr>
          <p:cNvSpPr txBox="1"/>
          <p:nvPr/>
        </p:nvSpPr>
        <p:spPr>
          <a:xfrm>
            <a:off x="866699" y="3964593"/>
            <a:ext cx="5122011"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0" dirty="0">
                <a:latin typeface="Times New Roman"/>
              </a:rPr>
              <a:t>Quản </a:t>
            </a:r>
            <a:r>
              <a:rPr sz="2000" b="0" dirty="0" err="1">
                <a:latin typeface="Times New Roman"/>
              </a:rPr>
              <a:t>lý</a:t>
            </a:r>
            <a:r>
              <a:rPr sz="2000" b="0" dirty="0">
                <a:latin typeface="Times New Roman"/>
              </a:rPr>
              <a:t>, </a:t>
            </a:r>
            <a:r>
              <a:rPr lang="en-US" sz="2000" dirty="0" err="1">
                <a:latin typeface="Times New Roman"/>
              </a:rPr>
              <a:t>theo</a:t>
            </a:r>
            <a:r>
              <a:rPr lang="en-US" sz="2000" dirty="0">
                <a:latin typeface="Times New Roman"/>
              </a:rPr>
              <a:t> </a:t>
            </a:r>
            <a:r>
              <a:rPr lang="en-US" sz="2000" dirty="0" err="1">
                <a:latin typeface="Times New Roman"/>
              </a:rPr>
              <a:t>dõi</a:t>
            </a:r>
            <a:r>
              <a:rPr lang="en-US" sz="2000" dirty="0">
                <a:latin typeface="Times New Roman"/>
              </a:rPr>
              <a:t> </a:t>
            </a:r>
            <a:r>
              <a:rPr lang="en-US" sz="2000" dirty="0" err="1">
                <a:latin typeface="Times New Roman"/>
              </a:rPr>
              <a:t>và</a:t>
            </a:r>
            <a:r>
              <a:rPr lang="en-US" sz="2000" dirty="0">
                <a:latin typeface="Times New Roman"/>
              </a:rPr>
              <a:t> </a:t>
            </a:r>
            <a:r>
              <a:rPr sz="2000" b="0" dirty="0" err="1">
                <a:latin typeface="Times New Roman"/>
              </a:rPr>
              <a:t>lưu</a:t>
            </a:r>
            <a:r>
              <a:rPr sz="2000" b="0" dirty="0">
                <a:latin typeface="Times New Roman"/>
              </a:rPr>
              <a:t> </a:t>
            </a:r>
            <a:r>
              <a:rPr sz="2000" b="0" dirty="0" err="1">
                <a:latin typeface="Times New Roman"/>
              </a:rPr>
              <a:t>trữ</a:t>
            </a:r>
            <a:r>
              <a:rPr sz="2000" b="0" dirty="0">
                <a:latin typeface="Times New Roman"/>
              </a:rPr>
              <a:t> </a:t>
            </a:r>
            <a:r>
              <a:rPr lang="en-US" sz="2000" b="0" dirty="0" err="1">
                <a:latin typeface="Times New Roman"/>
              </a:rPr>
              <a:t>dự</a:t>
            </a:r>
            <a:r>
              <a:rPr lang="en-US" sz="2000" b="0" dirty="0">
                <a:latin typeface="Times New Roman"/>
              </a:rPr>
              <a:t> </a:t>
            </a:r>
            <a:r>
              <a:rPr lang="en-US" sz="2000" b="0" dirty="0" err="1">
                <a:latin typeface="Times New Roman"/>
              </a:rPr>
              <a:t>án</a:t>
            </a:r>
            <a:r>
              <a:rPr sz="2000" b="0" dirty="0">
                <a:latin typeface="Times New Roman"/>
              </a:rPr>
              <a:t>.</a:t>
            </a:r>
          </a:p>
        </p:txBody>
      </p:sp>
      <p:sp>
        <p:nvSpPr>
          <p:cNvPr id="6" name="TextBox 5">
            <a:extLst>
              <a:ext uri="{FF2B5EF4-FFF2-40B4-BE49-F238E27FC236}">
                <a16:creationId xmlns:a16="http://schemas.microsoft.com/office/drawing/2014/main" id="{7421F79F-02DB-49C2-FAAC-B0C4A802ADB0}"/>
              </a:ext>
            </a:extLst>
          </p:cNvPr>
          <p:cNvSpPr txBox="1"/>
          <p:nvPr/>
        </p:nvSpPr>
        <p:spPr>
          <a:xfrm>
            <a:off x="6405068" y="2610082"/>
            <a:ext cx="5158587"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1" dirty="0" err="1">
                <a:latin typeface="Times New Roman"/>
              </a:rPr>
              <a:t>Sketchfab</a:t>
            </a:r>
            <a:endParaRPr sz="2000" b="1" dirty="0">
              <a:latin typeface="Times New Roman"/>
            </a:endParaRPr>
          </a:p>
        </p:txBody>
      </p:sp>
      <p:sp>
        <p:nvSpPr>
          <p:cNvPr id="8" name="TextBox 7">
            <a:extLst>
              <a:ext uri="{FF2B5EF4-FFF2-40B4-BE49-F238E27FC236}">
                <a16:creationId xmlns:a16="http://schemas.microsoft.com/office/drawing/2014/main" id="{1FF37964-AFC9-FDC0-ABE8-31D533CE3304}"/>
              </a:ext>
            </a:extLst>
          </p:cNvPr>
          <p:cNvSpPr txBox="1"/>
          <p:nvPr/>
        </p:nvSpPr>
        <p:spPr>
          <a:xfrm>
            <a:off x="6441644" y="3947857"/>
            <a:ext cx="5122011"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0" dirty="0">
                <a:latin typeface="Times New Roman"/>
              </a:rPr>
              <a:t>Tham </a:t>
            </a:r>
            <a:r>
              <a:rPr sz="2000" b="0" dirty="0" err="1">
                <a:latin typeface="Times New Roman"/>
              </a:rPr>
              <a:t>khảo</a:t>
            </a:r>
            <a:r>
              <a:rPr sz="2000" b="0" dirty="0">
                <a:latin typeface="Times New Roman"/>
              </a:rPr>
              <a:t> </a:t>
            </a:r>
            <a:r>
              <a:rPr sz="2000" b="0" dirty="0" err="1">
                <a:latin typeface="Times New Roman"/>
              </a:rPr>
              <a:t>và</a:t>
            </a:r>
            <a:r>
              <a:rPr sz="2000" b="0" dirty="0">
                <a:latin typeface="Times New Roman"/>
              </a:rPr>
              <a:t> </a:t>
            </a:r>
            <a:r>
              <a:rPr sz="2000" b="0" dirty="0" err="1">
                <a:latin typeface="Times New Roman"/>
              </a:rPr>
              <a:t>lấy</a:t>
            </a:r>
            <a:r>
              <a:rPr sz="2000" b="0" dirty="0">
                <a:latin typeface="Times New Roman"/>
              </a:rPr>
              <a:t> mô hình</a:t>
            </a:r>
            <a:r>
              <a:rPr lang="en-US" sz="2000" b="0" dirty="0">
                <a:latin typeface="Times New Roman"/>
              </a:rPr>
              <a:t> 3D</a:t>
            </a:r>
            <a:endParaRPr sz="2000" b="0" dirty="0">
              <a:solidFill>
                <a:srgbClr val="000000"/>
              </a:solidFill>
              <a:latin typeface="Times New Roman"/>
            </a:endParaRPr>
          </a:p>
        </p:txBody>
      </p:sp>
      <p:sp>
        <p:nvSpPr>
          <p:cNvPr id="12" name="TextBox 11">
            <a:extLst>
              <a:ext uri="{FF2B5EF4-FFF2-40B4-BE49-F238E27FC236}">
                <a16:creationId xmlns:a16="http://schemas.microsoft.com/office/drawing/2014/main" id="{E027D2E4-00CB-7276-075C-3CDDF35063D0}"/>
              </a:ext>
            </a:extLst>
          </p:cNvPr>
          <p:cNvSpPr txBox="1"/>
          <p:nvPr/>
        </p:nvSpPr>
        <p:spPr>
          <a:xfrm>
            <a:off x="6405068" y="4766511"/>
            <a:ext cx="5158587"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1" dirty="0">
                <a:latin typeface="Times New Roman"/>
              </a:rPr>
              <a:t>Blender</a:t>
            </a:r>
            <a:endParaRPr b="1" dirty="0">
              <a:solidFill>
                <a:srgbClr val="000000"/>
              </a:solidFill>
              <a:latin typeface="Times New Roman"/>
            </a:endParaRPr>
          </a:p>
        </p:txBody>
      </p:sp>
      <p:sp>
        <p:nvSpPr>
          <p:cNvPr id="14" name="TextBox 13">
            <a:extLst>
              <a:ext uri="{FF2B5EF4-FFF2-40B4-BE49-F238E27FC236}">
                <a16:creationId xmlns:a16="http://schemas.microsoft.com/office/drawing/2014/main" id="{1C276825-3374-870E-35AE-7948BB8D833A}"/>
              </a:ext>
            </a:extLst>
          </p:cNvPr>
          <p:cNvSpPr txBox="1"/>
          <p:nvPr/>
        </p:nvSpPr>
        <p:spPr>
          <a:xfrm>
            <a:off x="6423356" y="6064959"/>
            <a:ext cx="5122011"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0" dirty="0" err="1">
                <a:latin typeface="Times New Roman"/>
              </a:rPr>
              <a:t>Chỉnh</a:t>
            </a:r>
            <a:r>
              <a:rPr sz="2000" b="0" dirty="0">
                <a:latin typeface="Times New Roman"/>
              </a:rPr>
              <a:t> </a:t>
            </a:r>
            <a:r>
              <a:rPr sz="2000" b="0" dirty="0" err="1">
                <a:latin typeface="Times New Roman"/>
              </a:rPr>
              <a:t>sửa</a:t>
            </a:r>
            <a:r>
              <a:rPr sz="2000" b="0" dirty="0">
                <a:latin typeface="Times New Roman"/>
              </a:rPr>
              <a:t> mô hình</a:t>
            </a:r>
            <a:r>
              <a:rPr lang="en-US" sz="2000" b="0" dirty="0">
                <a:latin typeface="Times New Roman"/>
              </a:rPr>
              <a:t> 3D</a:t>
            </a:r>
            <a:r>
              <a:rPr sz="2000" b="0" dirty="0">
                <a:latin typeface="Times New Roman"/>
              </a:rPr>
              <a:t> </a:t>
            </a:r>
            <a:r>
              <a:rPr sz="2000" b="0" dirty="0" err="1">
                <a:latin typeface="Times New Roman"/>
              </a:rPr>
              <a:t>và</a:t>
            </a:r>
            <a:r>
              <a:rPr sz="2000" b="0" dirty="0">
                <a:latin typeface="Times New Roman"/>
              </a:rPr>
              <a:t> </a:t>
            </a:r>
            <a:r>
              <a:rPr sz="2000" b="0" dirty="0" err="1">
                <a:latin typeface="Times New Roman"/>
              </a:rPr>
              <a:t>làm</a:t>
            </a:r>
            <a:r>
              <a:rPr sz="2000" b="0" dirty="0">
                <a:latin typeface="Times New Roman"/>
              </a:rPr>
              <a:t> </a:t>
            </a:r>
            <a:r>
              <a:rPr sz="2000" b="0" dirty="0" err="1">
                <a:latin typeface="Times New Roman"/>
              </a:rPr>
              <a:t>hoạt</a:t>
            </a:r>
            <a:r>
              <a:rPr sz="2000" b="0" dirty="0">
                <a:latin typeface="Times New Roman"/>
              </a:rPr>
              <a:t> </a:t>
            </a:r>
            <a:r>
              <a:rPr sz="2000" b="0" dirty="0" err="1">
                <a:latin typeface="Times New Roman"/>
              </a:rPr>
              <a:t>ảnh</a:t>
            </a:r>
            <a:endParaRPr sz="2000" b="0" dirty="0">
              <a:latin typeface="Times New Roman"/>
            </a:endParaRPr>
          </a:p>
        </p:txBody>
      </p:sp>
      <p:sp>
        <p:nvSpPr>
          <p:cNvPr id="24" name="TextBox 23">
            <a:extLst>
              <a:ext uri="{FF2B5EF4-FFF2-40B4-BE49-F238E27FC236}">
                <a16:creationId xmlns:a16="http://schemas.microsoft.com/office/drawing/2014/main" id="{2A9CD4E3-10F2-01B6-C2B6-23AD00F1325B}"/>
              </a:ext>
            </a:extLst>
          </p:cNvPr>
          <p:cNvSpPr txBox="1"/>
          <p:nvPr/>
        </p:nvSpPr>
        <p:spPr>
          <a:xfrm>
            <a:off x="402489" y="4680370"/>
            <a:ext cx="6096000" cy="394788"/>
          </a:xfrm>
          <a:prstGeom prst="rect">
            <a:avLst/>
          </a:prstGeom>
          <a:noFill/>
        </p:spPr>
        <p:txBody>
          <a:bodyPr wrap="square" anchor="t">
            <a:spAutoFit/>
          </a:bodyPr>
          <a:lstStyle/>
          <a:p>
            <a:pPr algn="ctr">
              <a:lnSpc>
                <a:spcPct val="105000"/>
              </a:lnSpc>
              <a:spcBef>
                <a:spcPts val="0"/>
              </a:spcBef>
              <a:spcAft>
                <a:spcPts val="0"/>
              </a:spcAft>
            </a:pPr>
            <a:r>
              <a:rPr sz="2000" b="1" dirty="0">
                <a:latin typeface="Times New Roman"/>
              </a:rPr>
              <a:t>Photoshop</a:t>
            </a:r>
          </a:p>
        </p:txBody>
      </p:sp>
      <p:sp>
        <p:nvSpPr>
          <p:cNvPr id="25" name="TextBox 24">
            <a:extLst>
              <a:ext uri="{FF2B5EF4-FFF2-40B4-BE49-F238E27FC236}">
                <a16:creationId xmlns:a16="http://schemas.microsoft.com/office/drawing/2014/main" id="{A235D792-316E-05EB-6E99-54E066A14BA3}"/>
              </a:ext>
            </a:extLst>
          </p:cNvPr>
          <p:cNvSpPr txBox="1"/>
          <p:nvPr/>
        </p:nvSpPr>
        <p:spPr>
          <a:xfrm>
            <a:off x="797130" y="6091331"/>
            <a:ext cx="5122011" cy="339388"/>
          </a:xfrm>
          <a:prstGeom prst="rect">
            <a:avLst/>
          </a:prstGeom>
          <a:noFill/>
        </p:spPr>
        <p:txBody>
          <a:bodyPr wrap="square" lIns="18288" tIns="18288" rIns="18288" bIns="18288" anchor="t">
            <a:spAutoFit/>
          </a:bodyPr>
          <a:lstStyle/>
          <a:p>
            <a:pPr algn="ctr">
              <a:lnSpc>
                <a:spcPct val="105000"/>
              </a:lnSpc>
              <a:spcBef>
                <a:spcPts val="0"/>
              </a:spcBef>
              <a:spcAft>
                <a:spcPts val="0"/>
              </a:spcAft>
            </a:pPr>
            <a:r>
              <a:rPr sz="2000" b="0" dirty="0" err="1">
                <a:latin typeface="Times New Roman"/>
              </a:rPr>
              <a:t>Chỉnh</a:t>
            </a:r>
            <a:r>
              <a:rPr sz="2000" b="0" dirty="0">
                <a:latin typeface="Times New Roman"/>
              </a:rPr>
              <a:t> </a:t>
            </a:r>
            <a:r>
              <a:rPr sz="2000" b="0" dirty="0" err="1">
                <a:latin typeface="Times New Roman"/>
              </a:rPr>
              <a:t>sửa</a:t>
            </a:r>
            <a:r>
              <a:rPr sz="2000" b="0" dirty="0">
                <a:latin typeface="Times New Roman"/>
              </a:rPr>
              <a:t> </a:t>
            </a:r>
            <a:r>
              <a:rPr sz="2000" b="0" dirty="0" err="1">
                <a:latin typeface="Times New Roman"/>
              </a:rPr>
              <a:t>hình</a:t>
            </a:r>
            <a:r>
              <a:rPr sz="2000" b="0" dirty="0">
                <a:latin typeface="Times New Roman"/>
              </a:rPr>
              <a:t> </a:t>
            </a:r>
            <a:r>
              <a:rPr sz="2000" b="0" dirty="0" err="1">
                <a:latin typeface="Times New Roman"/>
              </a:rPr>
              <a:t>ảnh</a:t>
            </a:r>
            <a:r>
              <a:rPr lang="en-US" sz="2000" b="0" dirty="0">
                <a:latin typeface="Times New Roman"/>
              </a:rPr>
              <a:t>, </a:t>
            </a:r>
            <a:r>
              <a:rPr lang="en-US" sz="2000" b="0" dirty="0" err="1">
                <a:latin typeface="Times New Roman"/>
              </a:rPr>
              <a:t>giao</a:t>
            </a:r>
            <a:r>
              <a:rPr lang="en-US" sz="2000" b="0" dirty="0">
                <a:latin typeface="Times New Roman"/>
              </a:rPr>
              <a:t> </a:t>
            </a:r>
            <a:r>
              <a:rPr lang="en-US" sz="2000" b="0" dirty="0" err="1">
                <a:latin typeface="Times New Roman"/>
              </a:rPr>
              <a:t>diện</a:t>
            </a:r>
            <a:endParaRPr sz="2000" b="0" dirty="0">
              <a:solidFill>
                <a:srgbClr val="000000"/>
              </a:solidFill>
              <a:latin typeface="Times New Roman"/>
            </a:endParaRPr>
          </a:p>
        </p:txBody>
      </p:sp>
      <p:pic>
        <p:nvPicPr>
          <p:cNvPr id="21" name="Picture 20">
            <a:extLst>
              <a:ext uri="{FF2B5EF4-FFF2-40B4-BE49-F238E27FC236}">
                <a16:creationId xmlns:a16="http://schemas.microsoft.com/office/drawing/2014/main" id="{DAB85318-5054-5BC2-5490-6D0C46E7AC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08887" y="2846298"/>
            <a:ext cx="3637636" cy="936000"/>
          </a:xfrm>
          <a:prstGeom prst="rect">
            <a:avLst/>
          </a:prstGeom>
        </p:spPr>
      </p:pic>
      <p:pic>
        <p:nvPicPr>
          <p:cNvPr id="27" name="Picture 26">
            <a:extLst>
              <a:ext uri="{FF2B5EF4-FFF2-40B4-BE49-F238E27FC236}">
                <a16:creationId xmlns:a16="http://schemas.microsoft.com/office/drawing/2014/main" id="{466DC76A-3F2B-669A-A922-5B0BBF909D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63519" y="3069000"/>
            <a:ext cx="3478260" cy="720000"/>
          </a:xfrm>
          <a:prstGeom prst="rect">
            <a:avLst/>
          </a:prstGeom>
        </p:spPr>
      </p:pic>
      <p:pic>
        <p:nvPicPr>
          <p:cNvPr id="29" name="Picture 28">
            <a:extLst>
              <a:ext uri="{FF2B5EF4-FFF2-40B4-BE49-F238E27FC236}">
                <a16:creationId xmlns:a16="http://schemas.microsoft.com/office/drawing/2014/main" id="{1392EE04-D070-62F9-F1F8-2A459C03F4C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05994" y="5110131"/>
            <a:ext cx="1080000" cy="1080000"/>
          </a:xfrm>
          <a:prstGeom prst="rect">
            <a:avLst/>
          </a:prstGeom>
        </p:spPr>
      </p:pic>
      <p:pic>
        <p:nvPicPr>
          <p:cNvPr id="31" name="Picture 30">
            <a:extLst>
              <a:ext uri="{FF2B5EF4-FFF2-40B4-BE49-F238E27FC236}">
                <a16:creationId xmlns:a16="http://schemas.microsoft.com/office/drawing/2014/main" id="{920BF63D-AA5D-1C37-3221-0A8425A71EB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72361" y="5127460"/>
            <a:ext cx="1224000" cy="1080000"/>
          </a:xfrm>
          <a:prstGeom prst="rect">
            <a:avLst/>
          </a:prstGeom>
        </p:spPr>
      </p:pic>
      <p:sp>
        <p:nvSpPr>
          <p:cNvPr id="32" name="TextBox 31">
            <a:extLst>
              <a:ext uri="{FF2B5EF4-FFF2-40B4-BE49-F238E27FC236}">
                <a16:creationId xmlns:a16="http://schemas.microsoft.com/office/drawing/2014/main" id="{E6B33B98-C2A4-56D8-29EE-AEF07B901182}"/>
              </a:ext>
            </a:extLst>
          </p:cNvPr>
          <p:cNvSpPr txBox="1"/>
          <p:nvPr/>
        </p:nvSpPr>
        <p:spPr>
          <a:xfrm>
            <a:off x="2906649" y="1926509"/>
            <a:ext cx="6096000" cy="515782"/>
          </a:xfrm>
          <a:prstGeom prst="rect">
            <a:avLst/>
          </a:prstGeom>
          <a:noFill/>
        </p:spPr>
        <p:txBody>
          <a:bodyPr wrap="square">
            <a:spAutoFit/>
          </a:bodyPr>
          <a:lstStyle/>
          <a:p>
            <a:pPr algn="ctr">
              <a:lnSpc>
                <a:spcPct val="105000"/>
              </a:lnSpc>
              <a:spcBef>
                <a:spcPts val="0"/>
              </a:spcBef>
              <a:spcAft>
                <a:spcPts val="0"/>
              </a:spcAft>
            </a:pPr>
            <a:r>
              <a:rPr lang="en-US" sz="2800" b="1" dirty="0">
                <a:latin typeface="Times New Roman"/>
              </a:rPr>
              <a:t>Công </a:t>
            </a:r>
            <a:r>
              <a:rPr lang="en-US" sz="2800" b="1" dirty="0" err="1">
                <a:latin typeface="Times New Roman"/>
              </a:rPr>
              <a:t>cụ</a:t>
            </a:r>
            <a:r>
              <a:rPr lang="en-US" sz="2800" b="1" dirty="0">
                <a:latin typeface="Times New Roman"/>
              </a:rPr>
              <a:t> </a:t>
            </a:r>
            <a:r>
              <a:rPr lang="en-US" sz="2800" b="1" dirty="0" err="1">
                <a:latin typeface="Times New Roman"/>
              </a:rPr>
              <a:t>hỗ</a:t>
            </a:r>
            <a:r>
              <a:rPr lang="en-US" sz="2800" b="1" dirty="0">
                <a:latin typeface="Times New Roman"/>
              </a:rPr>
              <a:t> </a:t>
            </a:r>
            <a:r>
              <a:rPr lang="en-US" sz="2800" b="1" dirty="0" err="1">
                <a:latin typeface="Times New Roman"/>
              </a:rPr>
              <a:t>trợ</a:t>
            </a:r>
            <a:r>
              <a:rPr lang="en-US" sz="2800" b="1" dirty="0">
                <a:latin typeface="Times New Roman"/>
              </a:rPr>
              <a:t> </a:t>
            </a:r>
            <a:r>
              <a:rPr lang="en-US" sz="2800" b="1" dirty="0" err="1">
                <a:latin typeface="Times New Roman"/>
              </a:rPr>
              <a:t>phát</a:t>
            </a:r>
            <a:r>
              <a:rPr lang="en-US" sz="2800" b="1" dirty="0">
                <a:latin typeface="Times New Roman"/>
              </a:rPr>
              <a:t> </a:t>
            </a:r>
            <a:r>
              <a:rPr lang="en-US" sz="2800" b="1" dirty="0" err="1">
                <a:latin typeface="Times New Roman"/>
              </a:rPr>
              <a:t>triển</a:t>
            </a:r>
            <a:endParaRPr lang="en-US" sz="2800" b="1" dirty="0">
              <a:latin typeface="Times New Roman"/>
            </a:endParaRPr>
          </a:p>
        </p:txBody>
      </p:sp>
    </p:spTree>
    <p:extLst>
      <p:ext uri="{BB962C8B-B14F-4D97-AF65-F5344CB8AC3E}">
        <p14:creationId xmlns:p14="http://schemas.microsoft.com/office/powerpoint/2010/main" val="3664697394"/>
      </p:ext>
    </p:extLst>
  </p:cSld>
  <p:clrMapOvr>
    <a:masterClrMapping/>
  </p:clrMapOvr>
  <p:transition spd="med">
    <p:fade/>
  </p:transition>
  <p:timing>
    <p:tnLst>
      <p:par>
        <p:cTn id="1" dur="indef"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PHÂN TÍCH HỆ THỐNG</a:t>
            </a:r>
          </a:p>
        </p:txBody>
      </p:sp>
      <p:sp>
        <p:nvSpPr>
          <p:cNvPr id="3" name="TextBox 2"/>
          <p:cNvSpPr txBox="1"/>
          <p:nvPr/>
        </p:nvSpPr>
        <p:spPr>
          <a:xfrm>
            <a:off x="843913" y="2691715"/>
            <a:ext cx="10682935" cy="399918"/>
          </a:xfrm>
          <a:prstGeom prst="rect">
            <a:avLst/>
          </a:prstGeom>
          <a:noFill/>
        </p:spPr>
        <p:txBody>
          <a:bodyPr wrap="square" lIns="18288" tIns="18288" rIns="18288" bIns="18288" anchor="ctr">
            <a:spAutoFit/>
          </a:bodyPr>
          <a:lstStyle/>
          <a:p>
            <a:pPr algn="l">
              <a:lnSpc>
                <a:spcPct val="105000"/>
              </a:lnSpc>
              <a:spcBef>
                <a:spcPts val="0"/>
              </a:spcBef>
              <a:spcAft>
                <a:spcPts val="0"/>
              </a:spcAft>
            </a:pPr>
            <a:r>
              <a:rPr sz="2400" b="1" dirty="0" err="1">
                <a:solidFill>
                  <a:srgbClr val="000000"/>
                </a:solidFill>
                <a:latin typeface="Times New Roman"/>
              </a:rPr>
              <a:t>Nhóm</a:t>
            </a:r>
            <a:r>
              <a:rPr sz="2400" b="1" dirty="0">
                <a:solidFill>
                  <a:srgbClr val="000000"/>
                </a:solidFill>
                <a:latin typeface="Times New Roman"/>
              </a:rPr>
              <a:t> </a:t>
            </a:r>
            <a:r>
              <a:rPr sz="2400" b="1" dirty="0" err="1">
                <a:solidFill>
                  <a:srgbClr val="000000"/>
                </a:solidFill>
                <a:latin typeface="Times New Roman"/>
              </a:rPr>
              <a:t>chức</a:t>
            </a:r>
            <a:r>
              <a:rPr sz="2400" b="1" dirty="0">
                <a:solidFill>
                  <a:srgbClr val="000000"/>
                </a:solidFill>
                <a:latin typeface="Times New Roman"/>
              </a:rPr>
              <a:t> </a:t>
            </a:r>
            <a:r>
              <a:rPr sz="2400" b="1" dirty="0" err="1">
                <a:solidFill>
                  <a:srgbClr val="000000"/>
                </a:solidFill>
                <a:latin typeface="Times New Roman"/>
              </a:rPr>
              <a:t>năng</a:t>
            </a:r>
            <a:r>
              <a:rPr sz="2400" b="1" dirty="0">
                <a:solidFill>
                  <a:srgbClr val="000000"/>
                </a:solidFill>
                <a:latin typeface="Times New Roman"/>
              </a:rPr>
              <a:t> </a:t>
            </a:r>
            <a:r>
              <a:rPr sz="2400" b="1" dirty="0" err="1">
                <a:solidFill>
                  <a:srgbClr val="000000"/>
                </a:solidFill>
                <a:latin typeface="Times New Roman"/>
              </a:rPr>
              <a:t>chính</a:t>
            </a:r>
            <a:endParaRPr sz="2400" b="1" dirty="0">
              <a:solidFill>
                <a:srgbClr val="000000"/>
              </a:solidFill>
              <a:latin typeface="Times New Roman"/>
            </a:endParaRPr>
          </a:p>
        </p:txBody>
      </p:sp>
      <p:sp>
        <p:nvSpPr>
          <p:cNvPr id="6" name="anim-appear-10-line-1"/>
          <p:cNvSpPr txBox="1"/>
          <p:nvPr/>
        </p:nvSpPr>
        <p:spPr>
          <a:xfrm>
            <a:off x="843913" y="3233547"/>
            <a:ext cx="5135727" cy="2339936"/>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1">
                <a:latin typeface="Times New Roman"/>
              </a:rPr>
              <a:t>Lối chơi</a:t>
            </a:r>
          </a:p>
          <a:p>
            <a:pPr algn="l">
              <a:lnSpc>
                <a:spcPct val="105000"/>
              </a:lnSpc>
              <a:spcBef>
                <a:spcPts val="0"/>
              </a:spcBef>
              <a:spcAft>
                <a:spcPts val="1000"/>
              </a:spcAft>
            </a:pPr>
            <a:r>
              <a:rPr sz="2000" b="0" dirty="0">
                <a:latin typeface="Times New Roman"/>
              </a:rPr>
              <a:t>- Định </a:t>
            </a:r>
            <a:r>
              <a:rPr sz="2000" b="0" dirty="0" err="1">
                <a:latin typeface="Times New Roman"/>
              </a:rPr>
              <a:t>danh</a:t>
            </a:r>
            <a:r>
              <a:rPr sz="2000" b="0" dirty="0">
                <a:latin typeface="Times New Roman"/>
              </a:rPr>
              <a:t> </a:t>
            </a:r>
            <a:r>
              <a:rPr sz="2000" b="0" dirty="0" err="1">
                <a:latin typeface="Times New Roman"/>
              </a:rPr>
              <a:t>người</a:t>
            </a:r>
            <a:r>
              <a:rPr sz="2000" b="0" dirty="0">
                <a:latin typeface="Times New Roman"/>
              </a:rPr>
              <a:t> </a:t>
            </a:r>
            <a:r>
              <a:rPr sz="2000" b="0" dirty="0" err="1">
                <a:latin typeface="Times New Roman"/>
              </a:rPr>
              <a:t>chơi</a:t>
            </a:r>
            <a:r>
              <a:rPr sz="2000" b="0" dirty="0">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Điều</a:t>
            </a:r>
            <a:r>
              <a:rPr sz="2000" dirty="0">
                <a:solidFill>
                  <a:srgbClr val="000000"/>
                </a:solidFill>
                <a:latin typeface="Times New Roman"/>
              </a:rPr>
              <a:t> </a:t>
            </a:r>
            <a:r>
              <a:rPr sz="2000" dirty="0" err="1">
                <a:solidFill>
                  <a:srgbClr val="000000"/>
                </a:solidFill>
                <a:latin typeface="Times New Roman"/>
              </a:rPr>
              <a:t>khiển</a:t>
            </a:r>
            <a:r>
              <a:rPr sz="2000" dirty="0">
                <a:solidFill>
                  <a:srgbClr val="000000"/>
                </a:solidFill>
                <a:latin typeface="Times New Roman"/>
              </a:rPr>
              <a:t> </a:t>
            </a:r>
            <a:r>
              <a:rPr sz="2000" dirty="0" err="1">
                <a:solidFill>
                  <a:srgbClr val="000000"/>
                </a:solidFill>
                <a:latin typeface="Times New Roman"/>
              </a:rPr>
              <a:t>nhân</a:t>
            </a:r>
            <a:r>
              <a:rPr sz="2000" dirty="0">
                <a:solidFill>
                  <a:srgbClr val="000000"/>
                </a:solidFill>
                <a:latin typeface="Times New Roman"/>
              </a:rPr>
              <a:t> </a:t>
            </a:r>
            <a:r>
              <a:rPr sz="2000" dirty="0" err="1">
                <a:solidFill>
                  <a:srgbClr val="000000"/>
                </a:solidFill>
                <a:latin typeface="Times New Roman"/>
              </a:rPr>
              <a:t>vật</a:t>
            </a:r>
            <a:r>
              <a:rPr sz="2000" dirty="0">
                <a:solidFill>
                  <a:srgbClr val="000000"/>
                </a:solidFill>
                <a:latin typeface="Times New Roman"/>
              </a:rPr>
              <a:t>, </a:t>
            </a:r>
            <a:r>
              <a:rPr lang="en-US" sz="2000" dirty="0" err="1">
                <a:solidFill>
                  <a:srgbClr val="000000"/>
                </a:solidFill>
                <a:latin typeface="Times New Roman"/>
              </a:rPr>
              <a:t>tấn</a:t>
            </a:r>
            <a:r>
              <a:rPr lang="en-US" sz="2000" dirty="0">
                <a:solidFill>
                  <a:srgbClr val="000000"/>
                </a:solidFill>
                <a:latin typeface="Times New Roman"/>
              </a:rPr>
              <a:t> </a:t>
            </a:r>
            <a:r>
              <a:rPr lang="en-US" sz="2000" dirty="0" err="1">
                <a:solidFill>
                  <a:srgbClr val="000000"/>
                </a:solidFill>
                <a:latin typeface="Times New Roman"/>
              </a:rPr>
              <a:t>công</a:t>
            </a:r>
            <a:r>
              <a:rPr sz="2000" dirty="0">
                <a:solidFill>
                  <a:srgbClr val="000000"/>
                </a:solidFill>
                <a:latin typeface="Times New Roman"/>
              </a:rPr>
              <a:t> </a:t>
            </a:r>
            <a:r>
              <a:rPr lang="en-US" sz="2000" dirty="0" err="1">
                <a:solidFill>
                  <a:srgbClr val="000000"/>
                </a:solidFill>
                <a:latin typeface="Times New Roman"/>
              </a:rPr>
              <a:t>kẻ</a:t>
            </a:r>
            <a:r>
              <a:rPr lang="en-US" sz="2000" dirty="0">
                <a:solidFill>
                  <a:srgbClr val="000000"/>
                </a:solidFill>
                <a:latin typeface="Times New Roman"/>
              </a:rPr>
              <a:t> </a:t>
            </a:r>
            <a:r>
              <a:rPr lang="en-US" sz="2000" dirty="0" err="1">
                <a:solidFill>
                  <a:srgbClr val="000000"/>
                </a:solidFill>
                <a:latin typeface="Times New Roman"/>
              </a:rPr>
              <a:t>thù</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vượt</a:t>
            </a:r>
            <a:r>
              <a:rPr sz="2000" dirty="0">
                <a:solidFill>
                  <a:srgbClr val="000000"/>
                </a:solidFill>
                <a:latin typeface="Times New Roman"/>
              </a:rPr>
              <a:t> qua </a:t>
            </a:r>
            <a:r>
              <a:rPr sz="2000" dirty="0" err="1">
                <a:solidFill>
                  <a:srgbClr val="000000"/>
                </a:solidFill>
                <a:latin typeface="Times New Roman"/>
              </a:rPr>
              <a:t>các</a:t>
            </a:r>
            <a:r>
              <a:rPr sz="2000" dirty="0">
                <a:solidFill>
                  <a:srgbClr val="000000"/>
                </a:solidFill>
                <a:latin typeface="Times New Roman"/>
              </a:rPr>
              <a:t> </a:t>
            </a:r>
            <a:r>
              <a:rPr lang="en-US" sz="2000" dirty="0" err="1">
                <a:solidFill>
                  <a:srgbClr val="000000"/>
                </a:solidFill>
                <a:latin typeface="Times New Roman"/>
              </a:rPr>
              <a:t>đợt</a:t>
            </a:r>
            <a:r>
              <a:rPr lang="en-US" sz="2000" dirty="0">
                <a:solidFill>
                  <a:srgbClr val="000000"/>
                </a:solidFill>
                <a:latin typeface="Times New Roman"/>
              </a:rPr>
              <a:t> </a:t>
            </a:r>
            <a:r>
              <a:rPr lang="en-US" sz="2000" dirty="0" err="1">
                <a:solidFill>
                  <a:srgbClr val="000000"/>
                </a:solidFill>
                <a:latin typeface="Times New Roman"/>
              </a:rPr>
              <a:t>quái</a:t>
            </a:r>
            <a:r>
              <a:rPr sz="2000" dirty="0">
                <a:solidFill>
                  <a:srgbClr val="000000"/>
                </a:solidFill>
                <a:latin typeface="Times New Roman"/>
              </a:rPr>
              <a:t>.</a:t>
            </a:r>
          </a:p>
          <a:p>
            <a:pPr algn="l">
              <a:lnSpc>
                <a:spcPct val="105000"/>
              </a:lnSpc>
              <a:spcBef>
                <a:spcPts val="0"/>
              </a:spcBef>
              <a:spcAft>
                <a:spcPts val="1000"/>
              </a:spcAft>
            </a:pPr>
            <a:r>
              <a:rPr sz="2000" b="0">
                <a:latin typeface="Times New Roman"/>
              </a:rPr>
              <a:t>- Nhận kinh nghiệm, lên cấp, chọn nâng cấp và đổi bản đồ theo tiến trình.</a:t>
            </a:r>
          </a:p>
        </p:txBody>
      </p:sp>
      <p:sp>
        <p:nvSpPr>
          <p:cNvPr id="9" name="anim-appear-40-line-1"/>
          <p:cNvSpPr txBox="1"/>
          <p:nvPr/>
        </p:nvSpPr>
        <p:spPr>
          <a:xfrm>
            <a:off x="6391121" y="3233547"/>
            <a:ext cx="5135727" cy="2339936"/>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1" dirty="0">
                <a:solidFill>
                  <a:srgbClr val="000000"/>
                </a:solidFill>
                <a:latin typeface="Times New Roman"/>
              </a:rPr>
              <a:t>Giao </a:t>
            </a:r>
            <a:r>
              <a:rPr sz="2000" b="1" dirty="0" err="1">
                <a:solidFill>
                  <a:srgbClr val="000000"/>
                </a:solidFill>
                <a:latin typeface="Times New Roman"/>
              </a:rPr>
              <a:t>diện</a:t>
            </a:r>
            <a:r>
              <a:rPr sz="2000" b="1" dirty="0">
                <a:solidFill>
                  <a:srgbClr val="000000"/>
                </a:solidFill>
                <a:latin typeface="Times New Roman"/>
              </a:rPr>
              <a:t> </a:t>
            </a:r>
            <a:r>
              <a:rPr sz="2000" b="1" dirty="0" err="1">
                <a:solidFill>
                  <a:srgbClr val="000000"/>
                </a:solidFill>
                <a:latin typeface="Times New Roman"/>
              </a:rPr>
              <a:t>và</a:t>
            </a:r>
            <a:r>
              <a:rPr sz="2000" b="1" dirty="0">
                <a:solidFill>
                  <a:srgbClr val="000000"/>
                </a:solidFill>
                <a:latin typeface="Times New Roman"/>
              </a:rPr>
              <a:t> </a:t>
            </a:r>
            <a:r>
              <a:rPr sz="2000" b="1" dirty="0" err="1">
                <a:solidFill>
                  <a:srgbClr val="000000"/>
                </a:solidFill>
                <a:latin typeface="Times New Roman"/>
              </a:rPr>
              <a:t>hệ</a:t>
            </a:r>
            <a:r>
              <a:rPr sz="2000" b="1" dirty="0">
                <a:solidFill>
                  <a:srgbClr val="000000"/>
                </a:solidFill>
                <a:latin typeface="Times New Roman"/>
              </a:rPr>
              <a:t> </a:t>
            </a:r>
            <a:r>
              <a:rPr sz="2000" b="1" dirty="0" err="1">
                <a:solidFill>
                  <a:srgbClr val="000000"/>
                </a:solidFill>
                <a:latin typeface="Times New Roman"/>
              </a:rPr>
              <a:t>thống</a:t>
            </a:r>
            <a:r>
              <a:rPr sz="2000" b="1" dirty="0">
                <a:solidFill>
                  <a:srgbClr val="000000"/>
                </a:solidFill>
                <a:latin typeface="Times New Roman"/>
              </a:rPr>
              <a:t> </a:t>
            </a:r>
            <a:r>
              <a:rPr sz="2000" b="1" dirty="0" err="1">
                <a:solidFill>
                  <a:srgbClr val="000000"/>
                </a:solidFill>
                <a:latin typeface="Times New Roman"/>
              </a:rPr>
              <a:t>hỗ</a:t>
            </a:r>
            <a:r>
              <a:rPr sz="2000" b="1" dirty="0">
                <a:solidFill>
                  <a:srgbClr val="000000"/>
                </a:solidFill>
                <a:latin typeface="Times New Roman"/>
              </a:rPr>
              <a:t> </a:t>
            </a:r>
            <a:r>
              <a:rPr sz="2000" b="1" dirty="0" err="1">
                <a:solidFill>
                  <a:srgbClr val="000000"/>
                </a:solidFill>
                <a:latin typeface="Times New Roman"/>
              </a:rPr>
              <a:t>trợ</a:t>
            </a:r>
            <a:endParaRPr lang="en-US" sz="2000" b="1" dirty="0">
              <a:solidFill>
                <a:srgbClr val="000000"/>
              </a:solidFill>
              <a:latin typeface="Times New Roman"/>
            </a:endParaRPr>
          </a:p>
          <a:p>
            <a:pPr>
              <a:lnSpc>
                <a:spcPct val="105000"/>
              </a:lnSpc>
              <a:spcBef>
                <a:spcPts val="0"/>
              </a:spcBef>
              <a:spcAft>
                <a:spcPts val="1000"/>
              </a:spcAft>
            </a:pPr>
            <a:r>
              <a:rPr sz="2000" b="0">
                <a:latin typeface="Times New Roman"/>
              </a:rPr>
              <a:t>- Hiển thị giao diện thông tin trong trận, menu tạm dừng, cài đặt và màn hình chờ hỗ trợ trong trận.</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Nhập</a:t>
            </a:r>
            <a:r>
              <a:rPr sz="2000" dirty="0">
                <a:solidFill>
                  <a:srgbClr val="000000"/>
                </a:solidFill>
                <a:latin typeface="Times New Roman"/>
              </a:rPr>
              <a:t> </a:t>
            </a:r>
            <a:r>
              <a:rPr sz="2000" dirty="0" err="1">
                <a:solidFill>
                  <a:srgbClr val="000000"/>
                </a:solidFill>
                <a:latin typeface="Times New Roman"/>
              </a:rPr>
              <a:t>tên</a:t>
            </a:r>
            <a:r>
              <a:rPr sz="2000" dirty="0">
                <a:solidFill>
                  <a:srgbClr val="000000"/>
                </a:solidFill>
                <a:latin typeface="Times New Roman"/>
              </a:rPr>
              <a:t> </a:t>
            </a:r>
            <a:r>
              <a:rPr sz="2000" dirty="0" err="1">
                <a:solidFill>
                  <a:srgbClr val="000000"/>
                </a:solidFill>
                <a:latin typeface="Times New Roman"/>
              </a:rPr>
              <a:t>người</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hiển</a:t>
            </a:r>
            <a:r>
              <a:rPr sz="2000" dirty="0">
                <a:solidFill>
                  <a:srgbClr val="000000"/>
                </a:solidFill>
                <a:latin typeface="Times New Roman"/>
              </a:rPr>
              <a:t> </a:t>
            </a:r>
            <a:r>
              <a:rPr sz="2000" dirty="0" err="1">
                <a:solidFill>
                  <a:srgbClr val="000000"/>
                </a:solidFill>
                <a:latin typeface="Times New Roman"/>
              </a:rPr>
              <a:t>thị</a:t>
            </a:r>
            <a:r>
              <a:rPr sz="2000" dirty="0">
                <a:solidFill>
                  <a:srgbClr val="000000"/>
                </a:solidFill>
                <a:latin typeface="Times New Roman"/>
              </a:rPr>
              <a:t> </a:t>
            </a:r>
            <a:r>
              <a:rPr sz="2000" dirty="0" err="1">
                <a:solidFill>
                  <a:srgbClr val="000000"/>
                </a:solidFill>
                <a:latin typeface="Times New Roman"/>
              </a:rPr>
              <a:t>bảng</a:t>
            </a:r>
            <a:r>
              <a:rPr sz="2000" dirty="0">
                <a:solidFill>
                  <a:srgbClr val="000000"/>
                </a:solidFill>
                <a:latin typeface="Times New Roman"/>
              </a:rPr>
              <a:t> </a:t>
            </a:r>
            <a:r>
              <a:rPr sz="2000" dirty="0" err="1">
                <a:solidFill>
                  <a:srgbClr val="000000"/>
                </a:solidFill>
                <a:latin typeface="Times New Roman"/>
              </a:rPr>
              <a:t>xếp</a:t>
            </a:r>
            <a:r>
              <a:rPr sz="2000" dirty="0">
                <a:solidFill>
                  <a:srgbClr val="000000"/>
                </a:solidFill>
                <a:latin typeface="Times New Roman"/>
              </a:rPr>
              <a:t> </a:t>
            </a:r>
            <a:r>
              <a:rPr sz="2000" dirty="0" err="1">
                <a:solidFill>
                  <a:srgbClr val="000000"/>
                </a:solidFill>
                <a:latin typeface="Times New Roman"/>
              </a:rPr>
              <a:t>hạng</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Kết</a:t>
            </a:r>
            <a:r>
              <a:rPr sz="2000" dirty="0">
                <a:solidFill>
                  <a:srgbClr val="000000"/>
                </a:solidFill>
                <a:latin typeface="Times New Roman"/>
              </a:rPr>
              <a:t> </a:t>
            </a:r>
            <a:r>
              <a:rPr sz="2000" dirty="0" err="1">
                <a:solidFill>
                  <a:srgbClr val="000000"/>
                </a:solidFill>
                <a:latin typeface="Times New Roman"/>
              </a:rPr>
              <a:t>nối</a:t>
            </a:r>
            <a:r>
              <a:rPr sz="2000" dirty="0">
                <a:solidFill>
                  <a:srgbClr val="000000"/>
                </a:solidFill>
                <a:latin typeface="Times New Roman"/>
              </a:rPr>
              <a:t> </a:t>
            </a:r>
            <a:r>
              <a:rPr sz="2000" dirty="0" err="1">
                <a:solidFill>
                  <a:srgbClr val="000000"/>
                </a:solidFill>
                <a:latin typeface="Times New Roman"/>
              </a:rPr>
              <a:t>các</a:t>
            </a:r>
            <a:r>
              <a:rPr sz="2000" dirty="0">
                <a:solidFill>
                  <a:srgbClr val="000000"/>
                </a:solidFill>
                <a:latin typeface="Times New Roman"/>
              </a:rPr>
              <a:t> </a:t>
            </a:r>
            <a:r>
              <a:rPr sz="2000" dirty="0" err="1">
                <a:solidFill>
                  <a:srgbClr val="000000"/>
                </a:solidFill>
                <a:latin typeface="Times New Roman"/>
              </a:rPr>
              <a:t>chức</a:t>
            </a:r>
            <a:r>
              <a:rPr sz="2000" dirty="0">
                <a:solidFill>
                  <a:srgbClr val="000000"/>
                </a:solidFill>
                <a:latin typeface="Times New Roman"/>
              </a:rPr>
              <a:t> </a:t>
            </a:r>
            <a:r>
              <a:rPr sz="2000" dirty="0" err="1">
                <a:solidFill>
                  <a:srgbClr val="000000"/>
                </a:solidFill>
                <a:latin typeface="Times New Roman"/>
              </a:rPr>
              <a:t>năng</a:t>
            </a:r>
            <a:r>
              <a:rPr sz="2000" dirty="0">
                <a:solidFill>
                  <a:srgbClr val="000000"/>
                </a:solidFill>
                <a:latin typeface="Times New Roman"/>
              </a:rPr>
              <a:t> </a:t>
            </a:r>
            <a:r>
              <a:rPr sz="2000" dirty="0" err="1">
                <a:solidFill>
                  <a:srgbClr val="000000"/>
                </a:solidFill>
                <a:latin typeface="Times New Roman"/>
              </a:rPr>
              <a:t>thành</a:t>
            </a:r>
            <a:r>
              <a:rPr sz="2000" dirty="0">
                <a:solidFill>
                  <a:srgbClr val="000000"/>
                </a:solidFill>
                <a:latin typeface="Times New Roman"/>
              </a:rPr>
              <a:t> </a:t>
            </a:r>
            <a:r>
              <a:rPr sz="2000" dirty="0" err="1">
                <a:solidFill>
                  <a:srgbClr val="000000"/>
                </a:solidFill>
                <a:latin typeface="Times New Roman"/>
              </a:rPr>
              <a:t>một</a:t>
            </a:r>
            <a:r>
              <a:rPr sz="2000" dirty="0">
                <a:solidFill>
                  <a:srgbClr val="000000"/>
                </a:solidFill>
                <a:latin typeface="Times New Roman"/>
              </a:rPr>
              <a:t> </a:t>
            </a:r>
            <a:r>
              <a:rPr sz="2000" dirty="0" err="1">
                <a:solidFill>
                  <a:srgbClr val="000000"/>
                </a:solidFill>
                <a:latin typeface="Times New Roman"/>
              </a:rPr>
              <a:t>vòng</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hoàn</a:t>
            </a:r>
            <a:r>
              <a:rPr sz="2000" dirty="0">
                <a:solidFill>
                  <a:srgbClr val="000000"/>
                </a:solidFill>
                <a:latin typeface="Times New Roman"/>
              </a:rPr>
              <a:t> </a:t>
            </a:r>
            <a:r>
              <a:rPr sz="2000" dirty="0" err="1">
                <a:solidFill>
                  <a:srgbClr val="000000"/>
                </a:solidFill>
                <a:latin typeface="Times New Roman"/>
              </a:rPr>
              <a:t>chỉnh</a:t>
            </a:r>
            <a:r>
              <a:rPr sz="2000" dirty="0">
                <a:solidFill>
                  <a:srgbClr val="000000"/>
                </a:solidFill>
                <a:latin typeface="Times New Roman"/>
              </a:rPr>
              <a:t>.</a:t>
            </a:r>
          </a:p>
        </p:txBody>
      </p:sp>
    </p:spTree>
    <p:extLst>
      <p:ext uri="{BB962C8B-B14F-4D97-AF65-F5344CB8AC3E}">
        <p14:creationId xmlns:p14="http://schemas.microsoft.com/office/powerpoint/2010/main" val="50848771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grpId="0" nodeType="afterEffect">
                                  <p:stCondLst>
                                    <p:cond delay="200"/>
                                  </p:stCondLst>
                                  <p:childTnLst>
                                    <p:set>
                                      <p:cBhvr>
                                        <p:cTn id="9" dur="1" fill="hold">
                                          <p:stCondLst>
                                            <p:cond delay="499"/>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P spid="9" grpId="0"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a:solidFill>
                  <a:srgbClr val="1F4E79"/>
                </a:solidFill>
                <a:latin typeface="Times New Roman"/>
              </a:rPr>
              <a:t>PHÂN TÍCH HỆ THỐNG</a:t>
            </a:r>
          </a:p>
        </p:txBody>
      </p:sp>
      <p:sp>
        <p:nvSpPr>
          <p:cNvPr id="3" name="TextBox 2"/>
          <p:cNvSpPr txBox="1"/>
          <p:nvPr/>
        </p:nvSpPr>
        <p:spPr>
          <a:xfrm>
            <a:off x="754532" y="2641158"/>
            <a:ext cx="10682935" cy="399918"/>
          </a:xfrm>
          <a:prstGeom prst="rect">
            <a:avLst/>
          </a:prstGeom>
          <a:noFill/>
        </p:spPr>
        <p:txBody>
          <a:bodyPr wrap="square" lIns="18288" tIns="18288" rIns="18288" bIns="18288" anchor="ctr">
            <a:spAutoFit/>
          </a:bodyPr>
          <a:lstStyle/>
          <a:p>
            <a:pPr algn="l">
              <a:lnSpc>
                <a:spcPct val="105000"/>
              </a:lnSpc>
              <a:spcBef>
                <a:spcPts val="0"/>
              </a:spcBef>
              <a:spcAft>
                <a:spcPts val="1000"/>
              </a:spcAft>
            </a:pPr>
            <a:r>
              <a:rPr sz="2400" b="1" dirty="0" err="1">
                <a:latin typeface="Times New Roman"/>
              </a:rPr>
              <a:t>Tổ</a:t>
            </a:r>
            <a:r>
              <a:rPr sz="2400" b="1" dirty="0">
                <a:latin typeface="Times New Roman"/>
              </a:rPr>
              <a:t> </a:t>
            </a:r>
            <a:r>
              <a:rPr sz="2400" b="1" dirty="0" err="1">
                <a:latin typeface="Times New Roman"/>
              </a:rPr>
              <a:t>chức</a:t>
            </a:r>
            <a:r>
              <a:rPr sz="2400" b="1" dirty="0">
                <a:latin typeface="Times New Roman"/>
              </a:rPr>
              <a:t> </a:t>
            </a:r>
            <a:r>
              <a:rPr sz="2400" b="1" dirty="0" err="1">
                <a:latin typeface="Times New Roman"/>
              </a:rPr>
              <a:t>mã</a:t>
            </a:r>
            <a:r>
              <a:rPr sz="2400" b="1" dirty="0">
                <a:latin typeface="Times New Roman"/>
              </a:rPr>
              <a:t> </a:t>
            </a:r>
            <a:r>
              <a:rPr sz="2400" b="1" dirty="0" err="1">
                <a:latin typeface="Times New Roman"/>
              </a:rPr>
              <a:t>nguồn</a:t>
            </a:r>
            <a:r>
              <a:rPr sz="2400" b="1" dirty="0">
                <a:latin typeface="Times New Roman"/>
              </a:rPr>
              <a:t> </a:t>
            </a:r>
            <a:r>
              <a:rPr sz="2400" b="1" dirty="0" err="1">
                <a:latin typeface="Times New Roman"/>
              </a:rPr>
              <a:t>và</a:t>
            </a:r>
            <a:r>
              <a:rPr sz="2400" b="1" dirty="0">
                <a:latin typeface="Times New Roman"/>
              </a:rPr>
              <a:t> </a:t>
            </a:r>
            <a:r>
              <a:rPr sz="2400" b="1" dirty="0" err="1">
                <a:latin typeface="Times New Roman"/>
              </a:rPr>
              <a:t>nhóm</a:t>
            </a:r>
            <a:r>
              <a:rPr sz="2400" b="1" dirty="0">
                <a:latin typeface="Times New Roman"/>
              </a:rPr>
              <a:t> </a:t>
            </a:r>
            <a:r>
              <a:rPr sz="2400" b="1" dirty="0" err="1">
                <a:latin typeface="Times New Roman"/>
              </a:rPr>
              <a:t>chức</a:t>
            </a:r>
            <a:r>
              <a:rPr sz="2400" b="1" dirty="0">
                <a:latin typeface="Times New Roman"/>
              </a:rPr>
              <a:t> </a:t>
            </a:r>
            <a:r>
              <a:rPr sz="2400" b="1" dirty="0" err="1">
                <a:latin typeface="Times New Roman"/>
              </a:rPr>
              <a:t>năng</a:t>
            </a:r>
            <a:endParaRPr sz="2400" b="1" dirty="0">
              <a:latin typeface="Times New Roman"/>
            </a:endParaRPr>
          </a:p>
        </p:txBody>
      </p:sp>
      <p:sp>
        <p:nvSpPr>
          <p:cNvPr id="6" name="anim-appear-10-line-1"/>
          <p:cNvSpPr txBox="1"/>
          <p:nvPr/>
        </p:nvSpPr>
        <p:spPr>
          <a:xfrm>
            <a:off x="754532" y="3262122"/>
            <a:ext cx="5135727" cy="2791342"/>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1">
                <a:latin typeface="Times New Roman"/>
              </a:rPr>
              <a:t>Nhóm lối chơi</a:t>
            </a:r>
            <a:endParaRPr sz="2000" b="1" dirty="0">
              <a:solidFill>
                <a:srgbClr val="000000"/>
              </a:solidFill>
              <a:latin typeface="Times New Roman"/>
            </a:endParaRPr>
          </a:p>
          <a:p>
            <a:pPr algn="l">
              <a:lnSpc>
                <a:spcPct val="105000"/>
              </a:lnSpc>
              <a:spcBef>
                <a:spcPts val="0"/>
              </a:spcBef>
              <a:spcAft>
                <a:spcPts val="1000"/>
              </a:spcAft>
            </a:pPr>
            <a:r>
              <a:rPr sz="2000" b="0" dirty="0">
                <a:solidFill>
                  <a:srgbClr val="000000"/>
                </a:solidFill>
                <a:latin typeface="Times New Roman"/>
              </a:rPr>
              <a:t>- </a:t>
            </a:r>
            <a:r>
              <a:rPr sz="2000" b="0" dirty="0" err="1">
                <a:solidFill>
                  <a:srgbClr val="000000"/>
                </a:solidFill>
                <a:latin typeface="Times New Roman"/>
              </a:rPr>
              <a:t>Xử</a:t>
            </a:r>
            <a:r>
              <a:rPr sz="2000" b="0" dirty="0">
                <a:solidFill>
                  <a:srgbClr val="000000"/>
                </a:solidFill>
                <a:latin typeface="Times New Roman"/>
              </a:rPr>
              <a:t> </a:t>
            </a:r>
            <a:r>
              <a:rPr sz="2000" b="0" dirty="0" err="1">
                <a:solidFill>
                  <a:srgbClr val="000000"/>
                </a:solidFill>
                <a:latin typeface="Times New Roman"/>
              </a:rPr>
              <a:t>lý</a:t>
            </a:r>
            <a:r>
              <a:rPr sz="2000" b="0" dirty="0">
                <a:solidFill>
                  <a:srgbClr val="000000"/>
                </a:solidFill>
                <a:latin typeface="Times New Roman"/>
              </a:rPr>
              <a:t> </a:t>
            </a:r>
            <a:r>
              <a:rPr sz="2000" b="0" dirty="0" err="1">
                <a:solidFill>
                  <a:srgbClr val="000000"/>
                </a:solidFill>
                <a:latin typeface="Times New Roman"/>
              </a:rPr>
              <a:t>điều</a:t>
            </a:r>
            <a:r>
              <a:rPr sz="2000" b="0" dirty="0">
                <a:solidFill>
                  <a:srgbClr val="000000"/>
                </a:solidFill>
                <a:latin typeface="Times New Roman"/>
              </a:rPr>
              <a:t> </a:t>
            </a:r>
            <a:r>
              <a:rPr sz="2000" b="0" dirty="0" err="1">
                <a:solidFill>
                  <a:srgbClr val="000000"/>
                </a:solidFill>
                <a:latin typeface="Times New Roman"/>
              </a:rPr>
              <a:t>khiển</a:t>
            </a:r>
            <a:r>
              <a:rPr sz="2000" b="0" dirty="0">
                <a:solidFill>
                  <a:srgbClr val="000000"/>
                </a:solidFill>
                <a:latin typeface="Times New Roman"/>
              </a:rPr>
              <a:t> </a:t>
            </a:r>
            <a:r>
              <a:rPr sz="2000" b="0" dirty="0" err="1">
                <a:solidFill>
                  <a:srgbClr val="000000"/>
                </a:solidFill>
                <a:latin typeface="Times New Roman"/>
              </a:rPr>
              <a:t>nhân</a:t>
            </a:r>
            <a:r>
              <a:rPr sz="2000" b="0" dirty="0">
                <a:solidFill>
                  <a:srgbClr val="000000"/>
                </a:solidFill>
                <a:latin typeface="Times New Roman"/>
              </a:rPr>
              <a:t> </a:t>
            </a:r>
            <a:r>
              <a:rPr sz="2000" b="0" dirty="0" err="1">
                <a:solidFill>
                  <a:srgbClr val="000000"/>
                </a:solidFill>
                <a:latin typeface="Times New Roman"/>
              </a:rPr>
              <a:t>vật</a:t>
            </a:r>
            <a:r>
              <a:rPr sz="2000" b="0" dirty="0">
                <a:solidFill>
                  <a:srgbClr val="000000"/>
                </a:solidFill>
                <a:latin typeface="Times New Roman"/>
              </a:rPr>
              <a:t> </a:t>
            </a:r>
            <a:r>
              <a:rPr sz="2000" b="0" dirty="0" err="1">
                <a:solidFill>
                  <a:srgbClr val="000000"/>
                </a:solidFill>
                <a:latin typeface="Times New Roman"/>
              </a:rPr>
              <a:t>và</a:t>
            </a:r>
            <a:r>
              <a:rPr sz="2000" b="0" dirty="0">
                <a:solidFill>
                  <a:srgbClr val="000000"/>
                </a:solidFill>
                <a:latin typeface="Times New Roman"/>
              </a:rPr>
              <a:t> </a:t>
            </a:r>
            <a:r>
              <a:rPr sz="2000" b="0" dirty="0" err="1">
                <a:solidFill>
                  <a:srgbClr val="000000"/>
                </a:solidFill>
                <a:latin typeface="Times New Roman"/>
              </a:rPr>
              <a:t>chiến</a:t>
            </a:r>
            <a:r>
              <a:rPr sz="2000" b="0" dirty="0">
                <a:solidFill>
                  <a:srgbClr val="000000"/>
                </a:solidFill>
                <a:latin typeface="Times New Roman"/>
              </a:rPr>
              <a:t> </a:t>
            </a:r>
            <a:r>
              <a:rPr sz="2000" b="0" dirty="0" err="1">
                <a:solidFill>
                  <a:srgbClr val="000000"/>
                </a:solidFill>
                <a:latin typeface="Times New Roman"/>
              </a:rPr>
              <a:t>đấu</a:t>
            </a:r>
            <a:r>
              <a:rPr sz="2000" b="0" dirty="0">
                <a:solidFill>
                  <a:srgbClr val="000000"/>
                </a:solidFill>
                <a:latin typeface="Times New Roman"/>
              </a:rPr>
              <a:t>.</a:t>
            </a:r>
          </a:p>
          <a:p>
            <a:pPr algn="l">
              <a:lnSpc>
                <a:spcPct val="105000"/>
              </a:lnSpc>
              <a:spcBef>
                <a:spcPts val="0"/>
              </a:spcBef>
              <a:spcAft>
                <a:spcPts val="1000"/>
              </a:spcAft>
            </a:pPr>
            <a:r>
              <a:rPr sz="2000" b="0" dirty="0">
                <a:latin typeface="Times New Roman"/>
              </a:rPr>
              <a:t>- Quản </a:t>
            </a:r>
            <a:r>
              <a:rPr sz="2000" b="0" dirty="0" err="1">
                <a:latin typeface="Times New Roman"/>
              </a:rPr>
              <a:t>lý</a:t>
            </a:r>
            <a:r>
              <a:rPr sz="2000" b="0" dirty="0">
                <a:latin typeface="Times New Roman"/>
              </a:rPr>
              <a:t> </a:t>
            </a:r>
            <a:r>
              <a:rPr sz="2000" b="0" dirty="0" err="1">
                <a:latin typeface="Times New Roman"/>
              </a:rPr>
              <a:t>quái</a:t>
            </a:r>
            <a:r>
              <a:rPr lang="en-US" sz="2000" dirty="0">
                <a:latin typeface="Times New Roman"/>
              </a:rPr>
              <a:t> </a:t>
            </a:r>
            <a:r>
              <a:rPr sz="2000" b="0" dirty="0" err="1">
                <a:latin typeface="Times New Roman"/>
              </a:rPr>
              <a:t>và</a:t>
            </a:r>
            <a:r>
              <a:rPr sz="2000" b="0" dirty="0">
                <a:latin typeface="Times New Roman"/>
              </a:rPr>
              <a:t> đợt quái.</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Tổ</a:t>
            </a:r>
            <a:r>
              <a:rPr sz="2000" dirty="0">
                <a:solidFill>
                  <a:srgbClr val="000000"/>
                </a:solidFill>
                <a:latin typeface="Times New Roman"/>
              </a:rPr>
              <a:t> </a:t>
            </a:r>
            <a:r>
              <a:rPr sz="2000" dirty="0" err="1">
                <a:solidFill>
                  <a:srgbClr val="000000"/>
                </a:solidFill>
                <a:latin typeface="Times New Roman"/>
              </a:rPr>
              <a:t>chức</a:t>
            </a:r>
            <a:r>
              <a:rPr sz="2000" dirty="0">
                <a:solidFill>
                  <a:srgbClr val="000000"/>
                </a:solidFill>
                <a:latin typeface="Times New Roman"/>
              </a:rPr>
              <a:t> </a:t>
            </a:r>
            <a:r>
              <a:rPr sz="2000" dirty="0" err="1">
                <a:solidFill>
                  <a:srgbClr val="000000"/>
                </a:solidFill>
                <a:latin typeface="Times New Roman"/>
              </a:rPr>
              <a:t>dữ</a:t>
            </a:r>
            <a:r>
              <a:rPr sz="2000" dirty="0">
                <a:solidFill>
                  <a:srgbClr val="000000"/>
                </a:solidFill>
                <a:latin typeface="Times New Roman"/>
              </a:rPr>
              <a:t> </a:t>
            </a:r>
            <a:r>
              <a:rPr sz="2000" dirty="0" err="1">
                <a:solidFill>
                  <a:srgbClr val="000000"/>
                </a:solidFill>
                <a:latin typeface="Times New Roman"/>
              </a:rPr>
              <a:t>liệu</a:t>
            </a:r>
            <a:r>
              <a:rPr sz="2000" dirty="0">
                <a:solidFill>
                  <a:srgbClr val="000000"/>
                </a:solidFill>
                <a:latin typeface="Times New Roman"/>
              </a:rPr>
              <a:t> </a:t>
            </a:r>
            <a:r>
              <a:rPr sz="2000" dirty="0" err="1">
                <a:solidFill>
                  <a:srgbClr val="000000"/>
                </a:solidFill>
                <a:latin typeface="Times New Roman"/>
              </a:rPr>
              <a:t>để</a:t>
            </a:r>
            <a:r>
              <a:rPr sz="2000" dirty="0">
                <a:solidFill>
                  <a:srgbClr val="000000"/>
                </a:solidFill>
                <a:latin typeface="Times New Roman"/>
              </a:rPr>
              <a:t> </a:t>
            </a:r>
            <a:r>
              <a:rPr sz="2000" dirty="0" err="1">
                <a:solidFill>
                  <a:srgbClr val="000000"/>
                </a:solidFill>
                <a:latin typeface="Times New Roman"/>
              </a:rPr>
              <a:t>dễ</a:t>
            </a:r>
            <a:r>
              <a:rPr sz="2000" dirty="0">
                <a:solidFill>
                  <a:srgbClr val="000000"/>
                </a:solidFill>
                <a:latin typeface="Times New Roman"/>
              </a:rPr>
              <a:t> </a:t>
            </a:r>
            <a:r>
              <a:rPr sz="2000" dirty="0" err="1">
                <a:solidFill>
                  <a:srgbClr val="000000"/>
                </a:solidFill>
                <a:latin typeface="Times New Roman"/>
              </a:rPr>
              <a:t>chỉnh</a:t>
            </a:r>
            <a:r>
              <a:rPr sz="2000" dirty="0">
                <a:solidFill>
                  <a:srgbClr val="000000"/>
                </a:solidFill>
                <a:latin typeface="Times New Roman"/>
              </a:rPr>
              <a:t> </a:t>
            </a:r>
            <a:r>
              <a:rPr sz="2000" dirty="0" err="1">
                <a:solidFill>
                  <a:srgbClr val="000000"/>
                </a:solidFill>
                <a:latin typeface="Times New Roman"/>
              </a:rPr>
              <a:t>sửa</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phát</a:t>
            </a:r>
            <a:r>
              <a:rPr sz="2000" dirty="0">
                <a:solidFill>
                  <a:srgbClr val="000000"/>
                </a:solidFill>
                <a:latin typeface="Times New Roman"/>
              </a:rPr>
              <a:t> </a:t>
            </a:r>
            <a:r>
              <a:rPr sz="2000" dirty="0" err="1">
                <a:solidFill>
                  <a:srgbClr val="000000"/>
                </a:solidFill>
                <a:latin typeface="Times New Roman"/>
              </a:rPr>
              <a:t>triển</a:t>
            </a:r>
            <a:r>
              <a:rPr sz="2000" dirty="0">
                <a:solidFill>
                  <a:srgbClr val="000000"/>
                </a:solidFill>
                <a:latin typeface="Times New Roman"/>
              </a:rPr>
              <a:t> </a:t>
            </a:r>
            <a:r>
              <a:rPr sz="2000" dirty="0" err="1">
                <a:solidFill>
                  <a:srgbClr val="000000"/>
                </a:solidFill>
                <a:latin typeface="Times New Roman"/>
              </a:rPr>
              <a:t>thêm</a:t>
            </a:r>
            <a:r>
              <a:rPr sz="2000" dirty="0">
                <a:solidFill>
                  <a:srgbClr val="000000"/>
                </a:solidFill>
                <a:latin typeface="Times New Roman"/>
              </a:rPr>
              <a:t>.</a:t>
            </a:r>
            <a:endParaRPr lang="en-US" sz="2000" dirty="0">
              <a:solidFill>
                <a:srgbClr val="000000"/>
              </a:solidFill>
              <a:latin typeface="Times New Roman"/>
            </a:endParaRPr>
          </a:p>
          <a:p>
            <a:pPr algn="l">
              <a:lnSpc>
                <a:spcPct val="105000"/>
              </a:lnSpc>
              <a:spcBef>
                <a:spcPts val="0"/>
              </a:spcBef>
              <a:spcAft>
                <a:spcPts val="1000"/>
              </a:spcAft>
            </a:pPr>
            <a:r>
              <a:rPr lang="en-US" sz="2000" dirty="0">
                <a:solidFill>
                  <a:srgbClr val="000000"/>
                </a:solidFill>
                <a:latin typeface="Times New Roman"/>
              </a:rPr>
              <a:t>- </a:t>
            </a:r>
            <a:r>
              <a:rPr lang="en-US" sz="2000" dirty="0" err="1">
                <a:solidFill>
                  <a:srgbClr val="000000"/>
                </a:solidFill>
                <a:latin typeface="Times New Roman"/>
              </a:rPr>
              <a:t>Áp</a:t>
            </a:r>
            <a:r>
              <a:rPr lang="en-US" sz="2000" dirty="0">
                <a:solidFill>
                  <a:srgbClr val="000000"/>
                </a:solidFill>
                <a:latin typeface="Times New Roman"/>
              </a:rPr>
              <a:t> </a:t>
            </a:r>
            <a:r>
              <a:rPr lang="en-US" sz="2000" dirty="0" err="1">
                <a:solidFill>
                  <a:srgbClr val="000000"/>
                </a:solidFill>
                <a:latin typeface="Times New Roman"/>
              </a:rPr>
              <a:t>dụng</a:t>
            </a:r>
            <a:r>
              <a:rPr lang="en-US" sz="2000" dirty="0">
                <a:solidFill>
                  <a:srgbClr val="000000"/>
                </a:solidFill>
                <a:latin typeface="Times New Roman"/>
              </a:rPr>
              <a:t> </a:t>
            </a:r>
            <a:r>
              <a:rPr lang="en-US" sz="2000" dirty="0" err="1">
                <a:solidFill>
                  <a:srgbClr val="000000"/>
                </a:solidFill>
                <a:latin typeface="Times New Roman"/>
              </a:rPr>
              <a:t>các</a:t>
            </a:r>
            <a:r>
              <a:rPr lang="en-US" sz="2000" dirty="0">
                <a:solidFill>
                  <a:srgbClr val="000000"/>
                </a:solidFill>
                <a:latin typeface="Times New Roman"/>
              </a:rPr>
              <a:t> </a:t>
            </a:r>
            <a:r>
              <a:rPr lang="en-US" sz="2000" dirty="0" err="1">
                <a:solidFill>
                  <a:srgbClr val="000000"/>
                </a:solidFill>
                <a:latin typeface="Times New Roman"/>
              </a:rPr>
              <a:t>kiến</a:t>
            </a:r>
            <a:r>
              <a:rPr lang="en-US" sz="2000" dirty="0">
                <a:solidFill>
                  <a:srgbClr val="000000"/>
                </a:solidFill>
                <a:latin typeface="Times New Roman"/>
              </a:rPr>
              <a:t> </a:t>
            </a:r>
            <a:r>
              <a:rPr lang="en-US" sz="2000" dirty="0" err="1">
                <a:solidFill>
                  <a:srgbClr val="000000"/>
                </a:solidFill>
                <a:latin typeface="Times New Roman"/>
              </a:rPr>
              <a:t>thức</a:t>
            </a:r>
            <a:r>
              <a:rPr lang="en-US" sz="2000" dirty="0">
                <a:solidFill>
                  <a:srgbClr val="000000"/>
                </a:solidFill>
                <a:latin typeface="Times New Roman"/>
              </a:rPr>
              <a:t> </a:t>
            </a:r>
            <a:r>
              <a:rPr lang="en-US" sz="2000" dirty="0" err="1">
                <a:solidFill>
                  <a:srgbClr val="000000"/>
                </a:solidFill>
                <a:latin typeface="Times New Roman"/>
              </a:rPr>
              <a:t>hướng</a:t>
            </a:r>
            <a:r>
              <a:rPr lang="en-US" sz="2000" dirty="0">
                <a:solidFill>
                  <a:srgbClr val="000000"/>
                </a:solidFill>
                <a:latin typeface="Times New Roman"/>
              </a:rPr>
              <a:t> </a:t>
            </a:r>
            <a:r>
              <a:rPr lang="en-US" sz="2000" dirty="0" err="1">
                <a:solidFill>
                  <a:srgbClr val="000000"/>
                </a:solidFill>
                <a:latin typeface="Times New Roman"/>
              </a:rPr>
              <a:t>đối</a:t>
            </a:r>
            <a:r>
              <a:rPr lang="en-US" sz="2000" dirty="0">
                <a:solidFill>
                  <a:srgbClr val="000000"/>
                </a:solidFill>
                <a:latin typeface="Times New Roman"/>
              </a:rPr>
              <a:t> </a:t>
            </a:r>
            <a:r>
              <a:rPr lang="en-US" sz="2000" dirty="0" err="1">
                <a:solidFill>
                  <a:srgbClr val="000000"/>
                </a:solidFill>
                <a:latin typeface="Times New Roman"/>
              </a:rPr>
              <a:t>tượng</a:t>
            </a:r>
            <a:r>
              <a:rPr lang="en-US" sz="2000" dirty="0">
                <a:solidFill>
                  <a:srgbClr val="000000"/>
                </a:solidFill>
                <a:latin typeface="Times New Roman"/>
              </a:rPr>
              <a:t> OOP, </a:t>
            </a:r>
            <a:r>
              <a:rPr lang="en-US" sz="2000" dirty="0" err="1">
                <a:solidFill>
                  <a:srgbClr val="000000"/>
                </a:solidFill>
                <a:latin typeface="Times New Roman"/>
              </a:rPr>
              <a:t>thuật</a:t>
            </a:r>
            <a:r>
              <a:rPr lang="en-US" sz="2000" dirty="0">
                <a:solidFill>
                  <a:srgbClr val="000000"/>
                </a:solidFill>
                <a:latin typeface="Times New Roman"/>
              </a:rPr>
              <a:t> </a:t>
            </a:r>
            <a:r>
              <a:rPr lang="en-US" sz="2000" dirty="0" err="1">
                <a:solidFill>
                  <a:srgbClr val="000000"/>
                </a:solidFill>
                <a:latin typeface="Times New Roman"/>
              </a:rPr>
              <a:t>toán</a:t>
            </a:r>
            <a:r>
              <a:rPr lang="en-US" sz="2000" dirty="0">
                <a:solidFill>
                  <a:srgbClr val="000000"/>
                </a:solidFill>
                <a:latin typeface="Times New Roman"/>
              </a:rPr>
              <a:t> </a:t>
            </a:r>
            <a:r>
              <a:rPr lang="en-US" sz="2000" dirty="0" err="1">
                <a:solidFill>
                  <a:srgbClr val="000000"/>
                </a:solidFill>
                <a:latin typeface="Times New Roman"/>
              </a:rPr>
              <a:t>và</a:t>
            </a:r>
            <a:r>
              <a:rPr lang="en-US" sz="2000" dirty="0">
                <a:solidFill>
                  <a:srgbClr val="000000"/>
                </a:solidFill>
                <a:latin typeface="Times New Roman"/>
              </a:rPr>
              <a:t> </a:t>
            </a:r>
            <a:r>
              <a:rPr lang="en-US" sz="2000" dirty="0" err="1">
                <a:solidFill>
                  <a:srgbClr val="000000"/>
                </a:solidFill>
                <a:latin typeface="Times New Roman"/>
              </a:rPr>
              <a:t>tối</a:t>
            </a:r>
            <a:r>
              <a:rPr lang="en-US" sz="2000" dirty="0">
                <a:solidFill>
                  <a:srgbClr val="000000"/>
                </a:solidFill>
                <a:latin typeface="Times New Roman"/>
              </a:rPr>
              <a:t> </a:t>
            </a:r>
            <a:r>
              <a:rPr lang="en-US" sz="2000" dirty="0" err="1">
                <a:solidFill>
                  <a:srgbClr val="000000"/>
                </a:solidFill>
                <a:latin typeface="Times New Roman"/>
              </a:rPr>
              <a:t>ưu</a:t>
            </a:r>
            <a:endParaRPr sz="2000" dirty="0">
              <a:solidFill>
                <a:srgbClr val="000000"/>
              </a:solidFill>
              <a:latin typeface="Times New Roman"/>
            </a:endParaRPr>
          </a:p>
        </p:txBody>
      </p:sp>
      <p:sp>
        <p:nvSpPr>
          <p:cNvPr id="9" name="anim-appear-40-line-1"/>
          <p:cNvSpPr txBox="1"/>
          <p:nvPr/>
        </p:nvSpPr>
        <p:spPr>
          <a:xfrm>
            <a:off x="6301740" y="3262122"/>
            <a:ext cx="5135727" cy="2016771"/>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1" dirty="0" err="1">
                <a:latin typeface="Times New Roman"/>
              </a:rPr>
              <a:t>Nhóm</a:t>
            </a:r>
            <a:r>
              <a:rPr sz="2000" b="1" dirty="0">
                <a:latin typeface="Times New Roman"/>
              </a:rPr>
              <a:t> </a:t>
            </a:r>
            <a:r>
              <a:rPr sz="2000" b="1" dirty="0" err="1">
                <a:latin typeface="Times New Roman"/>
              </a:rPr>
              <a:t>hỗ</a:t>
            </a:r>
            <a:r>
              <a:rPr sz="2000" b="1" dirty="0">
                <a:latin typeface="Times New Roman"/>
              </a:rPr>
              <a:t> </a:t>
            </a:r>
            <a:r>
              <a:rPr sz="2000" b="1" dirty="0" err="1">
                <a:latin typeface="Times New Roman"/>
              </a:rPr>
              <a:t>trợ</a:t>
            </a:r>
            <a:endParaRPr lang="en-US" sz="2000" b="1" dirty="0">
              <a:solidFill>
                <a:srgbClr val="000000"/>
              </a:solidFill>
              <a:latin typeface="Times New Roman"/>
            </a:endParaRPr>
          </a:p>
          <a:p>
            <a:pPr algn="l">
              <a:lnSpc>
                <a:spcPct val="105000"/>
              </a:lnSpc>
              <a:spcBef>
                <a:spcPts val="0"/>
              </a:spcBef>
              <a:spcAft>
                <a:spcPts val="1000"/>
              </a:spcAft>
            </a:pPr>
            <a:r>
              <a:rPr sz="2000">
                <a:latin typeface="Times New Roman"/>
              </a:rPr>
              <a:t>- Quản lý kinh nghiệm, lên cấp, nâng cấp và bản đồ.</a:t>
            </a:r>
          </a:p>
          <a:p>
            <a:pPr algn="l">
              <a:lnSpc>
                <a:spcPct val="105000"/>
              </a:lnSpc>
              <a:spcBef>
                <a:spcPts val="0"/>
              </a:spcBef>
              <a:spcAft>
                <a:spcPts val="1000"/>
              </a:spcAft>
            </a:pPr>
            <a:r>
              <a:rPr sz="2000" dirty="0">
                <a:solidFill>
                  <a:srgbClr val="000000"/>
                </a:solidFill>
                <a:latin typeface="Times New Roman"/>
              </a:rPr>
              <a:t>- Hiển </a:t>
            </a:r>
            <a:r>
              <a:rPr sz="2000" dirty="0" err="1">
                <a:solidFill>
                  <a:srgbClr val="000000"/>
                </a:solidFill>
                <a:latin typeface="Times New Roman"/>
              </a:rPr>
              <a:t>thị</a:t>
            </a:r>
            <a:r>
              <a:rPr sz="2000" dirty="0">
                <a:solidFill>
                  <a:srgbClr val="000000"/>
                </a:solidFill>
                <a:latin typeface="Times New Roman"/>
              </a:rPr>
              <a:t> </a:t>
            </a:r>
            <a:r>
              <a:rPr sz="2000" dirty="0" err="1">
                <a:solidFill>
                  <a:srgbClr val="000000"/>
                </a:solidFill>
                <a:latin typeface="Times New Roman"/>
              </a:rPr>
              <a:t>giao</a:t>
            </a:r>
            <a:r>
              <a:rPr sz="2000" dirty="0">
                <a:solidFill>
                  <a:srgbClr val="000000"/>
                </a:solidFill>
                <a:latin typeface="Times New Roman"/>
              </a:rPr>
              <a:t> </a:t>
            </a:r>
            <a:r>
              <a:rPr sz="2000" dirty="0" err="1">
                <a:solidFill>
                  <a:srgbClr val="000000"/>
                </a:solidFill>
                <a:latin typeface="Times New Roman"/>
              </a:rPr>
              <a:t>diện</a:t>
            </a:r>
            <a:r>
              <a:rPr lang="en-US" sz="2000" dirty="0">
                <a:solidFill>
                  <a:srgbClr val="000000"/>
                </a:solidFill>
                <a:latin typeface="Times New Roman"/>
              </a:rPr>
              <a:t>, </a:t>
            </a:r>
            <a:r>
              <a:rPr lang="en-US" sz="2000" dirty="0" err="1">
                <a:solidFill>
                  <a:srgbClr val="000000"/>
                </a:solidFill>
                <a:latin typeface="Times New Roman"/>
              </a:rPr>
              <a:t>thông</a:t>
            </a:r>
            <a:r>
              <a:rPr lang="en-US" sz="2000" dirty="0">
                <a:solidFill>
                  <a:srgbClr val="000000"/>
                </a:solidFill>
                <a:latin typeface="Times New Roman"/>
              </a:rPr>
              <a:t> tin</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các</a:t>
            </a:r>
            <a:r>
              <a:rPr sz="2000" dirty="0">
                <a:solidFill>
                  <a:srgbClr val="000000"/>
                </a:solidFill>
                <a:latin typeface="Times New Roman"/>
              </a:rPr>
              <a:t> </a:t>
            </a:r>
            <a:r>
              <a:rPr sz="2000" dirty="0" err="1">
                <a:solidFill>
                  <a:srgbClr val="000000"/>
                </a:solidFill>
                <a:latin typeface="Times New Roman"/>
              </a:rPr>
              <a:t>chức</a:t>
            </a:r>
            <a:r>
              <a:rPr sz="2000" dirty="0">
                <a:solidFill>
                  <a:srgbClr val="000000"/>
                </a:solidFill>
                <a:latin typeface="Times New Roman"/>
              </a:rPr>
              <a:t> </a:t>
            </a:r>
            <a:r>
              <a:rPr sz="2000" dirty="0" err="1">
                <a:solidFill>
                  <a:srgbClr val="000000"/>
                </a:solidFill>
                <a:latin typeface="Times New Roman"/>
              </a:rPr>
              <a:t>năng</a:t>
            </a:r>
            <a:r>
              <a:rPr sz="2000" dirty="0">
                <a:solidFill>
                  <a:srgbClr val="000000"/>
                </a:solidFill>
                <a:latin typeface="Times New Roman"/>
              </a:rPr>
              <a:t> </a:t>
            </a:r>
            <a:r>
              <a:rPr sz="2000" dirty="0" err="1">
                <a:solidFill>
                  <a:srgbClr val="000000"/>
                </a:solidFill>
                <a:latin typeface="Times New Roman"/>
              </a:rPr>
              <a:t>hỗ</a:t>
            </a:r>
            <a:r>
              <a:rPr sz="2000" dirty="0">
                <a:solidFill>
                  <a:srgbClr val="000000"/>
                </a:solidFill>
                <a:latin typeface="Times New Roman"/>
              </a:rPr>
              <a:t> </a:t>
            </a:r>
            <a:r>
              <a:rPr sz="2000" dirty="0" err="1">
                <a:solidFill>
                  <a:srgbClr val="000000"/>
                </a:solidFill>
                <a:latin typeface="Times New Roman"/>
              </a:rPr>
              <a:t>trợ</a:t>
            </a:r>
            <a:r>
              <a:rPr sz="2000" dirty="0">
                <a:solidFill>
                  <a:srgbClr val="000000"/>
                </a:solidFill>
                <a:latin typeface="Times New Roman"/>
              </a:rPr>
              <a:t> </a:t>
            </a:r>
            <a:r>
              <a:rPr sz="2000" dirty="0" err="1">
                <a:solidFill>
                  <a:srgbClr val="000000"/>
                </a:solidFill>
                <a:latin typeface="Times New Roman"/>
              </a:rPr>
              <a:t>trong</a:t>
            </a:r>
            <a:r>
              <a:rPr sz="2000" dirty="0">
                <a:solidFill>
                  <a:srgbClr val="000000"/>
                </a:solidFill>
                <a:latin typeface="Times New Roman"/>
              </a:rPr>
              <a:t> game.</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Kết</a:t>
            </a:r>
            <a:r>
              <a:rPr sz="2000" dirty="0">
                <a:solidFill>
                  <a:srgbClr val="000000"/>
                </a:solidFill>
                <a:latin typeface="Times New Roman"/>
              </a:rPr>
              <a:t> </a:t>
            </a:r>
            <a:r>
              <a:rPr sz="2000" dirty="0" err="1">
                <a:solidFill>
                  <a:srgbClr val="000000"/>
                </a:solidFill>
                <a:latin typeface="Times New Roman"/>
              </a:rPr>
              <a:t>nối</a:t>
            </a:r>
            <a:r>
              <a:rPr sz="2000" dirty="0">
                <a:solidFill>
                  <a:srgbClr val="000000"/>
                </a:solidFill>
                <a:latin typeface="Times New Roman"/>
              </a:rPr>
              <a:t> </a:t>
            </a:r>
            <a:r>
              <a:rPr sz="2000" dirty="0" err="1">
                <a:solidFill>
                  <a:srgbClr val="000000"/>
                </a:solidFill>
                <a:latin typeface="Times New Roman"/>
              </a:rPr>
              <a:t>bảng</a:t>
            </a:r>
            <a:r>
              <a:rPr sz="2000" dirty="0">
                <a:solidFill>
                  <a:srgbClr val="000000"/>
                </a:solidFill>
                <a:latin typeface="Times New Roman"/>
              </a:rPr>
              <a:t> </a:t>
            </a:r>
            <a:r>
              <a:rPr sz="2000" dirty="0" err="1">
                <a:solidFill>
                  <a:srgbClr val="000000"/>
                </a:solidFill>
                <a:latin typeface="Times New Roman"/>
              </a:rPr>
              <a:t>xếp</a:t>
            </a:r>
            <a:r>
              <a:rPr sz="2000" dirty="0">
                <a:solidFill>
                  <a:srgbClr val="000000"/>
                </a:solidFill>
                <a:latin typeface="Times New Roman"/>
              </a:rPr>
              <a:t> </a:t>
            </a:r>
            <a:r>
              <a:rPr sz="2000" dirty="0" err="1">
                <a:solidFill>
                  <a:srgbClr val="000000"/>
                </a:solidFill>
                <a:latin typeface="Times New Roman"/>
              </a:rPr>
              <a:t>hạng</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lưu</a:t>
            </a:r>
            <a:r>
              <a:rPr sz="2000" dirty="0">
                <a:solidFill>
                  <a:srgbClr val="000000"/>
                </a:solidFill>
                <a:latin typeface="Times New Roman"/>
              </a:rPr>
              <a:t> </a:t>
            </a:r>
            <a:r>
              <a:rPr sz="2000" dirty="0" err="1">
                <a:solidFill>
                  <a:srgbClr val="000000"/>
                </a:solidFill>
                <a:latin typeface="Times New Roman"/>
              </a:rPr>
              <a:t>điểm</a:t>
            </a:r>
            <a:r>
              <a:rPr sz="2000" dirty="0">
                <a:solidFill>
                  <a:srgbClr val="000000"/>
                </a:solidFill>
                <a:latin typeface="Times New Roman"/>
              </a:rPr>
              <a:t> </a:t>
            </a:r>
            <a:r>
              <a:rPr sz="2000" dirty="0" err="1">
                <a:solidFill>
                  <a:srgbClr val="000000"/>
                </a:solidFill>
                <a:latin typeface="Times New Roman"/>
              </a:rPr>
              <a:t>người</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a:t>
            </a:r>
          </a:p>
        </p:txBody>
      </p:sp>
    </p:spTree>
    <p:extLst>
      <p:ext uri="{BB962C8B-B14F-4D97-AF65-F5344CB8AC3E}">
        <p14:creationId xmlns:p14="http://schemas.microsoft.com/office/powerpoint/2010/main" val="353901196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grpId="0" nodeType="afterEffect">
                                  <p:stCondLst>
                                    <p:cond delay="200"/>
                                  </p:stCondLst>
                                  <p:childTnLst>
                                    <p:set>
                                      <p:cBhvr>
                                        <p:cTn id="9" dur="1" fill="hold">
                                          <p:stCondLst>
                                            <p:cond delay="499"/>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P spid="9"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QUY TRÌNH THỰC HIỆN</a:t>
            </a:r>
          </a:p>
        </p:txBody>
      </p:sp>
      <p:sp>
        <p:nvSpPr>
          <p:cNvPr id="3" name="TextBox 2"/>
          <p:cNvSpPr txBox="1"/>
          <p:nvPr/>
        </p:nvSpPr>
        <p:spPr>
          <a:xfrm>
            <a:off x="777240" y="2383792"/>
            <a:ext cx="10682935" cy="399918"/>
          </a:xfrm>
          <a:prstGeom prst="rect">
            <a:avLst/>
          </a:prstGeom>
          <a:noFill/>
        </p:spPr>
        <p:txBody>
          <a:bodyPr wrap="square" lIns="18288" tIns="18288" rIns="18288" bIns="18288" anchor="ctr">
            <a:spAutoFit/>
          </a:bodyPr>
          <a:lstStyle/>
          <a:p>
            <a:pPr algn="l">
              <a:lnSpc>
                <a:spcPct val="105000"/>
              </a:lnSpc>
              <a:spcBef>
                <a:spcPts val="0"/>
              </a:spcBef>
              <a:spcAft>
                <a:spcPts val="0"/>
              </a:spcAft>
            </a:pPr>
            <a:r>
              <a:rPr sz="2400" b="1" dirty="0" err="1">
                <a:solidFill>
                  <a:srgbClr val="000000"/>
                </a:solidFill>
                <a:latin typeface="Times New Roman"/>
              </a:rPr>
              <a:t>Điều</a:t>
            </a:r>
            <a:r>
              <a:rPr sz="2400" b="1" dirty="0">
                <a:solidFill>
                  <a:srgbClr val="000000"/>
                </a:solidFill>
                <a:latin typeface="Times New Roman"/>
              </a:rPr>
              <a:t> </a:t>
            </a:r>
            <a:r>
              <a:rPr sz="2400" b="1" dirty="0" err="1">
                <a:solidFill>
                  <a:srgbClr val="000000"/>
                </a:solidFill>
                <a:latin typeface="Times New Roman"/>
              </a:rPr>
              <a:t>khiển</a:t>
            </a:r>
            <a:r>
              <a:rPr sz="2400" b="1" dirty="0">
                <a:solidFill>
                  <a:srgbClr val="000000"/>
                </a:solidFill>
                <a:latin typeface="Times New Roman"/>
              </a:rPr>
              <a:t> </a:t>
            </a:r>
            <a:r>
              <a:rPr sz="2400" b="1" dirty="0" err="1">
                <a:solidFill>
                  <a:srgbClr val="000000"/>
                </a:solidFill>
                <a:latin typeface="Times New Roman"/>
              </a:rPr>
              <a:t>và</a:t>
            </a:r>
            <a:r>
              <a:rPr sz="2400" b="1" dirty="0">
                <a:solidFill>
                  <a:srgbClr val="000000"/>
                </a:solidFill>
                <a:latin typeface="Times New Roman"/>
              </a:rPr>
              <a:t> </a:t>
            </a:r>
            <a:r>
              <a:rPr sz="2400" b="1" dirty="0" err="1">
                <a:solidFill>
                  <a:srgbClr val="000000"/>
                </a:solidFill>
                <a:latin typeface="Times New Roman"/>
              </a:rPr>
              <a:t>chiến</a:t>
            </a:r>
            <a:r>
              <a:rPr sz="2400" b="1" dirty="0">
                <a:solidFill>
                  <a:srgbClr val="000000"/>
                </a:solidFill>
                <a:latin typeface="Times New Roman"/>
              </a:rPr>
              <a:t> </a:t>
            </a:r>
            <a:r>
              <a:rPr sz="2400" b="1" dirty="0" err="1">
                <a:solidFill>
                  <a:srgbClr val="000000"/>
                </a:solidFill>
                <a:latin typeface="Times New Roman"/>
              </a:rPr>
              <a:t>đấu</a:t>
            </a:r>
            <a:endParaRPr sz="2400" b="1" dirty="0">
              <a:solidFill>
                <a:srgbClr val="000000"/>
              </a:solidFill>
              <a:latin typeface="Times New Roman"/>
            </a:endParaRPr>
          </a:p>
        </p:txBody>
      </p:sp>
      <p:sp>
        <p:nvSpPr>
          <p:cNvPr id="6" name="anim-appear-20-line-1"/>
          <p:cNvSpPr txBox="1"/>
          <p:nvPr/>
        </p:nvSpPr>
        <p:spPr>
          <a:xfrm>
            <a:off x="777239" y="3030093"/>
            <a:ext cx="5385435" cy="2986267"/>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0" dirty="0">
                <a:solidFill>
                  <a:srgbClr val="000000"/>
                </a:solidFill>
                <a:latin typeface="Times New Roman"/>
              </a:rPr>
              <a:t>- </a:t>
            </a:r>
            <a:r>
              <a:rPr sz="2000" b="0" dirty="0" err="1">
                <a:solidFill>
                  <a:srgbClr val="000000"/>
                </a:solidFill>
                <a:latin typeface="Times New Roman"/>
              </a:rPr>
              <a:t>Người</a:t>
            </a:r>
            <a:r>
              <a:rPr sz="2000" b="0" dirty="0">
                <a:solidFill>
                  <a:srgbClr val="000000"/>
                </a:solidFill>
                <a:latin typeface="Times New Roman"/>
              </a:rPr>
              <a:t> </a:t>
            </a:r>
            <a:r>
              <a:rPr sz="2000" b="0" dirty="0" err="1">
                <a:solidFill>
                  <a:srgbClr val="000000"/>
                </a:solidFill>
                <a:latin typeface="Times New Roman"/>
              </a:rPr>
              <a:t>chơi</a:t>
            </a:r>
            <a:r>
              <a:rPr sz="2000" b="0" dirty="0">
                <a:solidFill>
                  <a:srgbClr val="000000"/>
                </a:solidFill>
                <a:latin typeface="Times New Roman"/>
              </a:rPr>
              <a:t> di </a:t>
            </a:r>
            <a:r>
              <a:rPr sz="2000" b="0" dirty="0" err="1">
                <a:solidFill>
                  <a:srgbClr val="000000"/>
                </a:solidFill>
                <a:latin typeface="Times New Roman"/>
              </a:rPr>
              <a:t>chuyển</a:t>
            </a:r>
            <a:r>
              <a:rPr sz="2000" b="0" dirty="0">
                <a:solidFill>
                  <a:srgbClr val="000000"/>
                </a:solidFill>
                <a:latin typeface="Times New Roman"/>
              </a:rPr>
              <a:t> </a:t>
            </a:r>
            <a:r>
              <a:rPr sz="2000" b="0" dirty="0" err="1">
                <a:solidFill>
                  <a:srgbClr val="000000"/>
                </a:solidFill>
                <a:latin typeface="Times New Roman"/>
              </a:rPr>
              <a:t>nhân</a:t>
            </a:r>
            <a:r>
              <a:rPr sz="2000" b="0" dirty="0">
                <a:solidFill>
                  <a:srgbClr val="000000"/>
                </a:solidFill>
                <a:latin typeface="Times New Roman"/>
              </a:rPr>
              <a:t> </a:t>
            </a:r>
            <a:r>
              <a:rPr sz="2000" b="0" dirty="0" err="1">
                <a:solidFill>
                  <a:srgbClr val="000000"/>
                </a:solidFill>
                <a:latin typeface="Times New Roman"/>
              </a:rPr>
              <a:t>vật</a:t>
            </a:r>
            <a:r>
              <a:rPr sz="2000" b="0" dirty="0">
                <a:solidFill>
                  <a:srgbClr val="000000"/>
                </a:solidFill>
                <a:latin typeface="Times New Roman"/>
              </a:rPr>
              <a:t> </a:t>
            </a:r>
            <a:r>
              <a:rPr sz="2000" b="0" dirty="0" err="1">
                <a:solidFill>
                  <a:srgbClr val="000000"/>
                </a:solidFill>
                <a:latin typeface="Times New Roman"/>
              </a:rPr>
              <a:t>bằng</a:t>
            </a:r>
            <a:r>
              <a:rPr sz="2000" b="0" dirty="0">
                <a:solidFill>
                  <a:srgbClr val="000000"/>
                </a:solidFill>
                <a:latin typeface="Times New Roman"/>
              </a:rPr>
              <a:t> </a:t>
            </a:r>
            <a:r>
              <a:rPr sz="2000" b="0" dirty="0" err="1">
                <a:solidFill>
                  <a:srgbClr val="000000"/>
                </a:solidFill>
                <a:latin typeface="Times New Roman"/>
              </a:rPr>
              <a:t>bàn</a:t>
            </a:r>
            <a:r>
              <a:rPr sz="2000" b="0" dirty="0">
                <a:solidFill>
                  <a:srgbClr val="000000"/>
                </a:solidFill>
                <a:latin typeface="Times New Roman"/>
              </a:rPr>
              <a:t> </a:t>
            </a:r>
            <a:r>
              <a:rPr sz="2000" b="0" dirty="0" err="1">
                <a:solidFill>
                  <a:srgbClr val="000000"/>
                </a:solidFill>
                <a:latin typeface="Times New Roman"/>
              </a:rPr>
              <a:t>phím</a:t>
            </a:r>
            <a:r>
              <a:rPr sz="2000" b="0" dirty="0">
                <a:solidFill>
                  <a:srgbClr val="000000"/>
                </a:solidFill>
                <a:latin typeface="Times New Roman"/>
              </a:rPr>
              <a:t> </a:t>
            </a:r>
            <a:r>
              <a:rPr sz="2000" b="0" dirty="0" err="1">
                <a:solidFill>
                  <a:srgbClr val="000000"/>
                </a:solidFill>
                <a:latin typeface="Times New Roman"/>
              </a:rPr>
              <a:t>và</a:t>
            </a:r>
            <a:r>
              <a:rPr sz="2000" b="0" dirty="0">
                <a:solidFill>
                  <a:srgbClr val="000000"/>
                </a:solidFill>
                <a:latin typeface="Times New Roman"/>
              </a:rPr>
              <a:t> </a:t>
            </a:r>
            <a:r>
              <a:rPr sz="2000" b="0" dirty="0" err="1">
                <a:solidFill>
                  <a:srgbClr val="000000"/>
                </a:solidFill>
                <a:latin typeface="Times New Roman"/>
              </a:rPr>
              <a:t>có</a:t>
            </a:r>
            <a:r>
              <a:rPr sz="2000" b="0" dirty="0">
                <a:solidFill>
                  <a:srgbClr val="000000"/>
                </a:solidFill>
                <a:latin typeface="Times New Roman"/>
              </a:rPr>
              <a:t> </a:t>
            </a:r>
            <a:r>
              <a:rPr sz="2000" b="0" dirty="0" err="1">
                <a:solidFill>
                  <a:srgbClr val="000000"/>
                </a:solidFill>
                <a:latin typeface="Times New Roman"/>
              </a:rPr>
              <a:t>thể</a:t>
            </a:r>
            <a:r>
              <a:rPr sz="2000" b="0" dirty="0">
                <a:solidFill>
                  <a:srgbClr val="000000"/>
                </a:solidFill>
                <a:latin typeface="Times New Roman"/>
              </a:rPr>
              <a:t> </a:t>
            </a:r>
            <a:r>
              <a:rPr lang="en-US" sz="2000" b="0" dirty="0" err="1">
                <a:solidFill>
                  <a:srgbClr val="000000"/>
                </a:solidFill>
                <a:latin typeface="Times New Roman"/>
              </a:rPr>
              <a:t>nhấn</a:t>
            </a:r>
            <a:r>
              <a:rPr lang="en-US" sz="2000" dirty="0">
                <a:solidFill>
                  <a:srgbClr val="000000"/>
                </a:solidFill>
                <a:latin typeface="Times New Roman"/>
              </a:rPr>
              <a:t> </a:t>
            </a:r>
            <a:r>
              <a:rPr lang="en-US" sz="2000" dirty="0" err="1">
                <a:solidFill>
                  <a:srgbClr val="000000"/>
                </a:solidFill>
                <a:latin typeface="Times New Roman"/>
              </a:rPr>
              <a:t>chuột</a:t>
            </a:r>
            <a:r>
              <a:rPr sz="2000" b="0" dirty="0">
                <a:solidFill>
                  <a:srgbClr val="000000"/>
                </a:solidFill>
                <a:latin typeface="Times New Roman"/>
              </a:rPr>
              <a:t> </a:t>
            </a:r>
            <a:r>
              <a:rPr lang="en-US" sz="2000" dirty="0" err="1">
                <a:solidFill>
                  <a:srgbClr val="000000"/>
                </a:solidFill>
                <a:latin typeface="Times New Roman"/>
              </a:rPr>
              <a:t>để</a:t>
            </a:r>
            <a:r>
              <a:rPr lang="en-US" sz="2000" dirty="0">
                <a:solidFill>
                  <a:srgbClr val="000000"/>
                </a:solidFill>
                <a:latin typeface="Times New Roman"/>
              </a:rPr>
              <a:t> </a:t>
            </a:r>
            <a:r>
              <a:rPr lang="en-US" sz="2000" b="0" dirty="0" err="1">
                <a:solidFill>
                  <a:srgbClr val="000000"/>
                </a:solidFill>
                <a:latin typeface="Times New Roman"/>
              </a:rPr>
              <a:t>lướt</a:t>
            </a:r>
            <a:r>
              <a:rPr sz="2000" b="0" dirty="0">
                <a:solidFill>
                  <a:srgbClr val="000000"/>
                </a:solidFill>
                <a:latin typeface="Times New Roman"/>
              </a:rPr>
              <a:t> né </a:t>
            </a:r>
            <a:r>
              <a:rPr lang="en-US" sz="2000" b="0" dirty="0" err="1">
                <a:solidFill>
                  <a:srgbClr val="000000"/>
                </a:solidFill>
                <a:latin typeface="Times New Roman"/>
              </a:rPr>
              <a:t>tránh</a:t>
            </a:r>
            <a:r>
              <a:rPr lang="en-US" sz="2000" b="0" dirty="0">
                <a:solidFill>
                  <a:srgbClr val="000000"/>
                </a:solidFill>
                <a:latin typeface="Times New Roman"/>
              </a:rPr>
              <a:t> </a:t>
            </a:r>
            <a:r>
              <a:rPr lang="en-US" sz="2000" b="0" dirty="0" err="1">
                <a:solidFill>
                  <a:srgbClr val="000000"/>
                </a:solidFill>
                <a:latin typeface="Times New Roman"/>
              </a:rPr>
              <a:t>đòn</a:t>
            </a:r>
            <a:r>
              <a:rPr lang="en-US" sz="2000" b="0" dirty="0">
                <a:solidFill>
                  <a:srgbClr val="000000"/>
                </a:solidFill>
                <a:latin typeface="Times New Roman"/>
              </a:rPr>
              <a:t> </a:t>
            </a:r>
            <a:r>
              <a:rPr lang="en-US" sz="2000" b="0" dirty="0" err="1">
                <a:solidFill>
                  <a:srgbClr val="000000"/>
                </a:solidFill>
                <a:latin typeface="Times New Roman"/>
              </a:rPr>
              <a:t>tấn</a:t>
            </a:r>
            <a:r>
              <a:rPr lang="en-US" sz="2000" b="0" dirty="0">
                <a:solidFill>
                  <a:srgbClr val="000000"/>
                </a:solidFill>
                <a:latin typeface="Times New Roman"/>
              </a:rPr>
              <a:t> </a:t>
            </a:r>
            <a:r>
              <a:rPr lang="en-US" sz="2000" b="0" dirty="0" err="1">
                <a:solidFill>
                  <a:srgbClr val="000000"/>
                </a:solidFill>
                <a:latin typeface="Times New Roman"/>
              </a:rPr>
              <a:t>công</a:t>
            </a:r>
            <a:r>
              <a:rPr sz="2000" b="0" dirty="0">
                <a:solidFill>
                  <a:srgbClr val="000000"/>
                </a:solidFill>
                <a:latin typeface="Times New Roman"/>
              </a:rPr>
              <a:t>.</a:t>
            </a:r>
            <a:endParaRPr lang="en-US" sz="2000" dirty="0">
              <a:solidFill>
                <a:srgbClr val="000000"/>
              </a:solidFill>
              <a:latin typeface="Times New Roman"/>
            </a:endParaRP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Hệ</a:t>
            </a:r>
            <a:r>
              <a:rPr sz="2000" dirty="0">
                <a:solidFill>
                  <a:srgbClr val="000000"/>
                </a:solidFill>
                <a:latin typeface="Times New Roman"/>
              </a:rPr>
              <a:t> </a:t>
            </a:r>
            <a:r>
              <a:rPr sz="2000" dirty="0" err="1">
                <a:solidFill>
                  <a:srgbClr val="000000"/>
                </a:solidFill>
                <a:latin typeface="Times New Roman"/>
              </a:rPr>
              <a:t>thống</a:t>
            </a:r>
            <a:r>
              <a:rPr sz="2000" dirty="0">
                <a:solidFill>
                  <a:srgbClr val="000000"/>
                </a:solidFill>
                <a:latin typeface="Times New Roman"/>
              </a:rPr>
              <a:t> </a:t>
            </a:r>
            <a:r>
              <a:rPr sz="2000" dirty="0" err="1">
                <a:solidFill>
                  <a:srgbClr val="000000"/>
                </a:solidFill>
                <a:latin typeface="Times New Roman"/>
              </a:rPr>
              <a:t>tự</a:t>
            </a:r>
            <a:r>
              <a:rPr sz="2000" dirty="0">
                <a:solidFill>
                  <a:srgbClr val="000000"/>
                </a:solidFill>
                <a:latin typeface="Times New Roman"/>
              </a:rPr>
              <a:t> </a:t>
            </a:r>
            <a:r>
              <a:rPr sz="2000" dirty="0" err="1">
                <a:solidFill>
                  <a:srgbClr val="000000"/>
                </a:solidFill>
                <a:latin typeface="Times New Roman"/>
              </a:rPr>
              <a:t>động</a:t>
            </a:r>
            <a:r>
              <a:rPr sz="2000" dirty="0">
                <a:solidFill>
                  <a:srgbClr val="000000"/>
                </a:solidFill>
                <a:latin typeface="Times New Roman"/>
              </a:rPr>
              <a:t> </a:t>
            </a:r>
            <a:r>
              <a:rPr sz="2000" dirty="0" err="1">
                <a:solidFill>
                  <a:srgbClr val="000000"/>
                </a:solidFill>
                <a:latin typeface="Times New Roman"/>
              </a:rPr>
              <a:t>tìm</a:t>
            </a:r>
            <a:r>
              <a:rPr sz="2000" dirty="0">
                <a:solidFill>
                  <a:srgbClr val="000000"/>
                </a:solidFill>
                <a:latin typeface="Times New Roman"/>
              </a:rPr>
              <a:t> </a:t>
            </a:r>
            <a:r>
              <a:rPr sz="2000" dirty="0" err="1">
                <a:solidFill>
                  <a:srgbClr val="000000"/>
                </a:solidFill>
                <a:latin typeface="Times New Roman"/>
              </a:rPr>
              <a:t>mục</a:t>
            </a:r>
            <a:r>
              <a:rPr sz="2000" dirty="0">
                <a:solidFill>
                  <a:srgbClr val="000000"/>
                </a:solidFill>
                <a:latin typeface="Times New Roman"/>
              </a:rPr>
              <a:t> </a:t>
            </a:r>
            <a:r>
              <a:rPr sz="2000" dirty="0" err="1">
                <a:solidFill>
                  <a:srgbClr val="000000"/>
                </a:solidFill>
                <a:latin typeface="Times New Roman"/>
              </a:rPr>
              <a:t>tiêu</a:t>
            </a:r>
            <a:r>
              <a:rPr sz="2000" dirty="0">
                <a:solidFill>
                  <a:srgbClr val="000000"/>
                </a:solidFill>
                <a:latin typeface="Times New Roman"/>
              </a:rPr>
              <a:t> </a:t>
            </a:r>
            <a:r>
              <a:rPr sz="2000" dirty="0" err="1">
                <a:solidFill>
                  <a:srgbClr val="000000"/>
                </a:solidFill>
                <a:latin typeface="Times New Roman"/>
              </a:rPr>
              <a:t>gần</a:t>
            </a:r>
            <a:r>
              <a:rPr sz="2000" dirty="0">
                <a:solidFill>
                  <a:srgbClr val="000000"/>
                </a:solidFill>
                <a:latin typeface="Times New Roman"/>
              </a:rPr>
              <a:t> </a:t>
            </a:r>
            <a:r>
              <a:rPr sz="2000" dirty="0" err="1">
                <a:solidFill>
                  <a:srgbClr val="000000"/>
                </a:solidFill>
                <a:latin typeface="Times New Roman"/>
              </a:rPr>
              <a:t>nhất</a:t>
            </a:r>
            <a:r>
              <a:rPr sz="2000" dirty="0">
                <a:solidFill>
                  <a:srgbClr val="000000"/>
                </a:solidFill>
                <a:latin typeface="Times New Roman"/>
              </a:rPr>
              <a:t> </a:t>
            </a:r>
            <a:r>
              <a:rPr sz="2000" dirty="0" err="1">
                <a:solidFill>
                  <a:srgbClr val="000000"/>
                </a:solidFill>
                <a:latin typeface="Times New Roman"/>
              </a:rPr>
              <a:t>để</a:t>
            </a:r>
            <a:r>
              <a:rPr sz="2000" dirty="0">
                <a:solidFill>
                  <a:srgbClr val="000000"/>
                </a:solidFill>
                <a:latin typeface="Times New Roman"/>
              </a:rPr>
              <a:t> </a:t>
            </a:r>
            <a:r>
              <a:rPr sz="2000" dirty="0" err="1">
                <a:solidFill>
                  <a:srgbClr val="000000"/>
                </a:solidFill>
                <a:latin typeface="Times New Roman"/>
              </a:rPr>
              <a:t>thực</a:t>
            </a:r>
            <a:r>
              <a:rPr sz="2000" dirty="0">
                <a:solidFill>
                  <a:srgbClr val="000000"/>
                </a:solidFill>
                <a:latin typeface="Times New Roman"/>
              </a:rPr>
              <a:t> </a:t>
            </a:r>
            <a:r>
              <a:rPr sz="2000" dirty="0" err="1">
                <a:solidFill>
                  <a:srgbClr val="000000"/>
                </a:solidFill>
                <a:latin typeface="Times New Roman"/>
              </a:rPr>
              <a:t>hiện</a:t>
            </a:r>
            <a:r>
              <a:rPr sz="2000" dirty="0">
                <a:solidFill>
                  <a:srgbClr val="000000"/>
                </a:solidFill>
                <a:latin typeface="Times New Roman"/>
              </a:rPr>
              <a:t> </a:t>
            </a:r>
            <a:r>
              <a:rPr sz="2000" dirty="0" err="1">
                <a:solidFill>
                  <a:srgbClr val="000000"/>
                </a:solidFill>
                <a:latin typeface="Times New Roman"/>
              </a:rPr>
              <a:t>tấn</a:t>
            </a:r>
            <a:r>
              <a:rPr sz="2000" dirty="0">
                <a:solidFill>
                  <a:srgbClr val="000000"/>
                </a:solidFill>
                <a:latin typeface="Times New Roman"/>
              </a:rPr>
              <a:t> </a:t>
            </a:r>
            <a:r>
              <a:rPr sz="2000" dirty="0" err="1">
                <a:solidFill>
                  <a:srgbClr val="000000"/>
                </a:solidFill>
                <a:latin typeface="Times New Roman"/>
              </a:rPr>
              <a:t>công</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Cơ</a:t>
            </a:r>
            <a:r>
              <a:rPr sz="2000" dirty="0">
                <a:solidFill>
                  <a:srgbClr val="000000"/>
                </a:solidFill>
                <a:latin typeface="Times New Roman"/>
              </a:rPr>
              <a:t> </a:t>
            </a:r>
            <a:r>
              <a:rPr sz="2000" dirty="0" err="1">
                <a:solidFill>
                  <a:srgbClr val="000000"/>
                </a:solidFill>
                <a:latin typeface="Times New Roman"/>
              </a:rPr>
              <a:t>chế</a:t>
            </a:r>
            <a:r>
              <a:rPr sz="2000" dirty="0">
                <a:solidFill>
                  <a:srgbClr val="000000"/>
                </a:solidFill>
                <a:latin typeface="Times New Roman"/>
              </a:rPr>
              <a:t> </a:t>
            </a:r>
            <a:r>
              <a:rPr lang="en-US" sz="2000" dirty="0" err="1">
                <a:solidFill>
                  <a:srgbClr val="000000"/>
                </a:solidFill>
                <a:latin typeface="Times New Roman"/>
              </a:rPr>
              <a:t>tấn</a:t>
            </a:r>
            <a:r>
              <a:rPr lang="en-US" sz="2000" dirty="0">
                <a:solidFill>
                  <a:srgbClr val="000000"/>
                </a:solidFill>
                <a:latin typeface="Times New Roman"/>
              </a:rPr>
              <a:t> </a:t>
            </a:r>
            <a:r>
              <a:rPr lang="en-US" sz="2000" dirty="0" err="1">
                <a:solidFill>
                  <a:srgbClr val="000000"/>
                </a:solidFill>
                <a:latin typeface="Times New Roman"/>
              </a:rPr>
              <a:t>công</a:t>
            </a:r>
            <a:r>
              <a:rPr sz="2000" dirty="0">
                <a:solidFill>
                  <a:srgbClr val="000000"/>
                </a:solidFill>
                <a:latin typeface="Times New Roman"/>
              </a:rPr>
              <a:t> </a:t>
            </a:r>
            <a:r>
              <a:rPr sz="2000" dirty="0" err="1">
                <a:solidFill>
                  <a:srgbClr val="000000"/>
                </a:solidFill>
                <a:latin typeface="Times New Roman"/>
              </a:rPr>
              <a:t>tự</a:t>
            </a:r>
            <a:r>
              <a:rPr sz="2000" dirty="0">
                <a:solidFill>
                  <a:srgbClr val="000000"/>
                </a:solidFill>
                <a:latin typeface="Times New Roman"/>
              </a:rPr>
              <a:t> </a:t>
            </a:r>
            <a:r>
              <a:rPr sz="2000" dirty="0" err="1">
                <a:solidFill>
                  <a:srgbClr val="000000"/>
                </a:solidFill>
                <a:latin typeface="Times New Roman"/>
              </a:rPr>
              <a:t>động</a:t>
            </a:r>
            <a:r>
              <a:rPr sz="2000" dirty="0">
                <a:solidFill>
                  <a:srgbClr val="000000"/>
                </a:solidFill>
                <a:latin typeface="Times New Roman"/>
              </a:rPr>
              <a:t> </a:t>
            </a:r>
            <a:r>
              <a:rPr sz="2000" dirty="0" err="1">
                <a:solidFill>
                  <a:srgbClr val="000000"/>
                </a:solidFill>
                <a:latin typeface="Times New Roman"/>
              </a:rPr>
              <a:t>giúp</a:t>
            </a:r>
            <a:r>
              <a:rPr sz="2000" dirty="0">
                <a:solidFill>
                  <a:srgbClr val="000000"/>
                </a:solidFill>
                <a:latin typeface="Times New Roman"/>
              </a:rPr>
              <a:t> </a:t>
            </a:r>
            <a:r>
              <a:rPr sz="2000" dirty="0" err="1">
                <a:solidFill>
                  <a:srgbClr val="000000"/>
                </a:solidFill>
                <a:latin typeface="Times New Roman"/>
              </a:rPr>
              <a:t>người</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tập</a:t>
            </a:r>
            <a:r>
              <a:rPr sz="2000" dirty="0">
                <a:solidFill>
                  <a:srgbClr val="000000"/>
                </a:solidFill>
                <a:latin typeface="Times New Roman"/>
              </a:rPr>
              <a:t> </a:t>
            </a:r>
            <a:r>
              <a:rPr sz="2000" dirty="0" err="1">
                <a:solidFill>
                  <a:srgbClr val="000000"/>
                </a:solidFill>
                <a:latin typeface="Times New Roman"/>
              </a:rPr>
              <a:t>trung</a:t>
            </a:r>
            <a:r>
              <a:rPr sz="2000" dirty="0">
                <a:solidFill>
                  <a:srgbClr val="000000"/>
                </a:solidFill>
                <a:latin typeface="Times New Roman"/>
              </a:rPr>
              <a:t> </a:t>
            </a:r>
            <a:r>
              <a:rPr sz="2000" dirty="0" err="1">
                <a:solidFill>
                  <a:srgbClr val="000000"/>
                </a:solidFill>
                <a:latin typeface="Times New Roman"/>
              </a:rPr>
              <a:t>nhiều</a:t>
            </a:r>
            <a:r>
              <a:rPr sz="2000" dirty="0">
                <a:solidFill>
                  <a:srgbClr val="000000"/>
                </a:solidFill>
                <a:latin typeface="Times New Roman"/>
              </a:rPr>
              <a:t> </a:t>
            </a:r>
            <a:r>
              <a:rPr sz="2000" dirty="0" err="1">
                <a:solidFill>
                  <a:srgbClr val="000000"/>
                </a:solidFill>
                <a:latin typeface="Times New Roman"/>
              </a:rPr>
              <a:t>hơn</a:t>
            </a:r>
            <a:r>
              <a:rPr sz="2000" dirty="0">
                <a:solidFill>
                  <a:srgbClr val="000000"/>
                </a:solidFill>
                <a:latin typeface="Times New Roman"/>
              </a:rPr>
              <a:t> </a:t>
            </a:r>
            <a:r>
              <a:rPr sz="2000" dirty="0" err="1">
                <a:solidFill>
                  <a:srgbClr val="000000"/>
                </a:solidFill>
                <a:latin typeface="Times New Roman"/>
              </a:rPr>
              <a:t>vào</a:t>
            </a:r>
            <a:r>
              <a:rPr sz="2000" dirty="0">
                <a:solidFill>
                  <a:srgbClr val="000000"/>
                </a:solidFill>
                <a:latin typeface="Times New Roman"/>
              </a:rPr>
              <a:t> di </a:t>
            </a:r>
            <a:r>
              <a:rPr sz="2000" dirty="0" err="1">
                <a:solidFill>
                  <a:srgbClr val="000000"/>
                </a:solidFill>
                <a:latin typeface="Times New Roman"/>
              </a:rPr>
              <a:t>chuyển</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chiến</a:t>
            </a:r>
            <a:r>
              <a:rPr sz="2000" dirty="0">
                <a:solidFill>
                  <a:srgbClr val="000000"/>
                </a:solidFill>
                <a:latin typeface="Times New Roman"/>
              </a:rPr>
              <a:t> </a:t>
            </a:r>
            <a:r>
              <a:rPr sz="2000" dirty="0" err="1">
                <a:solidFill>
                  <a:srgbClr val="000000"/>
                </a:solidFill>
                <a:latin typeface="Times New Roman"/>
              </a:rPr>
              <a:t>thuật</a:t>
            </a:r>
            <a:r>
              <a:rPr sz="2000" dirty="0">
                <a:solidFill>
                  <a:srgbClr val="000000"/>
                </a:solidFill>
                <a:latin typeface="Times New Roman"/>
              </a:rPr>
              <a:t> </a:t>
            </a:r>
            <a:r>
              <a:rPr sz="2000" dirty="0" err="1">
                <a:solidFill>
                  <a:srgbClr val="000000"/>
                </a:solidFill>
                <a:latin typeface="Times New Roman"/>
              </a:rPr>
              <a:t>giữ</a:t>
            </a:r>
            <a:r>
              <a:rPr sz="2000" dirty="0">
                <a:solidFill>
                  <a:srgbClr val="000000"/>
                </a:solidFill>
                <a:latin typeface="Times New Roman"/>
              </a:rPr>
              <a:t> </a:t>
            </a:r>
            <a:r>
              <a:rPr sz="2000" dirty="0" err="1">
                <a:solidFill>
                  <a:srgbClr val="000000"/>
                </a:solidFill>
                <a:latin typeface="Times New Roman"/>
              </a:rPr>
              <a:t>vị</a:t>
            </a:r>
            <a:r>
              <a:rPr sz="2000" dirty="0">
                <a:solidFill>
                  <a:srgbClr val="000000"/>
                </a:solidFill>
                <a:latin typeface="Times New Roman"/>
              </a:rPr>
              <a:t> </a:t>
            </a:r>
            <a:r>
              <a:rPr sz="2000" dirty="0" err="1">
                <a:solidFill>
                  <a:srgbClr val="000000"/>
                </a:solidFill>
                <a:latin typeface="Times New Roman"/>
              </a:rPr>
              <a:t>trí</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Cách</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này</a:t>
            </a:r>
            <a:r>
              <a:rPr sz="2000" dirty="0">
                <a:solidFill>
                  <a:srgbClr val="000000"/>
                </a:solidFill>
                <a:latin typeface="Times New Roman"/>
              </a:rPr>
              <a:t> </a:t>
            </a:r>
            <a:r>
              <a:rPr sz="2000" dirty="0" err="1">
                <a:solidFill>
                  <a:srgbClr val="000000"/>
                </a:solidFill>
                <a:latin typeface="Times New Roman"/>
              </a:rPr>
              <a:t>giúp</a:t>
            </a:r>
            <a:r>
              <a:rPr sz="2000" dirty="0">
                <a:solidFill>
                  <a:srgbClr val="000000"/>
                </a:solidFill>
                <a:latin typeface="Times New Roman"/>
              </a:rPr>
              <a:t> </a:t>
            </a:r>
            <a:r>
              <a:rPr sz="2000" dirty="0" err="1">
                <a:solidFill>
                  <a:srgbClr val="000000"/>
                </a:solidFill>
                <a:latin typeface="Times New Roman"/>
              </a:rPr>
              <a:t>trận</a:t>
            </a:r>
            <a:r>
              <a:rPr sz="2000" dirty="0">
                <a:solidFill>
                  <a:srgbClr val="000000"/>
                </a:solidFill>
                <a:latin typeface="Times New Roman"/>
              </a:rPr>
              <a:t> </a:t>
            </a:r>
            <a:r>
              <a:rPr sz="2000" dirty="0" err="1">
                <a:solidFill>
                  <a:srgbClr val="000000"/>
                </a:solidFill>
                <a:latin typeface="Times New Roman"/>
              </a:rPr>
              <a:t>đấu</a:t>
            </a:r>
            <a:r>
              <a:rPr sz="2000" dirty="0">
                <a:solidFill>
                  <a:srgbClr val="000000"/>
                </a:solidFill>
                <a:latin typeface="Times New Roman"/>
              </a:rPr>
              <a:t> </a:t>
            </a:r>
            <a:r>
              <a:rPr sz="2000" dirty="0" err="1">
                <a:solidFill>
                  <a:srgbClr val="000000"/>
                </a:solidFill>
                <a:latin typeface="Times New Roman"/>
              </a:rPr>
              <a:t>diễn</a:t>
            </a:r>
            <a:r>
              <a:rPr sz="2000" dirty="0">
                <a:solidFill>
                  <a:srgbClr val="000000"/>
                </a:solidFill>
                <a:latin typeface="Times New Roman"/>
              </a:rPr>
              <a:t> </a:t>
            </a:r>
            <a:r>
              <a:rPr sz="2000" dirty="0" err="1">
                <a:solidFill>
                  <a:srgbClr val="000000"/>
                </a:solidFill>
                <a:latin typeface="Times New Roman"/>
              </a:rPr>
              <a:t>ra</a:t>
            </a:r>
            <a:r>
              <a:rPr sz="2000" dirty="0">
                <a:solidFill>
                  <a:srgbClr val="000000"/>
                </a:solidFill>
                <a:latin typeface="Times New Roman"/>
              </a:rPr>
              <a:t> </a:t>
            </a:r>
            <a:r>
              <a:rPr sz="2000" dirty="0" err="1">
                <a:solidFill>
                  <a:srgbClr val="000000"/>
                </a:solidFill>
                <a:latin typeface="Times New Roman"/>
              </a:rPr>
              <a:t>nhanh</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tạo</a:t>
            </a:r>
            <a:r>
              <a:rPr sz="2000" dirty="0">
                <a:solidFill>
                  <a:srgbClr val="000000"/>
                </a:solidFill>
                <a:latin typeface="Times New Roman"/>
              </a:rPr>
              <a:t> </a:t>
            </a:r>
            <a:r>
              <a:rPr sz="2000" dirty="0" err="1">
                <a:solidFill>
                  <a:srgbClr val="000000"/>
                </a:solidFill>
                <a:latin typeface="Times New Roman"/>
              </a:rPr>
              <a:t>cảm</a:t>
            </a:r>
            <a:r>
              <a:rPr sz="2000" dirty="0">
                <a:solidFill>
                  <a:srgbClr val="000000"/>
                </a:solidFill>
                <a:latin typeface="Times New Roman"/>
              </a:rPr>
              <a:t> </a:t>
            </a:r>
            <a:r>
              <a:rPr sz="2000" dirty="0" err="1">
                <a:solidFill>
                  <a:srgbClr val="000000"/>
                </a:solidFill>
                <a:latin typeface="Times New Roman"/>
              </a:rPr>
              <a:t>giác</a:t>
            </a:r>
            <a:r>
              <a:rPr sz="2000" dirty="0">
                <a:solidFill>
                  <a:srgbClr val="000000"/>
                </a:solidFill>
                <a:latin typeface="Times New Roman"/>
              </a:rPr>
              <a:t> </a:t>
            </a:r>
            <a:r>
              <a:rPr sz="2000" dirty="0" err="1">
                <a:solidFill>
                  <a:srgbClr val="000000"/>
                </a:solidFill>
                <a:latin typeface="Times New Roman"/>
              </a:rPr>
              <a:t>liên</a:t>
            </a:r>
            <a:r>
              <a:rPr sz="2000" dirty="0">
                <a:solidFill>
                  <a:srgbClr val="000000"/>
                </a:solidFill>
                <a:latin typeface="Times New Roman"/>
              </a:rPr>
              <a:t> </a:t>
            </a:r>
            <a:r>
              <a:rPr sz="2000" dirty="0" err="1">
                <a:solidFill>
                  <a:srgbClr val="000000"/>
                </a:solidFill>
                <a:latin typeface="Times New Roman"/>
              </a:rPr>
              <a:t>tục</a:t>
            </a:r>
            <a:r>
              <a:rPr sz="2000" dirty="0">
                <a:solidFill>
                  <a:srgbClr val="000000"/>
                </a:solidFill>
                <a:latin typeface="Times New Roman"/>
              </a:rPr>
              <a:t>.</a:t>
            </a:r>
          </a:p>
        </p:txBody>
      </p:sp>
      <p:pic>
        <p:nvPicPr>
          <p:cNvPr id="11" name="Picture 10">
            <a:extLst>
              <a:ext uri="{FF2B5EF4-FFF2-40B4-BE49-F238E27FC236}">
                <a16:creationId xmlns:a16="http://schemas.microsoft.com/office/drawing/2014/main" id="{AD20C2F7-1319-F1F7-DF7A-FE92B212BF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153277" y="4425975"/>
            <a:ext cx="4262400" cy="2315824"/>
          </a:xfrm>
          <a:prstGeom prst="rect">
            <a:avLst/>
          </a:prstGeom>
        </p:spPr>
      </p:pic>
      <p:pic>
        <p:nvPicPr>
          <p:cNvPr id="15" name="Picture 14">
            <a:extLst>
              <a:ext uri="{FF2B5EF4-FFF2-40B4-BE49-F238E27FC236}">
                <a16:creationId xmlns:a16="http://schemas.microsoft.com/office/drawing/2014/main" id="{A7E49C27-C494-88C2-3030-CC93D09541D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52392" y="1941851"/>
            <a:ext cx="4262368" cy="2397582"/>
          </a:xfrm>
          <a:prstGeom prst="rect">
            <a:avLst/>
          </a:prstGeom>
        </p:spPr>
      </p:pic>
    </p:spTree>
    <p:extLst>
      <p:ext uri="{BB962C8B-B14F-4D97-AF65-F5344CB8AC3E}">
        <p14:creationId xmlns:p14="http://schemas.microsoft.com/office/powerpoint/2010/main" val="180249757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20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QUY TRÌNH THỰC HIỆN</a:t>
            </a:r>
          </a:p>
        </p:txBody>
      </p:sp>
      <p:sp>
        <p:nvSpPr>
          <p:cNvPr id="3" name="TextBox 2"/>
          <p:cNvSpPr txBox="1"/>
          <p:nvPr/>
        </p:nvSpPr>
        <p:spPr>
          <a:xfrm>
            <a:off x="777240" y="2346645"/>
            <a:ext cx="10682935" cy="399918"/>
          </a:xfrm>
          <a:prstGeom prst="rect">
            <a:avLst/>
          </a:prstGeom>
          <a:noFill/>
        </p:spPr>
        <p:txBody>
          <a:bodyPr wrap="square" lIns="18288" tIns="18288" rIns="18288" bIns="18288" anchor="ctr">
            <a:spAutoFit/>
          </a:bodyPr>
          <a:lstStyle/>
          <a:p>
            <a:pPr algn="l">
              <a:lnSpc>
                <a:spcPct val="105000"/>
              </a:lnSpc>
              <a:spcBef>
                <a:spcPts val="0"/>
              </a:spcBef>
              <a:spcAft>
                <a:spcPts val="1000"/>
              </a:spcAft>
            </a:pPr>
            <a:r>
              <a:rPr sz="2400" b="1">
                <a:latin typeface="Times New Roman"/>
              </a:rPr>
              <a:t>Quái, boss và các đợt tấn công</a:t>
            </a:r>
            <a:endParaRPr sz="2400" b="1" dirty="0">
              <a:solidFill>
                <a:srgbClr val="000000"/>
              </a:solidFill>
              <a:latin typeface="Times New Roman"/>
            </a:endParaRPr>
          </a:p>
        </p:txBody>
      </p:sp>
      <p:sp>
        <p:nvSpPr>
          <p:cNvPr id="4" name="anim-appear-50-line-1"/>
          <p:cNvSpPr txBox="1"/>
          <p:nvPr/>
        </p:nvSpPr>
        <p:spPr>
          <a:xfrm>
            <a:off x="777239" y="2938801"/>
            <a:ext cx="5264129" cy="3437672"/>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0" dirty="0">
                <a:solidFill>
                  <a:srgbClr val="000000"/>
                </a:solidFill>
                <a:latin typeface="Times New Roman"/>
              </a:rPr>
              <a:t>- Trong </a:t>
            </a:r>
            <a:r>
              <a:rPr sz="2000" b="0" dirty="0" err="1">
                <a:solidFill>
                  <a:srgbClr val="000000"/>
                </a:solidFill>
                <a:latin typeface="Times New Roman"/>
              </a:rPr>
              <a:t>trò</a:t>
            </a:r>
            <a:r>
              <a:rPr sz="2000" b="0" dirty="0">
                <a:solidFill>
                  <a:srgbClr val="000000"/>
                </a:solidFill>
                <a:latin typeface="Times New Roman"/>
              </a:rPr>
              <a:t> </a:t>
            </a:r>
            <a:r>
              <a:rPr sz="2000" b="0" dirty="0" err="1">
                <a:solidFill>
                  <a:srgbClr val="000000"/>
                </a:solidFill>
                <a:latin typeface="Times New Roman"/>
              </a:rPr>
              <a:t>chơi</a:t>
            </a:r>
            <a:r>
              <a:rPr sz="2000" b="0" dirty="0">
                <a:solidFill>
                  <a:srgbClr val="000000"/>
                </a:solidFill>
                <a:latin typeface="Times New Roman"/>
              </a:rPr>
              <a:t> </a:t>
            </a:r>
            <a:r>
              <a:rPr sz="2000" b="0" dirty="0" err="1">
                <a:solidFill>
                  <a:srgbClr val="000000"/>
                </a:solidFill>
                <a:latin typeface="Times New Roman"/>
              </a:rPr>
              <a:t>có</a:t>
            </a:r>
            <a:r>
              <a:rPr sz="2000" b="0" dirty="0">
                <a:solidFill>
                  <a:srgbClr val="000000"/>
                </a:solidFill>
                <a:latin typeface="Times New Roman"/>
              </a:rPr>
              <a:t> </a:t>
            </a:r>
            <a:r>
              <a:rPr sz="2000" b="0" dirty="0" err="1">
                <a:solidFill>
                  <a:srgbClr val="000000"/>
                </a:solidFill>
                <a:latin typeface="Times New Roman"/>
              </a:rPr>
              <a:t>nhiều</a:t>
            </a:r>
            <a:r>
              <a:rPr sz="2000" b="0" dirty="0">
                <a:solidFill>
                  <a:srgbClr val="000000"/>
                </a:solidFill>
                <a:latin typeface="Times New Roman"/>
              </a:rPr>
              <a:t> </a:t>
            </a:r>
            <a:r>
              <a:rPr sz="2000" b="0" dirty="0" err="1">
                <a:solidFill>
                  <a:srgbClr val="000000"/>
                </a:solidFill>
                <a:latin typeface="Times New Roman"/>
              </a:rPr>
              <a:t>loại</a:t>
            </a:r>
            <a:r>
              <a:rPr sz="2000" b="0" dirty="0">
                <a:solidFill>
                  <a:srgbClr val="000000"/>
                </a:solidFill>
                <a:latin typeface="Times New Roman"/>
              </a:rPr>
              <a:t> </a:t>
            </a:r>
            <a:r>
              <a:rPr lang="en-US" sz="2000" b="0" dirty="0" err="1">
                <a:solidFill>
                  <a:srgbClr val="000000"/>
                </a:solidFill>
                <a:latin typeface="Times New Roman"/>
              </a:rPr>
              <a:t>quái</a:t>
            </a:r>
            <a:r>
              <a:rPr sz="2000" b="0" dirty="0">
                <a:solidFill>
                  <a:srgbClr val="000000"/>
                </a:solidFill>
                <a:latin typeface="Times New Roman"/>
              </a:rPr>
              <a:t> </a:t>
            </a:r>
            <a:r>
              <a:rPr sz="2000" b="0" dirty="0" err="1">
                <a:solidFill>
                  <a:srgbClr val="000000"/>
                </a:solidFill>
                <a:latin typeface="Times New Roman"/>
              </a:rPr>
              <a:t>như</a:t>
            </a:r>
            <a:r>
              <a:rPr sz="2000" b="0" dirty="0">
                <a:solidFill>
                  <a:srgbClr val="000000"/>
                </a:solidFill>
                <a:latin typeface="Times New Roman"/>
              </a:rPr>
              <a:t> </a:t>
            </a:r>
            <a:r>
              <a:rPr lang="en-US" sz="2000" b="0" dirty="0" err="1">
                <a:solidFill>
                  <a:srgbClr val="000000"/>
                </a:solidFill>
                <a:latin typeface="Times New Roman"/>
              </a:rPr>
              <a:t>quái</a:t>
            </a:r>
            <a:r>
              <a:rPr lang="en-US" sz="2000" b="0" dirty="0">
                <a:solidFill>
                  <a:srgbClr val="000000"/>
                </a:solidFill>
                <a:latin typeface="Times New Roman"/>
              </a:rPr>
              <a:t> </a:t>
            </a:r>
            <a:r>
              <a:rPr sz="2000" b="0" dirty="0">
                <a:solidFill>
                  <a:srgbClr val="000000"/>
                </a:solidFill>
                <a:latin typeface="Times New Roman"/>
              </a:rPr>
              <a:t>bay, </a:t>
            </a:r>
            <a:r>
              <a:rPr lang="en-US" sz="2000" b="0" dirty="0" err="1">
                <a:solidFill>
                  <a:srgbClr val="000000"/>
                </a:solidFill>
                <a:latin typeface="Times New Roman"/>
              </a:rPr>
              <a:t>quái</a:t>
            </a:r>
            <a:r>
              <a:rPr sz="2000" b="0" dirty="0">
                <a:solidFill>
                  <a:srgbClr val="000000"/>
                </a:solidFill>
                <a:latin typeface="Times New Roman"/>
              </a:rPr>
              <a:t> </a:t>
            </a:r>
            <a:r>
              <a:rPr sz="2000" b="0" dirty="0" err="1">
                <a:solidFill>
                  <a:srgbClr val="000000"/>
                </a:solidFill>
                <a:latin typeface="Times New Roman"/>
              </a:rPr>
              <a:t>đánh</a:t>
            </a:r>
            <a:r>
              <a:rPr sz="2000" b="0" dirty="0">
                <a:solidFill>
                  <a:srgbClr val="000000"/>
                </a:solidFill>
                <a:latin typeface="Times New Roman"/>
              </a:rPr>
              <a:t> xa </a:t>
            </a:r>
            <a:r>
              <a:rPr sz="2000" b="0" dirty="0" err="1">
                <a:solidFill>
                  <a:srgbClr val="000000"/>
                </a:solidFill>
                <a:latin typeface="Times New Roman"/>
              </a:rPr>
              <a:t>và</a:t>
            </a:r>
            <a:r>
              <a:rPr sz="2000" b="0" dirty="0">
                <a:solidFill>
                  <a:srgbClr val="000000"/>
                </a:solidFill>
                <a:latin typeface="Times New Roman"/>
              </a:rPr>
              <a:t> </a:t>
            </a:r>
            <a:r>
              <a:rPr lang="en-US" sz="2000" b="0" dirty="0" err="1">
                <a:solidFill>
                  <a:srgbClr val="000000"/>
                </a:solidFill>
                <a:latin typeface="Times New Roman"/>
              </a:rPr>
              <a:t>quái</a:t>
            </a:r>
            <a:r>
              <a:rPr lang="en-US" sz="2000" b="0" dirty="0">
                <a:solidFill>
                  <a:srgbClr val="000000"/>
                </a:solidFill>
                <a:latin typeface="Times New Roman"/>
              </a:rPr>
              <a:t> </a:t>
            </a:r>
            <a:r>
              <a:rPr sz="2000" b="0" dirty="0" err="1">
                <a:solidFill>
                  <a:srgbClr val="000000"/>
                </a:solidFill>
                <a:latin typeface="Times New Roman"/>
              </a:rPr>
              <a:t>cận</a:t>
            </a:r>
            <a:r>
              <a:rPr sz="2000" b="0" dirty="0">
                <a:solidFill>
                  <a:srgbClr val="000000"/>
                </a:solidFill>
                <a:latin typeface="Times New Roman"/>
              </a:rPr>
              <a:t> </a:t>
            </a:r>
            <a:r>
              <a:rPr sz="2000" b="0" dirty="0" err="1">
                <a:solidFill>
                  <a:srgbClr val="000000"/>
                </a:solidFill>
                <a:latin typeface="Times New Roman"/>
              </a:rPr>
              <a:t>chiến</a:t>
            </a:r>
            <a:r>
              <a:rPr sz="2000" b="0" dirty="0">
                <a:solidFill>
                  <a:srgbClr val="000000"/>
                </a:solidFill>
                <a:latin typeface="Times New Roman"/>
              </a:rPr>
              <a:t>.</a:t>
            </a:r>
            <a:endParaRPr lang="en-US" sz="2000" b="0" dirty="0">
              <a:solidFill>
                <a:srgbClr val="000000"/>
              </a:solidFill>
              <a:latin typeface="Times New Roman"/>
            </a:endParaRPr>
          </a:p>
          <a:p>
            <a:pPr algn="l">
              <a:lnSpc>
                <a:spcPct val="105000"/>
              </a:lnSpc>
              <a:spcBef>
                <a:spcPts val="0"/>
              </a:spcBef>
              <a:spcAft>
                <a:spcPts val="1000"/>
              </a:spcAft>
            </a:pPr>
            <a:r>
              <a:rPr sz="2000" b="0" dirty="0">
                <a:latin typeface="Times New Roman"/>
              </a:rPr>
              <a:t>- Các </a:t>
            </a:r>
            <a:r>
              <a:rPr sz="2000" b="0" dirty="0" err="1">
                <a:latin typeface="Times New Roman"/>
              </a:rPr>
              <a:t>loại</a:t>
            </a:r>
            <a:r>
              <a:rPr sz="2000" b="0" dirty="0">
                <a:latin typeface="Times New Roman"/>
              </a:rPr>
              <a:t> </a:t>
            </a:r>
            <a:r>
              <a:rPr sz="2000" b="0" dirty="0" err="1">
                <a:latin typeface="Times New Roman"/>
              </a:rPr>
              <a:t>quái</a:t>
            </a:r>
            <a:r>
              <a:rPr sz="2000" b="0" dirty="0">
                <a:latin typeface="Times New Roman"/>
              </a:rPr>
              <a:t> </a:t>
            </a:r>
            <a:r>
              <a:rPr sz="2000" b="0" dirty="0" err="1">
                <a:latin typeface="Times New Roman"/>
              </a:rPr>
              <a:t>xuất</a:t>
            </a:r>
            <a:r>
              <a:rPr sz="2000" b="0" dirty="0">
                <a:latin typeface="Times New Roman"/>
              </a:rPr>
              <a:t> </a:t>
            </a:r>
            <a:r>
              <a:rPr sz="2000" b="0" dirty="0" err="1">
                <a:latin typeface="Times New Roman"/>
              </a:rPr>
              <a:t>hiện</a:t>
            </a:r>
            <a:r>
              <a:rPr sz="2000" b="0" dirty="0">
                <a:latin typeface="Times New Roman"/>
              </a:rPr>
              <a:t> </a:t>
            </a:r>
            <a:r>
              <a:rPr sz="2000" b="0" dirty="0" err="1">
                <a:latin typeface="Times New Roman"/>
              </a:rPr>
              <a:t>theo</a:t>
            </a:r>
            <a:r>
              <a:rPr sz="2000" b="0" dirty="0">
                <a:latin typeface="Times New Roman"/>
              </a:rPr>
              <a:t> </a:t>
            </a:r>
            <a:r>
              <a:rPr sz="2000" b="0" dirty="0" err="1">
                <a:latin typeface="Times New Roman"/>
              </a:rPr>
              <a:t>từng</a:t>
            </a:r>
            <a:r>
              <a:rPr sz="2000" b="0" dirty="0">
                <a:latin typeface="Times New Roman"/>
              </a:rPr>
              <a:t> </a:t>
            </a:r>
            <a:r>
              <a:rPr sz="2000" b="0" dirty="0" err="1">
                <a:latin typeface="Times New Roman"/>
              </a:rPr>
              <a:t>đợt</a:t>
            </a:r>
            <a:r>
              <a:rPr sz="2000" b="0" dirty="0">
                <a:latin typeface="Times New Roman"/>
              </a:rPr>
              <a:t> </a:t>
            </a:r>
            <a:r>
              <a:rPr sz="2000" b="0" dirty="0" err="1">
                <a:latin typeface="Times New Roman"/>
              </a:rPr>
              <a:t>để</a:t>
            </a:r>
            <a:r>
              <a:rPr sz="2000" b="0" dirty="0">
                <a:latin typeface="Times New Roman"/>
              </a:rPr>
              <a:t> </a:t>
            </a:r>
            <a:r>
              <a:rPr sz="2000" b="0" dirty="0" err="1">
                <a:latin typeface="Times New Roman"/>
              </a:rPr>
              <a:t>tạo</a:t>
            </a:r>
            <a:r>
              <a:rPr sz="2000" b="0" dirty="0">
                <a:latin typeface="Times New Roman"/>
              </a:rPr>
              <a:t> </a:t>
            </a:r>
            <a:r>
              <a:rPr sz="2000" b="0" dirty="0" err="1">
                <a:latin typeface="Times New Roman"/>
              </a:rPr>
              <a:t>áp</a:t>
            </a:r>
            <a:r>
              <a:rPr sz="2000" b="0" dirty="0">
                <a:latin typeface="Times New Roman"/>
              </a:rPr>
              <a:t> </a:t>
            </a:r>
            <a:r>
              <a:rPr sz="2000" b="0" dirty="0" err="1">
                <a:latin typeface="Times New Roman"/>
              </a:rPr>
              <a:t>lực</a:t>
            </a:r>
            <a:r>
              <a:rPr sz="2000" b="0" dirty="0">
                <a:latin typeface="Times New Roman"/>
              </a:rPr>
              <a:t> </a:t>
            </a:r>
            <a:r>
              <a:rPr sz="2000" b="0" dirty="0" err="1">
                <a:latin typeface="Times New Roman"/>
              </a:rPr>
              <a:t>cho</a:t>
            </a:r>
            <a:r>
              <a:rPr sz="2000" b="0" dirty="0">
                <a:latin typeface="Times New Roman"/>
              </a:rPr>
              <a:t> </a:t>
            </a:r>
            <a:r>
              <a:rPr sz="2000" b="0" dirty="0" err="1">
                <a:latin typeface="Times New Roman"/>
              </a:rPr>
              <a:t>người</a:t>
            </a:r>
            <a:r>
              <a:rPr sz="2000" b="0" dirty="0">
                <a:latin typeface="Times New Roman"/>
              </a:rPr>
              <a:t> </a:t>
            </a:r>
            <a:r>
              <a:rPr sz="2000" b="0" dirty="0" err="1">
                <a:latin typeface="Times New Roman"/>
              </a:rPr>
              <a:t>chơi</a:t>
            </a:r>
            <a:r>
              <a:rPr sz="2000" b="0" dirty="0">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Độ</a:t>
            </a:r>
            <a:r>
              <a:rPr sz="2000" dirty="0">
                <a:solidFill>
                  <a:srgbClr val="000000"/>
                </a:solidFill>
                <a:latin typeface="Times New Roman"/>
              </a:rPr>
              <a:t> </a:t>
            </a:r>
            <a:r>
              <a:rPr sz="2000" dirty="0" err="1">
                <a:solidFill>
                  <a:srgbClr val="000000"/>
                </a:solidFill>
                <a:latin typeface="Times New Roman"/>
              </a:rPr>
              <a:t>khó</a:t>
            </a:r>
            <a:r>
              <a:rPr sz="2000" dirty="0">
                <a:solidFill>
                  <a:srgbClr val="000000"/>
                </a:solidFill>
                <a:latin typeface="Times New Roman"/>
              </a:rPr>
              <a:t> </a:t>
            </a:r>
            <a:r>
              <a:rPr sz="2000" dirty="0" err="1">
                <a:solidFill>
                  <a:srgbClr val="000000"/>
                </a:solidFill>
                <a:latin typeface="Times New Roman"/>
              </a:rPr>
              <a:t>của</a:t>
            </a:r>
            <a:r>
              <a:rPr sz="2000" dirty="0">
                <a:solidFill>
                  <a:srgbClr val="000000"/>
                </a:solidFill>
                <a:latin typeface="Times New Roman"/>
              </a:rPr>
              <a:t> </a:t>
            </a:r>
            <a:r>
              <a:rPr sz="2000" dirty="0" err="1">
                <a:solidFill>
                  <a:srgbClr val="000000"/>
                </a:solidFill>
                <a:latin typeface="Times New Roman"/>
              </a:rPr>
              <a:t>trò</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tăng</a:t>
            </a:r>
            <a:r>
              <a:rPr sz="2000" dirty="0">
                <a:solidFill>
                  <a:srgbClr val="000000"/>
                </a:solidFill>
                <a:latin typeface="Times New Roman"/>
              </a:rPr>
              <a:t> </a:t>
            </a:r>
            <a:r>
              <a:rPr sz="2000" dirty="0" err="1">
                <a:solidFill>
                  <a:srgbClr val="000000"/>
                </a:solidFill>
                <a:latin typeface="Times New Roman"/>
              </a:rPr>
              <a:t>dần</a:t>
            </a:r>
            <a:r>
              <a:rPr sz="2000" dirty="0">
                <a:solidFill>
                  <a:srgbClr val="000000"/>
                </a:solidFill>
                <a:latin typeface="Times New Roman"/>
              </a:rPr>
              <a:t> </a:t>
            </a:r>
            <a:r>
              <a:rPr sz="2000" dirty="0" err="1">
                <a:solidFill>
                  <a:srgbClr val="000000"/>
                </a:solidFill>
                <a:latin typeface="Times New Roman"/>
              </a:rPr>
              <a:t>theo</a:t>
            </a:r>
            <a:r>
              <a:rPr sz="2000" dirty="0">
                <a:solidFill>
                  <a:srgbClr val="000000"/>
                </a:solidFill>
                <a:latin typeface="Times New Roman"/>
              </a:rPr>
              <a:t> </a:t>
            </a:r>
            <a:r>
              <a:rPr sz="2000" dirty="0" err="1">
                <a:solidFill>
                  <a:srgbClr val="000000"/>
                </a:solidFill>
                <a:latin typeface="Times New Roman"/>
              </a:rPr>
              <a:t>từng</a:t>
            </a:r>
            <a:r>
              <a:rPr sz="2000" dirty="0">
                <a:solidFill>
                  <a:srgbClr val="000000"/>
                </a:solidFill>
                <a:latin typeface="Times New Roman"/>
              </a:rPr>
              <a:t> </a:t>
            </a:r>
            <a:r>
              <a:rPr lang="en-US" sz="2000" dirty="0" err="1">
                <a:solidFill>
                  <a:srgbClr val="000000"/>
                </a:solidFill>
                <a:latin typeface="Times New Roman"/>
              </a:rPr>
              <a:t>đợt</a:t>
            </a:r>
            <a:r>
              <a:rPr lang="en-US" sz="2000" dirty="0">
                <a:solidFill>
                  <a:srgbClr val="000000"/>
                </a:solidFill>
                <a:latin typeface="Times New Roman"/>
              </a:rPr>
              <a:t> </a:t>
            </a:r>
            <a:r>
              <a:rPr sz="2000" dirty="0" err="1">
                <a:solidFill>
                  <a:srgbClr val="000000"/>
                </a:solidFill>
                <a:latin typeface="Times New Roman"/>
              </a:rPr>
              <a:t>thông</a:t>
            </a:r>
            <a:r>
              <a:rPr sz="2000" dirty="0">
                <a:solidFill>
                  <a:srgbClr val="000000"/>
                </a:solidFill>
                <a:latin typeface="Times New Roman"/>
              </a:rPr>
              <a:t> qua </a:t>
            </a:r>
            <a:r>
              <a:rPr sz="2000" dirty="0" err="1">
                <a:solidFill>
                  <a:srgbClr val="000000"/>
                </a:solidFill>
                <a:latin typeface="Times New Roman"/>
              </a:rPr>
              <a:t>số</a:t>
            </a:r>
            <a:r>
              <a:rPr sz="2000" dirty="0">
                <a:solidFill>
                  <a:srgbClr val="000000"/>
                </a:solidFill>
                <a:latin typeface="Times New Roman"/>
              </a:rPr>
              <a:t> </a:t>
            </a:r>
            <a:r>
              <a:rPr sz="2000" dirty="0" err="1">
                <a:solidFill>
                  <a:srgbClr val="000000"/>
                </a:solidFill>
                <a:latin typeface="Times New Roman"/>
              </a:rPr>
              <a:t>lượng</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loại</a:t>
            </a:r>
            <a:r>
              <a:rPr sz="2000" dirty="0">
                <a:solidFill>
                  <a:srgbClr val="000000"/>
                </a:solidFill>
                <a:latin typeface="Times New Roman"/>
              </a:rPr>
              <a:t> </a:t>
            </a:r>
            <a:r>
              <a:rPr lang="en-US" sz="2000" dirty="0" err="1">
                <a:solidFill>
                  <a:srgbClr val="000000"/>
                </a:solidFill>
                <a:latin typeface="Times New Roman"/>
              </a:rPr>
              <a:t>quái</a:t>
            </a:r>
            <a:r>
              <a:rPr lang="en-US" sz="2000" dirty="0">
                <a:solidFill>
                  <a:srgbClr val="000000"/>
                </a:solidFill>
                <a:latin typeface="Times New Roman"/>
              </a:rPr>
              <a:t>, </a:t>
            </a:r>
            <a:r>
              <a:rPr lang="en-US" sz="2000" dirty="0" err="1">
                <a:solidFill>
                  <a:srgbClr val="000000"/>
                </a:solidFill>
                <a:latin typeface="Times New Roman"/>
              </a:rPr>
              <a:t>và</a:t>
            </a:r>
            <a:r>
              <a:rPr lang="en-US" sz="2000" dirty="0">
                <a:solidFill>
                  <a:srgbClr val="000000"/>
                </a:solidFill>
                <a:latin typeface="Times New Roman"/>
              </a:rPr>
              <a:t> </a:t>
            </a:r>
            <a:r>
              <a:rPr lang="en-US" sz="2000" dirty="0" err="1">
                <a:solidFill>
                  <a:srgbClr val="000000"/>
                </a:solidFill>
                <a:latin typeface="Times New Roman"/>
              </a:rPr>
              <a:t>chỉ</a:t>
            </a:r>
            <a:r>
              <a:rPr lang="en-US" sz="2000" dirty="0">
                <a:solidFill>
                  <a:srgbClr val="000000"/>
                </a:solidFill>
                <a:latin typeface="Times New Roman"/>
              </a:rPr>
              <a:t> </a:t>
            </a:r>
            <a:r>
              <a:rPr lang="en-US" sz="2000" dirty="0" err="1">
                <a:solidFill>
                  <a:srgbClr val="000000"/>
                </a:solidFill>
                <a:latin typeface="Times New Roman"/>
              </a:rPr>
              <a:t>số</a:t>
            </a:r>
            <a:r>
              <a:rPr sz="2000" dirty="0">
                <a:solidFill>
                  <a:srgbClr val="000000"/>
                </a:solidFill>
                <a:latin typeface="Times New Roman"/>
              </a:rPr>
              <a:t>.</a:t>
            </a:r>
            <a:endParaRPr lang="en-US" sz="2000" dirty="0">
              <a:solidFill>
                <a:srgbClr val="000000"/>
              </a:solidFill>
              <a:latin typeface="Times New Roman"/>
            </a:endParaRPr>
          </a:p>
          <a:p>
            <a:pPr>
              <a:lnSpc>
                <a:spcPct val="105000"/>
              </a:lnSpc>
              <a:spcAft>
                <a:spcPts val="1000"/>
              </a:spcAft>
            </a:pPr>
            <a:r>
              <a:rPr lang="en-US" sz="2000" dirty="0">
                <a:solidFill>
                  <a:srgbClr val="000000"/>
                </a:solidFill>
                <a:latin typeface="Times New Roman"/>
              </a:rPr>
              <a:t>- Ở </a:t>
            </a:r>
            <a:r>
              <a:rPr lang="en-US" sz="2000" dirty="0" err="1">
                <a:solidFill>
                  <a:srgbClr val="000000"/>
                </a:solidFill>
                <a:latin typeface="Times New Roman"/>
              </a:rPr>
              <a:t>những</a:t>
            </a:r>
            <a:r>
              <a:rPr lang="en-US" sz="2000" dirty="0">
                <a:solidFill>
                  <a:srgbClr val="000000"/>
                </a:solidFill>
                <a:latin typeface="Times New Roman"/>
              </a:rPr>
              <a:t> </a:t>
            </a:r>
            <a:r>
              <a:rPr lang="en-US" sz="2000" dirty="0" err="1">
                <a:solidFill>
                  <a:srgbClr val="000000"/>
                </a:solidFill>
                <a:latin typeface="Times New Roman"/>
              </a:rPr>
              <a:t>mốc</a:t>
            </a:r>
            <a:r>
              <a:rPr lang="en-US" sz="2000" dirty="0">
                <a:solidFill>
                  <a:srgbClr val="000000"/>
                </a:solidFill>
                <a:latin typeface="Times New Roman"/>
              </a:rPr>
              <a:t> </a:t>
            </a:r>
            <a:r>
              <a:rPr lang="en-US" sz="2000" dirty="0" err="1">
                <a:solidFill>
                  <a:srgbClr val="000000"/>
                </a:solidFill>
                <a:latin typeface="Times New Roman"/>
              </a:rPr>
              <a:t>nhất</a:t>
            </a:r>
            <a:r>
              <a:rPr lang="en-US" sz="2000" dirty="0">
                <a:solidFill>
                  <a:srgbClr val="000000"/>
                </a:solidFill>
                <a:latin typeface="Times New Roman"/>
              </a:rPr>
              <a:t> </a:t>
            </a:r>
            <a:r>
              <a:rPr lang="en-US" sz="2000" dirty="0" err="1">
                <a:solidFill>
                  <a:srgbClr val="000000"/>
                </a:solidFill>
                <a:latin typeface="Times New Roman"/>
              </a:rPr>
              <a:t>định</a:t>
            </a:r>
            <a:r>
              <a:rPr lang="en-US" sz="2000" dirty="0">
                <a:solidFill>
                  <a:srgbClr val="000000"/>
                </a:solidFill>
                <a:latin typeface="Times New Roman"/>
              </a:rPr>
              <a:t> </a:t>
            </a:r>
            <a:r>
              <a:rPr lang="en-US" sz="2000" dirty="0" err="1">
                <a:solidFill>
                  <a:srgbClr val="000000"/>
                </a:solidFill>
                <a:latin typeface="Times New Roman"/>
              </a:rPr>
              <a:t>sẽ</a:t>
            </a:r>
            <a:r>
              <a:rPr lang="en-US" sz="2000" dirty="0">
                <a:solidFill>
                  <a:srgbClr val="000000"/>
                </a:solidFill>
                <a:latin typeface="Times New Roman"/>
              </a:rPr>
              <a:t> </a:t>
            </a:r>
            <a:r>
              <a:rPr lang="en-US" sz="2000" dirty="0" err="1">
                <a:solidFill>
                  <a:srgbClr val="000000"/>
                </a:solidFill>
                <a:latin typeface="Times New Roman"/>
              </a:rPr>
              <a:t>xuất</a:t>
            </a:r>
            <a:r>
              <a:rPr lang="en-US" sz="2000" dirty="0">
                <a:solidFill>
                  <a:srgbClr val="000000"/>
                </a:solidFill>
                <a:latin typeface="Times New Roman"/>
              </a:rPr>
              <a:t> </a:t>
            </a:r>
            <a:r>
              <a:rPr lang="en-US" sz="2000" dirty="0" err="1">
                <a:solidFill>
                  <a:srgbClr val="000000"/>
                </a:solidFill>
                <a:latin typeface="Times New Roman"/>
              </a:rPr>
              <a:t>hiện</a:t>
            </a:r>
            <a:r>
              <a:rPr lang="en-US" sz="2000" dirty="0">
                <a:solidFill>
                  <a:srgbClr val="000000"/>
                </a:solidFill>
                <a:latin typeface="Times New Roman"/>
              </a:rPr>
              <a:t> boss </a:t>
            </a:r>
            <a:r>
              <a:rPr lang="en-US" sz="2000" dirty="0" err="1">
                <a:solidFill>
                  <a:srgbClr val="000000"/>
                </a:solidFill>
                <a:latin typeface="Times New Roman"/>
              </a:rPr>
              <a:t>để</a:t>
            </a:r>
            <a:r>
              <a:rPr lang="en-US" sz="2000" dirty="0">
                <a:solidFill>
                  <a:srgbClr val="000000"/>
                </a:solidFill>
                <a:latin typeface="Times New Roman"/>
              </a:rPr>
              <a:t> </a:t>
            </a:r>
            <a:r>
              <a:rPr lang="en-US" sz="2000" dirty="0" err="1">
                <a:solidFill>
                  <a:srgbClr val="000000"/>
                </a:solidFill>
                <a:latin typeface="Times New Roman"/>
              </a:rPr>
              <a:t>tăng</a:t>
            </a:r>
            <a:r>
              <a:rPr lang="en-US" sz="2000" dirty="0">
                <a:solidFill>
                  <a:srgbClr val="000000"/>
                </a:solidFill>
                <a:latin typeface="Times New Roman"/>
              </a:rPr>
              <a:t> </a:t>
            </a:r>
            <a:r>
              <a:rPr lang="en-US" sz="2000" dirty="0" err="1">
                <a:solidFill>
                  <a:srgbClr val="000000"/>
                </a:solidFill>
                <a:latin typeface="Times New Roman"/>
              </a:rPr>
              <a:t>thử</a:t>
            </a:r>
            <a:r>
              <a:rPr lang="en-US" sz="2000" dirty="0">
                <a:solidFill>
                  <a:srgbClr val="000000"/>
                </a:solidFill>
                <a:latin typeface="Times New Roman"/>
              </a:rPr>
              <a:t> </a:t>
            </a:r>
            <a:r>
              <a:rPr lang="en-US" sz="2000" dirty="0" err="1">
                <a:solidFill>
                  <a:srgbClr val="000000"/>
                </a:solidFill>
                <a:latin typeface="Times New Roman"/>
              </a:rPr>
              <a:t>thách</a:t>
            </a:r>
            <a:r>
              <a:rPr lang="en-US" sz="2000" dirty="0">
                <a:solidFill>
                  <a:srgbClr val="000000"/>
                </a:solidFill>
                <a:latin typeface="Times New Roman"/>
              </a:rPr>
              <a:t> </a:t>
            </a:r>
            <a:r>
              <a:rPr lang="en-US" sz="2000" dirty="0" err="1">
                <a:solidFill>
                  <a:srgbClr val="000000"/>
                </a:solidFill>
                <a:latin typeface="Times New Roman"/>
              </a:rPr>
              <a:t>và</a:t>
            </a:r>
            <a:r>
              <a:rPr lang="en-US" sz="2000" dirty="0">
                <a:solidFill>
                  <a:srgbClr val="000000"/>
                </a:solidFill>
                <a:latin typeface="Times New Roman"/>
              </a:rPr>
              <a:t> </a:t>
            </a:r>
            <a:r>
              <a:rPr lang="en-US" sz="2000" dirty="0" err="1">
                <a:solidFill>
                  <a:srgbClr val="000000"/>
                </a:solidFill>
                <a:latin typeface="Times New Roman"/>
              </a:rPr>
              <a:t>tạo</a:t>
            </a:r>
            <a:r>
              <a:rPr lang="en-US" sz="2000" dirty="0">
                <a:solidFill>
                  <a:srgbClr val="000000"/>
                </a:solidFill>
                <a:latin typeface="Times New Roman"/>
              </a:rPr>
              <a:t> </a:t>
            </a:r>
            <a:r>
              <a:rPr lang="en-US" sz="2000" dirty="0" err="1">
                <a:solidFill>
                  <a:srgbClr val="000000"/>
                </a:solidFill>
                <a:latin typeface="Times New Roman"/>
              </a:rPr>
              <a:t>cao</a:t>
            </a:r>
            <a:r>
              <a:rPr lang="en-US" sz="2000" dirty="0">
                <a:solidFill>
                  <a:srgbClr val="000000"/>
                </a:solidFill>
                <a:latin typeface="Times New Roman"/>
              </a:rPr>
              <a:t> </a:t>
            </a:r>
            <a:r>
              <a:rPr lang="en-US" sz="2000" dirty="0" err="1">
                <a:solidFill>
                  <a:srgbClr val="000000"/>
                </a:solidFill>
                <a:latin typeface="Times New Roman"/>
              </a:rPr>
              <a:t>trào</a:t>
            </a:r>
            <a:r>
              <a:rPr lang="en-US" sz="2000" dirty="0">
                <a:solidFill>
                  <a:srgbClr val="000000"/>
                </a:solidFill>
                <a:latin typeface="Times New Roman"/>
              </a:rPr>
              <a:t>.</a:t>
            </a:r>
          </a:p>
          <a:p>
            <a:pPr>
              <a:lnSpc>
                <a:spcPct val="105000"/>
              </a:lnSpc>
              <a:spcBef>
                <a:spcPts val="0"/>
              </a:spcBef>
              <a:spcAft>
                <a:spcPts val="1000"/>
              </a:spcAft>
            </a:pPr>
            <a:r>
              <a:rPr sz="2000" b="0" dirty="0">
                <a:latin typeface="Times New Roman"/>
              </a:rPr>
              <a:t>- </a:t>
            </a:r>
            <a:r>
              <a:rPr lang="en-US" sz="2000" b="0" dirty="0" err="1">
                <a:latin typeface="Times New Roman"/>
              </a:rPr>
              <a:t>Mỗi</a:t>
            </a:r>
            <a:r>
              <a:rPr lang="en-US" sz="2000" b="0" dirty="0">
                <a:latin typeface="Times New Roman"/>
              </a:rPr>
              <a:t> 10 </a:t>
            </a:r>
            <a:r>
              <a:rPr lang="en-US" sz="2000" b="0" dirty="0" err="1">
                <a:latin typeface="Times New Roman"/>
              </a:rPr>
              <a:t>đợt</a:t>
            </a:r>
            <a:r>
              <a:rPr lang="en-US" sz="2000" b="0" dirty="0">
                <a:latin typeface="Times New Roman"/>
              </a:rPr>
              <a:t> </a:t>
            </a:r>
            <a:r>
              <a:rPr lang="en-US" sz="2000" b="0" dirty="0" err="1">
                <a:latin typeface="Times New Roman"/>
              </a:rPr>
              <a:t>quái</a:t>
            </a:r>
            <a:r>
              <a:rPr lang="en-US" sz="2000" b="0" dirty="0">
                <a:latin typeface="Times New Roman"/>
              </a:rPr>
              <a:t> </a:t>
            </a:r>
            <a:r>
              <a:rPr lang="en-US" sz="2000" b="0" dirty="0" err="1">
                <a:latin typeface="Times New Roman"/>
              </a:rPr>
              <a:t>sẽ</a:t>
            </a:r>
            <a:r>
              <a:rPr lang="en-US" sz="2000" b="0" dirty="0">
                <a:latin typeface="Times New Roman"/>
              </a:rPr>
              <a:t> </a:t>
            </a:r>
            <a:r>
              <a:rPr lang="en-US" sz="2000" b="0" dirty="0" err="1">
                <a:latin typeface="Times New Roman"/>
              </a:rPr>
              <a:t>có</a:t>
            </a:r>
            <a:r>
              <a:rPr lang="en-US" sz="2000" b="0" dirty="0">
                <a:latin typeface="Times New Roman"/>
              </a:rPr>
              <a:t> 1 </a:t>
            </a:r>
            <a:r>
              <a:rPr lang="en-US" sz="2000" b="0" dirty="0" err="1">
                <a:latin typeface="Times New Roman"/>
              </a:rPr>
              <a:t>đợt</a:t>
            </a:r>
            <a:r>
              <a:rPr lang="en-US" sz="2000" b="0" dirty="0">
                <a:latin typeface="Times New Roman"/>
              </a:rPr>
              <a:t> boss</a:t>
            </a:r>
            <a:endParaRPr lang="en-US" sz="2000" dirty="0">
              <a:solidFill>
                <a:srgbClr val="000000"/>
              </a:solidFill>
              <a:latin typeface="Times New Roman"/>
            </a:endParaRPr>
          </a:p>
        </p:txBody>
      </p:sp>
      <p:pic>
        <p:nvPicPr>
          <p:cNvPr id="9" name="anim-fade-10-enemy-1" descr="doc_image_37.png"/>
          <p:cNvPicPr>
            <a:picLocks noChangeAspect="1"/>
          </p:cNvPicPr>
          <p:nvPr/>
        </p:nvPicPr>
        <p:blipFill>
          <a:blip r:embed="rId2"/>
          <a:stretch>
            <a:fillRect/>
          </a:stretch>
        </p:blipFill>
        <p:spPr>
          <a:xfrm>
            <a:off x="6450768" y="2437533"/>
            <a:ext cx="2564384" cy="1440000"/>
          </a:xfrm>
          <a:prstGeom prst="rect">
            <a:avLst/>
          </a:prstGeom>
          <a:ln w="8890">
            <a:solidFill>
              <a:srgbClr val="1F4E79"/>
            </a:solidFill>
          </a:ln>
        </p:spPr>
      </p:pic>
      <p:sp>
        <p:nvSpPr>
          <p:cNvPr id="10" name="anim-appear-11-enemy-cap-1"/>
          <p:cNvSpPr txBox="1"/>
          <p:nvPr/>
        </p:nvSpPr>
        <p:spPr>
          <a:xfrm>
            <a:off x="6626536" y="3999705"/>
            <a:ext cx="2212848" cy="256032"/>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a:solidFill>
                  <a:srgbClr val="000000"/>
                </a:solidFill>
                <a:latin typeface="Times New Roman"/>
              </a:rPr>
              <a:t>Quái bay</a:t>
            </a:r>
          </a:p>
        </p:txBody>
      </p:sp>
      <p:pic>
        <p:nvPicPr>
          <p:cNvPr id="12" name="anim-fade-20-enemy-2" descr="doc_image_38.png"/>
          <p:cNvPicPr>
            <a:picLocks noChangeAspect="1"/>
          </p:cNvPicPr>
          <p:nvPr/>
        </p:nvPicPr>
        <p:blipFill>
          <a:blip r:embed="rId3"/>
          <a:stretch>
            <a:fillRect/>
          </a:stretch>
        </p:blipFill>
        <p:spPr>
          <a:xfrm>
            <a:off x="9158293" y="2451354"/>
            <a:ext cx="2553128" cy="1440000"/>
          </a:xfrm>
          <a:prstGeom prst="rect">
            <a:avLst/>
          </a:prstGeom>
          <a:ln w="8890">
            <a:solidFill>
              <a:srgbClr val="1F4E79"/>
            </a:solidFill>
          </a:ln>
        </p:spPr>
      </p:pic>
      <p:sp>
        <p:nvSpPr>
          <p:cNvPr id="13" name="anim-appear-21-enemy-cap-2"/>
          <p:cNvSpPr txBox="1"/>
          <p:nvPr/>
        </p:nvSpPr>
        <p:spPr>
          <a:xfrm>
            <a:off x="9328433" y="3983242"/>
            <a:ext cx="2212848" cy="256032"/>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err="1">
                <a:solidFill>
                  <a:srgbClr val="000000"/>
                </a:solidFill>
                <a:latin typeface="Times New Roman"/>
              </a:rPr>
              <a:t>Quái</a:t>
            </a:r>
            <a:r>
              <a:rPr sz="2000" b="0" dirty="0">
                <a:solidFill>
                  <a:srgbClr val="000000"/>
                </a:solidFill>
                <a:latin typeface="Times New Roman"/>
              </a:rPr>
              <a:t> </a:t>
            </a:r>
            <a:r>
              <a:rPr sz="2000" b="0" dirty="0" err="1">
                <a:solidFill>
                  <a:srgbClr val="000000"/>
                </a:solidFill>
                <a:latin typeface="Times New Roman"/>
              </a:rPr>
              <a:t>đánh</a:t>
            </a:r>
            <a:r>
              <a:rPr sz="2000" b="0" dirty="0">
                <a:solidFill>
                  <a:srgbClr val="000000"/>
                </a:solidFill>
                <a:latin typeface="Times New Roman"/>
              </a:rPr>
              <a:t> xa</a:t>
            </a:r>
          </a:p>
        </p:txBody>
      </p:sp>
      <p:pic>
        <p:nvPicPr>
          <p:cNvPr id="15" name="anim-fade-30-enemy-3" descr="doc_image_39.png"/>
          <p:cNvPicPr>
            <a:picLocks noChangeAspect="1"/>
          </p:cNvPicPr>
          <p:nvPr/>
        </p:nvPicPr>
        <p:blipFill>
          <a:blip r:embed="rId4"/>
          <a:stretch>
            <a:fillRect/>
          </a:stretch>
        </p:blipFill>
        <p:spPr>
          <a:xfrm>
            <a:off x="6450768" y="4695082"/>
            <a:ext cx="2561963" cy="1440000"/>
          </a:xfrm>
          <a:prstGeom prst="rect">
            <a:avLst/>
          </a:prstGeom>
          <a:ln w="8890">
            <a:solidFill>
              <a:srgbClr val="1F4E79"/>
            </a:solidFill>
          </a:ln>
        </p:spPr>
      </p:pic>
      <p:sp>
        <p:nvSpPr>
          <p:cNvPr id="16" name="anim-appear-31-enemy-cap-3"/>
          <p:cNvSpPr txBox="1"/>
          <p:nvPr/>
        </p:nvSpPr>
        <p:spPr>
          <a:xfrm>
            <a:off x="6624115" y="6277627"/>
            <a:ext cx="2212848" cy="256032"/>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err="1">
                <a:solidFill>
                  <a:srgbClr val="000000"/>
                </a:solidFill>
                <a:latin typeface="Times New Roman"/>
              </a:rPr>
              <a:t>Quái</a:t>
            </a:r>
            <a:r>
              <a:rPr sz="2000" b="0" dirty="0">
                <a:solidFill>
                  <a:srgbClr val="000000"/>
                </a:solidFill>
                <a:latin typeface="Times New Roman"/>
              </a:rPr>
              <a:t> </a:t>
            </a:r>
            <a:r>
              <a:rPr sz="2000" b="0" dirty="0" err="1">
                <a:solidFill>
                  <a:srgbClr val="000000"/>
                </a:solidFill>
                <a:latin typeface="Times New Roman"/>
              </a:rPr>
              <a:t>cận</a:t>
            </a:r>
            <a:r>
              <a:rPr sz="2000" b="0" dirty="0">
                <a:solidFill>
                  <a:srgbClr val="000000"/>
                </a:solidFill>
                <a:latin typeface="Times New Roman"/>
              </a:rPr>
              <a:t> </a:t>
            </a:r>
            <a:r>
              <a:rPr sz="2000" b="0" dirty="0" err="1">
                <a:solidFill>
                  <a:srgbClr val="000000"/>
                </a:solidFill>
                <a:latin typeface="Times New Roman"/>
              </a:rPr>
              <a:t>chiến</a:t>
            </a:r>
            <a:endParaRPr sz="2000" b="0" dirty="0">
              <a:solidFill>
                <a:srgbClr val="000000"/>
              </a:solidFill>
              <a:latin typeface="Times New Roman"/>
            </a:endParaRPr>
          </a:p>
        </p:txBody>
      </p:sp>
      <p:pic>
        <p:nvPicPr>
          <p:cNvPr id="18" name="anim-fade-40-enemy-4" descr="doc_image_40.png"/>
          <p:cNvPicPr>
            <a:picLocks noChangeAspect="1"/>
          </p:cNvPicPr>
          <p:nvPr/>
        </p:nvPicPr>
        <p:blipFill>
          <a:blip r:embed="rId5"/>
          <a:stretch>
            <a:fillRect/>
          </a:stretch>
        </p:blipFill>
        <p:spPr>
          <a:xfrm>
            <a:off x="9177323" y="4708903"/>
            <a:ext cx="2561963" cy="1440000"/>
          </a:xfrm>
          <a:prstGeom prst="rect">
            <a:avLst/>
          </a:prstGeom>
          <a:ln w="8890">
            <a:solidFill>
              <a:srgbClr val="1F4E79"/>
            </a:solidFill>
          </a:ln>
        </p:spPr>
      </p:pic>
      <p:sp>
        <p:nvSpPr>
          <p:cNvPr id="19" name="anim-appear-41-enemy-cap-4"/>
          <p:cNvSpPr txBox="1"/>
          <p:nvPr/>
        </p:nvSpPr>
        <p:spPr>
          <a:xfrm>
            <a:off x="9419709" y="6235949"/>
            <a:ext cx="2212848" cy="339388"/>
          </a:xfrm>
          <a:prstGeom prst="rect">
            <a:avLst/>
          </a:prstGeom>
          <a:noFill/>
        </p:spPr>
        <p:txBody>
          <a:bodyPr wrap="square" lIns="18288" tIns="18288" rIns="18288" bIns="18288" anchor="ctr">
            <a:spAutoFit/>
          </a:bodyPr>
          <a:lstStyle/>
          <a:p>
            <a:pPr algn="ctr">
              <a:lnSpc>
                <a:spcPct val="105000"/>
              </a:lnSpc>
              <a:spcBef>
                <a:spcPts val="0"/>
              </a:spcBef>
              <a:spcAft>
                <a:spcPts val="0"/>
              </a:spcAft>
            </a:pPr>
            <a:r>
              <a:rPr sz="2000" b="0" dirty="0">
                <a:solidFill>
                  <a:srgbClr val="000000"/>
                </a:solidFill>
                <a:latin typeface="Times New Roman"/>
              </a:rPr>
              <a:t>Boss</a:t>
            </a:r>
          </a:p>
        </p:txBody>
      </p:sp>
    </p:spTree>
    <p:extLst>
      <p:ext uri="{BB962C8B-B14F-4D97-AF65-F5344CB8AC3E}">
        <p14:creationId xmlns:p14="http://schemas.microsoft.com/office/powerpoint/2010/main" val="170304148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entr" presetSubtype="0" fill="hold" nodeType="clickEffect">
                                  <p:stCondLst>
                                    <p:cond delay="0"/>
                                  </p:stCondLst>
                                  <p:childTnLst>
                                    <p:set>
                                      <p:cBhvr>
                                        <p:cTn id="6" dur="1" fill="hold">
                                          <p:stCondLst>
                                            <p:cond delay="499"/>
                                          </p:stCondLst>
                                        </p:cTn>
                                        <p:tgtEl>
                                          <p:spTgt spid="9"/>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grpId="0" nodeType="afterEffect">
                                  <p:stCondLst>
                                    <p:cond delay="200"/>
                                  </p:stCondLst>
                                  <p:childTnLst>
                                    <p:set>
                                      <p:cBhvr>
                                        <p:cTn id="9" dur="1" fill="hold">
                                          <p:stCondLst>
                                            <p:cond delay="499"/>
                                          </p:stCondLst>
                                        </p:cTn>
                                        <p:tgtEl>
                                          <p:spTgt spid="10"/>
                                        </p:tgtEl>
                                        <p:attrNameLst>
                                          <p:attrName>style.visibility</p:attrName>
                                        </p:attrNameLst>
                                      </p:cBhvr>
                                      <p:to>
                                        <p:strVal val="visible"/>
                                      </p:to>
                                    </p:set>
                                  </p:childTnLst>
                                </p:cTn>
                              </p:par>
                            </p:childTnLst>
                          </p:cTn>
                        </p:par>
                        <p:par>
                          <p:cTn id="10" fill="hold">
                            <p:stCondLst>
                              <p:cond delay="1200"/>
                            </p:stCondLst>
                            <p:childTnLst>
                              <p:par>
                                <p:cTn id="11" presetID="0" presetClass="entr" presetSubtype="0" fill="hold" nodeType="afterEffect">
                                  <p:stCondLst>
                                    <p:cond delay="200"/>
                                  </p:stCondLst>
                                  <p:childTnLst>
                                    <p:set>
                                      <p:cBhvr>
                                        <p:cTn id="12" dur="1" fill="hold">
                                          <p:stCondLst>
                                            <p:cond delay="499"/>
                                          </p:stCondLst>
                                        </p:cTn>
                                        <p:tgtEl>
                                          <p:spTgt spid="12"/>
                                        </p:tgtEl>
                                        <p:attrNameLst>
                                          <p:attrName>style.visibility</p:attrName>
                                        </p:attrNameLst>
                                      </p:cBhvr>
                                      <p:to>
                                        <p:strVal val="visible"/>
                                      </p:to>
                                    </p:set>
                                  </p:childTnLst>
                                </p:cTn>
                              </p:par>
                            </p:childTnLst>
                          </p:cTn>
                        </p:par>
                        <p:par>
                          <p:cTn id="13" fill="hold">
                            <p:stCondLst>
                              <p:cond delay="1900"/>
                            </p:stCondLst>
                            <p:childTnLst>
                              <p:par>
                                <p:cTn id="14" presetID="1" presetClass="entr" presetSubtype="0" fill="hold" grpId="0" nodeType="afterEffect">
                                  <p:stCondLst>
                                    <p:cond delay="200"/>
                                  </p:stCondLst>
                                  <p:childTnLst>
                                    <p:set>
                                      <p:cBhvr>
                                        <p:cTn id="15" dur="1" fill="hold">
                                          <p:stCondLst>
                                            <p:cond delay="499"/>
                                          </p:stCondLst>
                                        </p:cTn>
                                        <p:tgtEl>
                                          <p:spTgt spid="13"/>
                                        </p:tgtEl>
                                        <p:attrNameLst>
                                          <p:attrName>style.visibility</p:attrName>
                                        </p:attrNameLst>
                                      </p:cBhvr>
                                      <p:to>
                                        <p:strVal val="visible"/>
                                      </p:to>
                                    </p:set>
                                  </p:childTnLst>
                                </p:cTn>
                              </p:par>
                            </p:childTnLst>
                          </p:cTn>
                        </p:par>
                        <p:par>
                          <p:cTn id="16" fill="hold">
                            <p:stCondLst>
                              <p:cond delay="2600"/>
                            </p:stCondLst>
                            <p:childTnLst>
                              <p:par>
                                <p:cTn id="17" presetID="0" presetClass="entr" presetSubtype="0" fill="hold" nodeType="afterEffect">
                                  <p:stCondLst>
                                    <p:cond delay="200"/>
                                  </p:stCondLst>
                                  <p:childTnLst>
                                    <p:set>
                                      <p:cBhvr>
                                        <p:cTn id="18" dur="1" fill="hold">
                                          <p:stCondLst>
                                            <p:cond delay="499"/>
                                          </p:stCondLst>
                                        </p:cTn>
                                        <p:tgtEl>
                                          <p:spTgt spid="15"/>
                                        </p:tgtEl>
                                        <p:attrNameLst>
                                          <p:attrName>style.visibility</p:attrName>
                                        </p:attrNameLst>
                                      </p:cBhvr>
                                      <p:to>
                                        <p:strVal val="visible"/>
                                      </p:to>
                                    </p:set>
                                  </p:childTnLst>
                                </p:cTn>
                              </p:par>
                            </p:childTnLst>
                          </p:cTn>
                        </p:par>
                        <p:par>
                          <p:cTn id="19" fill="hold">
                            <p:stCondLst>
                              <p:cond delay="3300"/>
                            </p:stCondLst>
                            <p:childTnLst>
                              <p:par>
                                <p:cTn id="20" presetID="1" presetClass="entr" presetSubtype="0" fill="hold" grpId="0" nodeType="afterEffect">
                                  <p:stCondLst>
                                    <p:cond delay="200"/>
                                  </p:stCondLst>
                                  <p:childTnLst>
                                    <p:set>
                                      <p:cBhvr>
                                        <p:cTn id="21" dur="1" fill="hold">
                                          <p:stCondLst>
                                            <p:cond delay="499"/>
                                          </p:stCondLst>
                                        </p:cTn>
                                        <p:tgtEl>
                                          <p:spTgt spid="16"/>
                                        </p:tgtEl>
                                        <p:attrNameLst>
                                          <p:attrName>style.visibility</p:attrName>
                                        </p:attrNameLst>
                                      </p:cBhvr>
                                      <p:to>
                                        <p:strVal val="visible"/>
                                      </p:to>
                                    </p:set>
                                  </p:childTnLst>
                                </p:cTn>
                              </p:par>
                            </p:childTnLst>
                          </p:cTn>
                        </p:par>
                        <p:par>
                          <p:cTn id="22" fill="hold">
                            <p:stCondLst>
                              <p:cond delay="4000"/>
                            </p:stCondLst>
                            <p:childTnLst>
                              <p:par>
                                <p:cTn id="23" presetID="0" presetClass="entr" presetSubtype="0" fill="hold" nodeType="afterEffect">
                                  <p:stCondLst>
                                    <p:cond delay="200"/>
                                  </p:stCondLst>
                                  <p:childTnLst>
                                    <p:set>
                                      <p:cBhvr>
                                        <p:cTn id="24" dur="1" fill="hold">
                                          <p:stCondLst>
                                            <p:cond delay="499"/>
                                          </p:stCondLst>
                                        </p:cTn>
                                        <p:tgtEl>
                                          <p:spTgt spid="18"/>
                                        </p:tgtEl>
                                        <p:attrNameLst>
                                          <p:attrName>style.visibility</p:attrName>
                                        </p:attrNameLst>
                                      </p:cBhvr>
                                      <p:to>
                                        <p:strVal val="visible"/>
                                      </p:to>
                                    </p:set>
                                  </p:childTnLst>
                                </p:cTn>
                              </p:par>
                            </p:childTnLst>
                          </p:cTn>
                        </p:par>
                        <p:par>
                          <p:cTn id="25" fill="hold">
                            <p:stCondLst>
                              <p:cond delay="4700"/>
                            </p:stCondLst>
                            <p:childTnLst>
                              <p:par>
                                <p:cTn id="26" presetID="1" presetClass="entr" presetSubtype="0" fill="hold" grpId="0" nodeType="afterEffect">
                                  <p:stCondLst>
                                    <p:cond delay="200"/>
                                  </p:stCondLst>
                                  <p:childTnLst>
                                    <p:set>
                                      <p:cBhvr>
                                        <p:cTn id="27" dur="1" fill="hold">
                                          <p:stCondLst>
                                            <p:cond delay="499"/>
                                          </p:stCondLst>
                                        </p:cTn>
                                        <p:tgtEl>
                                          <p:spTgt spid="19"/>
                                        </p:tgtEl>
                                        <p:attrNameLst>
                                          <p:attrName>style.visibility</p:attrName>
                                        </p:attrNameLst>
                                      </p:cBhvr>
                                      <p:to>
                                        <p:strVal val="visible"/>
                                      </p:to>
                                    </p:set>
                                  </p:childTnLst>
                                </p:cTn>
                              </p:par>
                            </p:childTnLst>
                          </p:cTn>
                        </p:par>
                        <p:par>
                          <p:cTn id="28" fill="hold">
                            <p:stCondLst>
                              <p:cond delay="5400"/>
                            </p:stCondLst>
                            <p:childTnLst>
                              <p:par>
                                <p:cTn id="29" presetID="1" presetClass="entr" presetSubtype="0" fill="hold" grpId="0" nodeType="afterEffect">
                                  <p:stCondLst>
                                    <p:cond delay="200"/>
                                  </p:stCondLst>
                                  <p:childTnLst>
                                    <p:set>
                                      <p:cBhvr>
                                        <p:cTn id="30"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P spid="10" grpId="0" autoUpdateAnimBg="0"/>
      <p:bldP spid="13" grpId="0" autoUpdateAnimBg="0"/>
      <p:bldP spid="16" grpId="0" autoUpdateAnimBg="0"/>
      <p:bldP spid="19" grpId="0"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QUY TRÌNH THỰC HIỆN</a:t>
            </a:r>
          </a:p>
        </p:txBody>
      </p:sp>
      <p:sp>
        <p:nvSpPr>
          <p:cNvPr id="3" name="TextBox 2"/>
          <p:cNvSpPr txBox="1"/>
          <p:nvPr/>
        </p:nvSpPr>
        <p:spPr>
          <a:xfrm>
            <a:off x="777240" y="2477494"/>
            <a:ext cx="10682935" cy="339388"/>
          </a:xfrm>
          <a:prstGeom prst="rect">
            <a:avLst/>
          </a:prstGeom>
          <a:noFill/>
        </p:spPr>
        <p:txBody>
          <a:bodyPr wrap="square" lIns="18288" tIns="18288" rIns="18288" bIns="18288" anchor="t">
            <a:spAutoFit/>
          </a:bodyPr>
          <a:lstStyle/>
          <a:p>
            <a:pPr algn="l">
              <a:lnSpc>
                <a:spcPct val="105000"/>
              </a:lnSpc>
              <a:spcBef>
                <a:spcPts val="0"/>
              </a:spcBef>
              <a:spcAft>
                <a:spcPts val="0"/>
              </a:spcAft>
            </a:pPr>
            <a:r>
              <a:rPr sz="2400" b="1">
                <a:latin typeface="Times New Roman"/>
              </a:rPr>
              <a:t>Kinh nghiệm, lên cấp và nâng cấp</a:t>
            </a:r>
          </a:p>
        </p:txBody>
      </p:sp>
      <p:pic>
        <p:nvPicPr>
          <p:cNvPr id="5" name="anim-fade-10-media" descr="doc_image_01.png"/>
          <p:cNvPicPr>
            <a:picLocks noChangeAspect="1"/>
          </p:cNvPicPr>
          <p:nvPr/>
        </p:nvPicPr>
        <p:blipFill>
          <a:blip r:embed="rId2"/>
          <a:stretch>
            <a:fillRect/>
          </a:stretch>
        </p:blipFill>
        <p:spPr>
          <a:xfrm>
            <a:off x="6906463" y="2477494"/>
            <a:ext cx="4553712" cy="2542929"/>
          </a:xfrm>
          <a:prstGeom prst="rect">
            <a:avLst/>
          </a:prstGeom>
          <a:ln w="8890">
            <a:solidFill>
              <a:srgbClr val="1F4E79"/>
            </a:solidFill>
          </a:ln>
        </p:spPr>
      </p:pic>
      <p:sp>
        <p:nvSpPr>
          <p:cNvPr id="6" name="anim-appear-20-line-1"/>
          <p:cNvSpPr txBox="1"/>
          <p:nvPr/>
        </p:nvSpPr>
        <p:spPr>
          <a:xfrm>
            <a:off x="777239" y="3039618"/>
            <a:ext cx="5501945" cy="2663101"/>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dirty="0">
                <a:solidFill/>
                <a:latin typeface="Times New Roman"/>
              </a:rPr>
              <a:t>- </a:t>
            </a:r>
            <a:r>
              <a:rPr sz="2000" dirty="0" err="1">
                <a:solidFill/>
                <a:latin typeface="Times New Roman"/>
              </a:rPr>
              <a:t>Người</a:t>
            </a:r>
            <a:r>
              <a:rPr sz="2000" dirty="0">
                <a:solidFill/>
                <a:latin typeface="Times New Roman"/>
              </a:rPr>
              <a:t> </a:t>
            </a:r>
            <a:r>
              <a:rPr sz="2000" dirty="0" err="1">
                <a:solidFill/>
                <a:latin typeface="Times New Roman"/>
              </a:rPr>
              <a:t>chơi</a:t>
            </a:r>
            <a:r>
              <a:rPr sz="2000" dirty="0">
                <a:solidFill/>
                <a:latin typeface="Times New Roman"/>
              </a:rPr>
              <a:t> </a:t>
            </a:r>
            <a:r>
              <a:rPr sz="2000" dirty="0" err="1">
                <a:solidFill/>
                <a:latin typeface="Times New Roman"/>
              </a:rPr>
              <a:t>nhận</a:t>
            </a:r>
            <a:r>
              <a:rPr sz="2000" dirty="0">
                <a:solidFill/>
                <a:latin typeface="Times New Roman"/>
              </a:rPr>
              <a:t> </a:t>
            </a:r>
            <a:r>
              <a:rPr sz="2000" dirty="0" err="1">
                <a:solidFill/>
                <a:latin typeface="Times New Roman"/>
              </a:rPr>
              <a:t>kinh</a:t>
            </a:r>
            <a:r>
              <a:rPr sz="2000" dirty="0">
                <a:solidFill/>
                <a:latin typeface="Times New Roman"/>
              </a:rPr>
              <a:t> </a:t>
            </a:r>
            <a:r>
              <a:rPr sz="2000" dirty="0" err="1">
                <a:solidFill/>
                <a:latin typeface="Times New Roman"/>
              </a:rPr>
              <a:t>nghiệm</a:t>
            </a:r>
            <a:r>
              <a:rPr sz="2000" dirty="0">
                <a:solidFill/>
                <a:latin typeface="Times New Roman"/>
              </a:rPr>
              <a:t> </a:t>
            </a:r>
            <a:r>
              <a:rPr sz="2000" dirty="0" err="1">
                <a:solidFill/>
                <a:latin typeface="Times New Roman"/>
              </a:rPr>
              <a:t>khi</a:t>
            </a:r>
            <a:r>
              <a:rPr sz="2000" dirty="0">
                <a:solidFill/>
                <a:latin typeface="Times New Roman"/>
              </a:rPr>
              <a:t> </a:t>
            </a:r>
            <a:r>
              <a:rPr sz="2000" dirty="0" err="1">
                <a:solidFill/>
                <a:latin typeface="Times New Roman"/>
              </a:rPr>
              <a:t>tiêu</a:t>
            </a:r>
            <a:r>
              <a:rPr sz="2000" dirty="0">
                <a:solidFill/>
                <a:latin typeface="Times New Roman"/>
              </a:rPr>
              <a:t> </a:t>
            </a:r>
            <a:r>
              <a:rPr sz="2000" dirty="0" err="1">
                <a:solidFill/>
                <a:latin typeface="Times New Roman"/>
              </a:rPr>
              <a:t>diệt</a:t>
            </a:r>
            <a:r>
              <a:rPr sz="2000" dirty="0">
                <a:solidFill/>
                <a:latin typeface="Times New Roman"/>
              </a:rPr>
              <a:t> </a:t>
            </a:r>
            <a:r>
              <a:rPr lang="en-US" sz="2000" dirty="0" err="1">
                <a:solidFill/>
                <a:latin typeface="Times New Roman"/>
              </a:rPr>
              <a:t>kẻ</a:t>
            </a:r>
            <a:r>
              <a:rPr lang="en-US" sz="2000" dirty="0">
                <a:solidFill/>
                <a:latin typeface="Times New Roman"/>
              </a:rPr>
              <a:t> </a:t>
            </a:r>
            <a:r>
              <a:rPr lang="en-US" sz="2000" dirty="0" err="1">
                <a:solidFill/>
                <a:latin typeface="Times New Roman"/>
              </a:rPr>
              <a:t>thù</a:t>
            </a:r>
            <a:r>
              <a:rPr sz="2000" dirty="0">
                <a:solidFill/>
                <a:latin typeface="Times New Roman"/>
              </a:rPr>
              <a:t>.</a:t>
            </a:r>
            <a:endParaRPr lang="en-US" sz="2000" b="0" dirty="0">
              <a:solidFill>
                <a:srgbClr val="000000"/>
              </a:solidFill>
              <a:latin typeface="Times New Roman"/>
            </a:endParaRPr>
          </a:p>
          <a:p>
            <a:pPr algn="l">
              <a:lnSpc>
                <a:spcPct val="105000"/>
              </a:lnSpc>
              <a:spcBef>
                <a:spcPts val="0"/>
              </a:spcBef>
              <a:spcAft>
                <a:spcPts val="1000"/>
              </a:spcAft>
            </a:pPr>
            <a:r>
              <a:rPr sz="2000" dirty="0">
                <a:solidFill/>
                <a:latin typeface="Times New Roman"/>
              </a:rPr>
              <a:t>- Khi </a:t>
            </a:r>
            <a:r>
              <a:rPr sz="2000" dirty="0" err="1">
                <a:solidFill/>
                <a:latin typeface="Times New Roman"/>
              </a:rPr>
              <a:t>đủ</a:t>
            </a:r>
            <a:r>
              <a:rPr sz="2000" dirty="0">
                <a:solidFill/>
                <a:latin typeface="Times New Roman"/>
              </a:rPr>
              <a:t> </a:t>
            </a:r>
            <a:r>
              <a:rPr sz="2000" dirty="0" err="1">
                <a:solidFill/>
                <a:latin typeface="Times New Roman"/>
              </a:rPr>
              <a:t>kinh</a:t>
            </a:r>
            <a:r>
              <a:rPr sz="2000" dirty="0">
                <a:solidFill/>
                <a:latin typeface="Times New Roman"/>
              </a:rPr>
              <a:t> </a:t>
            </a:r>
            <a:r>
              <a:rPr sz="2000" dirty="0" err="1">
                <a:solidFill/>
                <a:latin typeface="Times New Roman"/>
              </a:rPr>
              <a:t>nghiệm</a:t>
            </a:r>
            <a:r>
              <a:rPr sz="2000" dirty="0">
                <a:solidFill/>
                <a:latin typeface="Times New Roman"/>
              </a:rPr>
              <a:t>, </a:t>
            </a:r>
            <a:r>
              <a:rPr sz="2000" dirty="0" err="1">
                <a:solidFill/>
                <a:latin typeface="Times New Roman"/>
              </a:rPr>
              <a:t>nhân</a:t>
            </a:r>
            <a:r>
              <a:rPr sz="2000" dirty="0">
                <a:solidFill/>
                <a:latin typeface="Times New Roman"/>
              </a:rPr>
              <a:t> </a:t>
            </a:r>
            <a:r>
              <a:rPr sz="2000" dirty="0" err="1">
                <a:solidFill/>
                <a:latin typeface="Times New Roman"/>
              </a:rPr>
              <a:t>vật</a:t>
            </a:r>
            <a:r>
              <a:rPr sz="2000" dirty="0">
                <a:solidFill/>
                <a:latin typeface="Times New Roman"/>
              </a:rPr>
              <a:t> </a:t>
            </a:r>
            <a:r>
              <a:rPr sz="2000" dirty="0" err="1">
                <a:solidFill/>
                <a:latin typeface="Times New Roman"/>
              </a:rPr>
              <a:t>sẽ</a:t>
            </a:r>
            <a:r>
              <a:rPr sz="2000" dirty="0">
                <a:solidFill/>
                <a:latin typeface="Times New Roman"/>
              </a:rPr>
              <a:t> </a:t>
            </a:r>
            <a:r>
              <a:rPr sz="2000" dirty="0" err="1">
                <a:solidFill/>
                <a:latin typeface="Times New Roman"/>
              </a:rPr>
              <a:t>lên</a:t>
            </a:r>
            <a:r>
              <a:rPr sz="2000" dirty="0">
                <a:solidFill/>
                <a:latin typeface="Times New Roman"/>
              </a:rPr>
              <a:t> </a:t>
            </a:r>
            <a:r>
              <a:rPr sz="2000" dirty="0" err="1">
                <a:solidFill/>
                <a:latin typeface="Times New Roman"/>
              </a:rPr>
              <a:t>cấp</a:t>
            </a:r>
            <a:r>
              <a:rPr lang="en-US" sz="2000" dirty="0">
                <a:solidFill/>
                <a:latin typeface="Times New Roman"/>
              </a:rPr>
              <a:t>, </a:t>
            </a:r>
            <a:r>
              <a:rPr lang="en-US" sz="2000" dirty="0" err="1">
                <a:solidFill/>
                <a:latin typeface="Times New Roman"/>
              </a:rPr>
              <a:t>cấp</a:t>
            </a:r>
            <a:r>
              <a:rPr lang="en-US" sz="2000" dirty="0">
                <a:solidFill/>
                <a:latin typeface="Times New Roman"/>
              </a:rPr>
              <a:t> </a:t>
            </a:r>
            <a:r>
              <a:rPr lang="en-US" sz="2000" dirty="0" err="1">
                <a:solidFill/>
                <a:latin typeface="Times New Roman"/>
              </a:rPr>
              <a:t>càng</a:t>
            </a:r>
            <a:r>
              <a:rPr lang="en-US" sz="2000" dirty="0">
                <a:solidFill/>
                <a:latin typeface="Times New Roman"/>
              </a:rPr>
              <a:t> </a:t>
            </a:r>
            <a:r>
              <a:rPr lang="en-US" sz="2000" dirty="0" err="1">
                <a:solidFill/>
                <a:latin typeface="Times New Roman"/>
              </a:rPr>
              <a:t>cao</a:t>
            </a:r>
            <a:r>
              <a:rPr lang="en-US" sz="2000" dirty="0">
                <a:solidFill/>
                <a:latin typeface="Times New Roman"/>
              </a:rPr>
              <a:t> </a:t>
            </a:r>
            <a:r>
              <a:rPr lang="en-US" sz="2000" dirty="0" err="1">
                <a:solidFill/>
                <a:latin typeface="Times New Roman"/>
              </a:rPr>
              <a:t>số</a:t>
            </a:r>
            <a:r>
              <a:rPr lang="en-US" sz="2000" dirty="0">
                <a:solidFill/>
                <a:latin typeface="Times New Roman"/>
              </a:rPr>
              <a:t> </a:t>
            </a:r>
            <a:r>
              <a:rPr lang="en-US" sz="2000" dirty="0" err="1">
                <a:solidFill/>
                <a:latin typeface="Times New Roman"/>
              </a:rPr>
              <a:t>kinh</a:t>
            </a:r>
            <a:r>
              <a:rPr lang="en-US" sz="2000" dirty="0">
                <a:solidFill/>
                <a:latin typeface="Times New Roman"/>
              </a:rPr>
              <a:t> </a:t>
            </a:r>
            <a:r>
              <a:rPr lang="en-US" sz="2000" dirty="0" err="1">
                <a:solidFill/>
                <a:latin typeface="Times New Roman"/>
              </a:rPr>
              <a:t>nghiệm</a:t>
            </a:r>
            <a:r>
              <a:rPr lang="en-US" sz="2000" dirty="0">
                <a:solidFill/>
                <a:latin typeface="Times New Roman"/>
              </a:rPr>
              <a:t> </a:t>
            </a:r>
            <a:r>
              <a:rPr lang="en-US" sz="2000" dirty="0" err="1">
                <a:solidFill/>
                <a:latin typeface="Times New Roman"/>
              </a:rPr>
              <a:t>cần</a:t>
            </a:r>
            <a:r>
              <a:rPr lang="en-US" sz="2000" dirty="0">
                <a:solidFill/>
                <a:latin typeface="Times New Roman"/>
              </a:rPr>
              <a:t> </a:t>
            </a:r>
            <a:r>
              <a:rPr lang="en-US" sz="2000" dirty="0" err="1">
                <a:solidFill/>
                <a:latin typeface="Times New Roman"/>
              </a:rPr>
              <a:t>càng</a:t>
            </a:r>
            <a:r>
              <a:rPr lang="en-US" sz="2000" dirty="0">
                <a:solidFill/>
                <a:latin typeface="Times New Roman"/>
              </a:rPr>
              <a:t> </a:t>
            </a:r>
            <a:r>
              <a:rPr lang="en-US" sz="2000" dirty="0" err="1">
                <a:solidFill/>
                <a:latin typeface="Times New Roman"/>
              </a:rPr>
              <a:t>nhiều</a:t>
            </a:r>
            <a:r>
              <a:rPr sz="2000" dirty="0">
                <a:solidFill/>
                <a:latin typeface="Times New Roman"/>
              </a:rPr>
              <a:t>.</a:t>
            </a:r>
          </a:p>
          <a:p>
            <a:pPr algn="l">
              <a:lnSpc>
                <a:spcPct val="105000"/>
              </a:lnSpc>
              <a:spcBef>
                <a:spcPts val="0"/>
              </a:spcBef>
              <a:spcAft>
                <a:spcPts val="1000"/>
              </a:spcAft>
            </a:pPr>
            <a:r>
              <a:rPr sz="2000" dirty="0">
                <a:solidFill/>
                <a:latin typeface="Times New Roman"/>
              </a:rPr>
              <a:t>- </a:t>
            </a:r>
            <a:r>
              <a:rPr sz="2000" dirty="0" err="1">
                <a:solidFill/>
                <a:latin typeface="Times New Roman"/>
              </a:rPr>
              <a:t>Mỗi</a:t>
            </a:r>
            <a:r>
              <a:rPr sz="2000" dirty="0">
                <a:solidFill/>
                <a:latin typeface="Times New Roman"/>
              </a:rPr>
              <a:t> </a:t>
            </a:r>
            <a:r>
              <a:rPr sz="2000" dirty="0" err="1">
                <a:solidFill/>
                <a:latin typeface="Times New Roman"/>
              </a:rPr>
              <a:t>lần</a:t>
            </a:r>
            <a:r>
              <a:rPr sz="2000" dirty="0">
                <a:solidFill/>
                <a:latin typeface="Times New Roman"/>
              </a:rPr>
              <a:t> </a:t>
            </a:r>
            <a:r>
              <a:rPr sz="2000" dirty="0" err="1">
                <a:solidFill/>
                <a:latin typeface="Times New Roman"/>
              </a:rPr>
              <a:t>lên</a:t>
            </a:r>
            <a:r>
              <a:rPr sz="2000" dirty="0">
                <a:solidFill/>
                <a:latin typeface="Times New Roman"/>
              </a:rPr>
              <a:t> </a:t>
            </a:r>
            <a:r>
              <a:rPr sz="2000" dirty="0" err="1">
                <a:solidFill/>
                <a:latin typeface="Times New Roman"/>
              </a:rPr>
              <a:t>cấp</a:t>
            </a:r>
            <a:r>
              <a:rPr sz="2000" dirty="0">
                <a:solidFill/>
                <a:latin typeface="Times New Roman"/>
              </a:rPr>
              <a:t>, </a:t>
            </a:r>
            <a:r>
              <a:rPr sz="2000" dirty="0" err="1">
                <a:solidFill/>
                <a:latin typeface="Times New Roman"/>
              </a:rPr>
              <a:t>người</a:t>
            </a:r>
            <a:r>
              <a:rPr sz="2000" dirty="0">
                <a:solidFill/>
                <a:latin typeface="Times New Roman"/>
              </a:rPr>
              <a:t> </a:t>
            </a:r>
            <a:r>
              <a:rPr sz="2000" dirty="0" err="1">
                <a:solidFill/>
                <a:latin typeface="Times New Roman"/>
              </a:rPr>
              <a:t>chơi</a:t>
            </a:r>
            <a:r>
              <a:rPr sz="2000" dirty="0">
                <a:solidFill/>
                <a:latin typeface="Times New Roman"/>
              </a:rPr>
              <a:t> </a:t>
            </a:r>
            <a:r>
              <a:rPr sz="2000" dirty="0" err="1">
                <a:solidFill/>
                <a:latin typeface="Times New Roman"/>
              </a:rPr>
              <a:t>được</a:t>
            </a:r>
            <a:r>
              <a:rPr sz="2000" dirty="0">
                <a:solidFill/>
                <a:latin typeface="Times New Roman"/>
              </a:rPr>
              <a:t> </a:t>
            </a:r>
            <a:r>
              <a:rPr sz="2000" dirty="0" err="1">
                <a:solidFill/>
                <a:latin typeface="Times New Roman"/>
              </a:rPr>
              <a:t>chọn</a:t>
            </a:r>
            <a:r>
              <a:rPr sz="2000" dirty="0">
                <a:solidFill/>
                <a:latin typeface="Times New Roman"/>
              </a:rPr>
              <a:t> nâng cấp </a:t>
            </a:r>
            <a:r>
              <a:rPr sz="2000" dirty="0" err="1">
                <a:solidFill/>
                <a:latin typeface="Times New Roman"/>
              </a:rPr>
              <a:t>để</a:t>
            </a:r>
            <a:r>
              <a:rPr sz="2000" dirty="0">
                <a:solidFill/>
                <a:latin typeface="Times New Roman"/>
              </a:rPr>
              <a:t> </a:t>
            </a:r>
            <a:r>
              <a:rPr sz="2000" dirty="0" err="1">
                <a:solidFill/>
                <a:latin typeface="Times New Roman"/>
              </a:rPr>
              <a:t>tăng</a:t>
            </a:r>
            <a:r>
              <a:rPr sz="2000" dirty="0">
                <a:solidFill/>
                <a:latin typeface="Times New Roman"/>
              </a:rPr>
              <a:t> </a:t>
            </a:r>
            <a:r>
              <a:rPr sz="2000" dirty="0" err="1">
                <a:solidFill/>
                <a:latin typeface="Times New Roman"/>
              </a:rPr>
              <a:t>sức</a:t>
            </a:r>
            <a:r>
              <a:rPr sz="2000" dirty="0">
                <a:solidFill/>
                <a:latin typeface="Times New Roman"/>
              </a:rPr>
              <a:t> </a:t>
            </a:r>
            <a:r>
              <a:rPr sz="2000" dirty="0" err="1">
                <a:solidFill/>
                <a:latin typeface="Times New Roman"/>
              </a:rPr>
              <a:t>mạnh</a:t>
            </a:r>
            <a:r>
              <a:rPr sz="2000" dirty="0">
                <a:solidFill/>
                <a:latin typeface="Times New Roman"/>
              </a:rPr>
              <a:t>.</a:t>
            </a:r>
          </a:p>
          <a:p>
            <a:pPr algn="l">
              <a:lnSpc>
                <a:spcPct val="105000"/>
              </a:lnSpc>
              <a:spcBef>
                <a:spcPts val="0"/>
              </a:spcBef>
              <a:spcAft>
                <a:spcPts val="1000"/>
              </a:spcAft>
            </a:pPr>
            <a:r>
              <a:rPr sz="2000" dirty="0">
                <a:solidFill/>
                <a:latin typeface="Times New Roman"/>
              </a:rPr>
              <a:t>- Các nâng cấp </a:t>
            </a:r>
            <a:r>
              <a:rPr sz="2000" dirty="0" err="1">
                <a:solidFill/>
                <a:latin typeface="Times New Roman"/>
              </a:rPr>
              <a:t>giúp</a:t>
            </a:r>
            <a:r>
              <a:rPr sz="2000" dirty="0">
                <a:solidFill/>
                <a:latin typeface="Times New Roman"/>
              </a:rPr>
              <a:t> </a:t>
            </a:r>
            <a:r>
              <a:rPr sz="2000" dirty="0" err="1">
                <a:solidFill/>
                <a:latin typeface="Times New Roman"/>
              </a:rPr>
              <a:t>thay</a:t>
            </a:r>
            <a:r>
              <a:rPr sz="2000" dirty="0">
                <a:solidFill/>
                <a:latin typeface="Times New Roman"/>
              </a:rPr>
              <a:t> </a:t>
            </a:r>
            <a:r>
              <a:rPr sz="2000" dirty="0" err="1">
                <a:solidFill/>
                <a:latin typeface="Times New Roman"/>
              </a:rPr>
              <a:t>đổi</a:t>
            </a:r>
            <a:r>
              <a:rPr sz="2000" dirty="0">
                <a:solidFill/>
                <a:latin typeface="Times New Roman"/>
              </a:rPr>
              <a:t> </a:t>
            </a:r>
            <a:r>
              <a:rPr sz="2000" dirty="0" err="1">
                <a:solidFill/>
                <a:latin typeface="Times New Roman"/>
              </a:rPr>
              <a:t>cách</a:t>
            </a:r>
            <a:r>
              <a:rPr sz="2000" dirty="0">
                <a:solidFill/>
                <a:latin typeface="Times New Roman"/>
              </a:rPr>
              <a:t> </a:t>
            </a:r>
            <a:r>
              <a:rPr sz="2000" dirty="0" err="1">
                <a:solidFill/>
                <a:latin typeface="Times New Roman"/>
              </a:rPr>
              <a:t>chơi</a:t>
            </a:r>
            <a:r>
              <a:rPr sz="2000" dirty="0">
                <a:solidFill/>
                <a:latin typeface="Times New Roman"/>
              </a:rPr>
              <a:t> </a:t>
            </a:r>
            <a:r>
              <a:rPr sz="2000" dirty="0" err="1">
                <a:solidFill/>
                <a:latin typeface="Times New Roman"/>
              </a:rPr>
              <a:t>và</a:t>
            </a:r>
            <a:r>
              <a:rPr sz="2000" dirty="0">
                <a:solidFill/>
                <a:latin typeface="Times New Roman"/>
              </a:rPr>
              <a:t> </a:t>
            </a:r>
            <a:r>
              <a:rPr sz="2000" dirty="0" err="1">
                <a:solidFill/>
                <a:latin typeface="Times New Roman"/>
              </a:rPr>
              <a:t>hỗ</a:t>
            </a:r>
            <a:r>
              <a:rPr sz="2000" dirty="0">
                <a:solidFill/>
                <a:latin typeface="Times New Roman"/>
              </a:rPr>
              <a:t> </a:t>
            </a:r>
            <a:r>
              <a:rPr sz="2000" dirty="0" err="1">
                <a:solidFill/>
                <a:latin typeface="Times New Roman"/>
              </a:rPr>
              <a:t>trợ</a:t>
            </a:r>
            <a:r>
              <a:rPr sz="2000" dirty="0">
                <a:solidFill/>
                <a:latin typeface="Times New Roman"/>
              </a:rPr>
              <a:t> </a:t>
            </a:r>
            <a:r>
              <a:rPr sz="2000" dirty="0" err="1">
                <a:solidFill/>
                <a:latin typeface="Times New Roman"/>
              </a:rPr>
              <a:t>vượt</a:t>
            </a:r>
            <a:r>
              <a:rPr sz="2000" dirty="0">
                <a:solidFill/>
                <a:latin typeface="Times New Roman"/>
              </a:rPr>
              <a:t> qua </a:t>
            </a:r>
            <a:r>
              <a:rPr sz="2000" dirty="0" err="1">
                <a:solidFill/>
                <a:latin typeface="Times New Roman"/>
              </a:rPr>
              <a:t>các</a:t>
            </a:r>
            <a:r>
              <a:rPr sz="2000" dirty="0">
                <a:solidFill/>
                <a:latin typeface="Times New Roman"/>
              </a:rPr>
              <a:t> đợt quái </a:t>
            </a:r>
            <a:r>
              <a:rPr sz="2000" dirty="0" err="1">
                <a:solidFill/>
                <a:latin typeface="Times New Roman"/>
              </a:rPr>
              <a:t>khó</a:t>
            </a:r>
            <a:r>
              <a:rPr sz="2000" dirty="0">
                <a:solidFill/>
                <a:latin typeface="Times New Roman"/>
              </a:rPr>
              <a:t> </a:t>
            </a:r>
            <a:r>
              <a:rPr sz="2000" dirty="0" err="1">
                <a:solidFill/>
                <a:latin typeface="Times New Roman"/>
              </a:rPr>
              <a:t>hơn</a:t>
            </a:r>
            <a:r>
              <a:rPr sz="2000" dirty="0">
                <a:solidFill/>
                <a:latin typeface="Times New Roman"/>
              </a:rPr>
              <a:t>.</a:t>
            </a:r>
            <a:endParaRPr lang="en-US" sz="2000" dirty="0">
              <a:solidFill/>
              <a:latin typeface="Times New Roman"/>
            </a:endParaRPr>
          </a:p>
        </p:txBody>
      </p:sp>
      <p:pic>
        <p:nvPicPr>
          <p:cNvPr id="7" name="Picture 6">
            <a:extLst>
              <a:ext uri="{FF2B5EF4-FFF2-40B4-BE49-F238E27FC236}">
                <a16:creationId xmlns:a16="http://schemas.microsoft.com/office/drawing/2014/main" id="{659AC9E1-2A75-CD27-912C-DCAEAF13EA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06463" y="5207657"/>
            <a:ext cx="4567376" cy="878818"/>
          </a:xfrm>
          <a:prstGeom prst="rect">
            <a:avLst/>
          </a:prstGeom>
        </p:spPr>
      </p:pic>
    </p:spTree>
    <p:extLst>
      <p:ext uri="{BB962C8B-B14F-4D97-AF65-F5344CB8AC3E}">
        <p14:creationId xmlns:p14="http://schemas.microsoft.com/office/powerpoint/2010/main" val="345567004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entr" presetSubtype="0" fill="hold" nodeType="clickEffect">
                                  <p:stCondLst>
                                    <p:cond delay="0"/>
                                  </p:stCondLst>
                                  <p:childTnLst>
                                    <p:set>
                                      <p:cBhvr>
                                        <p:cTn id="6" dur="1" fill="hold">
                                          <p:stCondLst>
                                            <p:cond delay="499"/>
                                          </p:stCondLst>
                                        </p:cTn>
                                        <p:tgtEl>
                                          <p:spTgt spid="5"/>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grpId="0" nodeType="afterEffect">
                                  <p:stCondLst>
                                    <p:cond delay="200"/>
                                  </p:stCondLst>
                                  <p:childTnLst>
                                    <p:set>
                                      <p:cBhvr>
                                        <p:cTn id="9"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13A01-4C61-5D3E-50A3-48E15FC0CB8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1B546D9-F09A-26C6-7A26-96C37C95ACDF}"/>
              </a:ext>
            </a:extLst>
          </p:cNvPr>
          <p:cNvSpPr txBox="1"/>
          <p:nvPr/>
        </p:nvSpPr>
        <p:spPr>
          <a:xfrm>
            <a:off x="2139315" y="570606"/>
            <a:ext cx="6217920" cy="1163075"/>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GIAO DIỆN VÀ</a:t>
            </a:r>
            <a:r>
              <a:rPr lang="en-US" sz="3600" b="1" dirty="0">
                <a:solidFill>
                  <a:srgbClr val="1F4E79"/>
                </a:solidFill>
                <a:latin typeface="Times New Roman"/>
              </a:rPr>
              <a:t>
</a:t>
            </a:r>
            <a:r>
              <a:rPr sz="3600" b="1" dirty="0">
                <a:solidFill>
                  <a:srgbClr val="1F4E79"/>
                </a:solidFill>
                <a:latin typeface="Times New Roman"/>
              </a:rPr>
              <a:t>TRẢI</a:t>
            </a:r>
            <a:r>
              <a:rPr lang="en-US" sz="3600" b="1" dirty="0">
                <a:solidFill>
                  <a:srgbClr val="1F4E79"/>
                </a:solidFill>
                <a:latin typeface="Times New Roman"/>
              </a:rPr>
              <a:t> </a:t>
            </a:r>
            <a:r>
              <a:rPr sz="3600" b="1" dirty="0">
                <a:solidFill>
                  <a:srgbClr val="1F4E79"/>
                </a:solidFill>
                <a:latin typeface="Times New Roman"/>
              </a:rPr>
              <a:t>NGHIỆM</a:t>
            </a:r>
          </a:p>
        </p:txBody>
      </p:sp>
      <p:sp>
        <p:nvSpPr>
          <p:cNvPr id="6" name="anim-appear-20-line-1">
            <a:extLst>
              <a:ext uri="{FF2B5EF4-FFF2-40B4-BE49-F238E27FC236}">
                <a16:creationId xmlns:a16="http://schemas.microsoft.com/office/drawing/2014/main" id="{67BEEF01-EE05-7C5E-2134-32F43E10D2E1}"/>
              </a:ext>
            </a:extLst>
          </p:cNvPr>
          <p:cNvSpPr txBox="1"/>
          <p:nvPr/>
        </p:nvSpPr>
        <p:spPr>
          <a:xfrm>
            <a:off x="786764" y="2488311"/>
            <a:ext cx="5575935" cy="2727734"/>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dirty="0">
                <a:latin typeface="Times New Roman"/>
              </a:rPr>
              <a:t>Giao </a:t>
            </a:r>
            <a:r>
              <a:rPr sz="2400" b="1" dirty="0" err="1">
                <a:latin typeface="Times New Roman"/>
              </a:rPr>
              <a:t>diện</a:t>
            </a:r>
            <a:r>
              <a:rPr sz="2400" b="1" dirty="0">
                <a:latin typeface="Times New Roman"/>
              </a:rPr>
              <a:t> </a:t>
            </a:r>
            <a:r>
              <a:rPr sz="2400" b="1" dirty="0" err="1">
                <a:latin typeface="Times New Roman"/>
              </a:rPr>
              <a:t>trong</a:t>
            </a:r>
            <a:r>
              <a:rPr sz="2400" b="1" dirty="0">
                <a:latin typeface="Times New Roman"/>
              </a:rPr>
              <a:t> </a:t>
            </a:r>
            <a:r>
              <a:rPr sz="2400" b="1" dirty="0" err="1">
                <a:latin typeface="Times New Roman"/>
              </a:rPr>
              <a:t>trận</a:t>
            </a:r>
            <a:r>
              <a:rPr sz="2400" b="1" dirty="0">
                <a:latin typeface="Times New Roman"/>
              </a:rPr>
              <a:t>, </a:t>
            </a:r>
            <a:r>
              <a:rPr sz="2400" b="1" dirty="0" err="1">
                <a:latin typeface="Times New Roman"/>
              </a:rPr>
              <a:t>tạm</a:t>
            </a:r>
            <a:r>
              <a:rPr sz="2400" b="1" dirty="0">
                <a:latin typeface="Times New Roman"/>
              </a:rPr>
              <a:t> </a:t>
            </a:r>
            <a:r>
              <a:rPr sz="2400" b="1" dirty="0" err="1">
                <a:latin typeface="Times New Roman"/>
              </a:rPr>
              <a:t>dừng</a:t>
            </a:r>
            <a:endParaRPr sz="2400" b="1" dirty="0">
              <a:solidFill>
                <a:srgbClr val="000000"/>
              </a:solidFill>
              <a:latin typeface="Times New Roman"/>
            </a:endParaRPr>
          </a:p>
          <a:p>
            <a:pPr algn="l">
              <a:lnSpc>
                <a:spcPct val="105000"/>
              </a:lnSpc>
              <a:spcBef>
                <a:spcPts val="0"/>
              </a:spcBef>
              <a:spcAft>
                <a:spcPts val="1000"/>
              </a:spcAft>
            </a:pPr>
            <a:r>
              <a:rPr sz="2000" b="0" dirty="0">
                <a:latin typeface="Times New Roman"/>
              </a:rPr>
              <a:t>- Giao </a:t>
            </a:r>
            <a:r>
              <a:rPr sz="2000" b="0" dirty="0" err="1">
                <a:latin typeface="Times New Roman"/>
              </a:rPr>
              <a:t>diện</a:t>
            </a:r>
            <a:r>
              <a:rPr sz="2000" b="0" dirty="0">
                <a:latin typeface="Times New Roman"/>
              </a:rPr>
              <a:t> </a:t>
            </a:r>
            <a:r>
              <a:rPr sz="2000" b="0" dirty="0" err="1">
                <a:latin typeface="Times New Roman"/>
              </a:rPr>
              <a:t>trong</a:t>
            </a:r>
            <a:r>
              <a:rPr sz="2000" b="0" dirty="0">
                <a:latin typeface="Times New Roman"/>
              </a:rPr>
              <a:t> </a:t>
            </a:r>
            <a:r>
              <a:rPr sz="2000" b="0" dirty="0" err="1">
                <a:latin typeface="Times New Roman"/>
              </a:rPr>
              <a:t>trận</a:t>
            </a:r>
            <a:r>
              <a:rPr sz="2000" b="0" dirty="0">
                <a:latin typeface="Times New Roman"/>
              </a:rPr>
              <a:t> </a:t>
            </a:r>
            <a:r>
              <a:rPr sz="2000" b="0" dirty="0" err="1">
                <a:latin typeface="Times New Roman"/>
              </a:rPr>
              <a:t>hiển</a:t>
            </a:r>
            <a:r>
              <a:rPr sz="2000" b="0" dirty="0">
                <a:latin typeface="Times New Roman"/>
              </a:rPr>
              <a:t> </a:t>
            </a:r>
            <a:r>
              <a:rPr sz="2000" b="0" dirty="0" err="1">
                <a:latin typeface="Times New Roman"/>
              </a:rPr>
              <a:t>thị</a:t>
            </a:r>
            <a:r>
              <a:rPr sz="2000" b="0" dirty="0">
                <a:latin typeface="Times New Roman"/>
              </a:rPr>
              <a:t> </a:t>
            </a:r>
            <a:r>
              <a:rPr sz="2000" b="0" dirty="0" err="1">
                <a:latin typeface="Times New Roman"/>
              </a:rPr>
              <a:t>máu</a:t>
            </a:r>
            <a:r>
              <a:rPr sz="2000" b="0" dirty="0">
                <a:latin typeface="Times New Roman"/>
              </a:rPr>
              <a:t>, </a:t>
            </a:r>
            <a:r>
              <a:rPr sz="2000" b="0" dirty="0" err="1">
                <a:latin typeface="Times New Roman"/>
              </a:rPr>
              <a:t>kinh</a:t>
            </a:r>
            <a:r>
              <a:rPr sz="2000" b="0" dirty="0">
                <a:latin typeface="Times New Roman"/>
              </a:rPr>
              <a:t> </a:t>
            </a:r>
            <a:r>
              <a:rPr sz="2000" b="0" dirty="0" err="1">
                <a:latin typeface="Times New Roman"/>
              </a:rPr>
              <a:t>nghiệm</a:t>
            </a:r>
            <a:r>
              <a:rPr sz="2000" b="0" dirty="0">
                <a:latin typeface="Times New Roman"/>
              </a:rPr>
              <a:t>, </a:t>
            </a:r>
            <a:r>
              <a:rPr sz="2000" b="0" dirty="0" err="1">
                <a:latin typeface="Times New Roman"/>
              </a:rPr>
              <a:t>cấp</a:t>
            </a:r>
            <a:r>
              <a:rPr sz="2000" b="0" dirty="0">
                <a:latin typeface="Times New Roman"/>
              </a:rPr>
              <a:t> </a:t>
            </a:r>
            <a:r>
              <a:rPr sz="2000" b="0" dirty="0" err="1">
                <a:latin typeface="Times New Roman"/>
              </a:rPr>
              <a:t>độ</a:t>
            </a:r>
            <a:r>
              <a:rPr sz="2000" b="0" dirty="0">
                <a:latin typeface="Times New Roman"/>
              </a:rPr>
              <a:t> </a:t>
            </a:r>
            <a:r>
              <a:rPr sz="2000" b="0" dirty="0" err="1">
                <a:latin typeface="Times New Roman"/>
              </a:rPr>
              <a:t>và</a:t>
            </a:r>
            <a:r>
              <a:rPr sz="2000" b="0" dirty="0">
                <a:latin typeface="Times New Roman"/>
              </a:rPr>
              <a:t> </a:t>
            </a:r>
            <a:r>
              <a:rPr sz="2000" b="0" dirty="0" err="1">
                <a:latin typeface="Times New Roman"/>
              </a:rPr>
              <a:t>đợt</a:t>
            </a:r>
            <a:r>
              <a:rPr sz="2000" b="0" dirty="0">
                <a:latin typeface="Times New Roman"/>
              </a:rPr>
              <a:t> </a:t>
            </a:r>
            <a:r>
              <a:rPr sz="2000" b="0" dirty="0" err="1">
                <a:latin typeface="Times New Roman"/>
              </a:rPr>
              <a:t>quái</a:t>
            </a:r>
            <a:r>
              <a:rPr sz="2000" b="0" dirty="0">
                <a:latin typeface="Times New Roman"/>
              </a:rPr>
              <a:t> </a:t>
            </a:r>
            <a:r>
              <a:rPr sz="2000" b="0" dirty="0" err="1">
                <a:latin typeface="Times New Roman"/>
              </a:rPr>
              <a:t>hiện</a:t>
            </a:r>
            <a:r>
              <a:rPr sz="2000" b="0" dirty="0">
                <a:latin typeface="Times New Roman"/>
              </a:rPr>
              <a:t> </a:t>
            </a:r>
            <a:r>
              <a:rPr sz="2000" b="0" dirty="0" err="1">
                <a:latin typeface="Times New Roman"/>
              </a:rPr>
              <a:t>tại</a:t>
            </a:r>
            <a:r>
              <a:rPr sz="2000" b="0" dirty="0">
                <a:latin typeface="Times New Roman"/>
              </a:rPr>
              <a:t>.</a:t>
            </a:r>
          </a:p>
          <a:p>
            <a:pPr algn="l">
              <a:lnSpc>
                <a:spcPct val="105000"/>
              </a:lnSpc>
              <a:spcBef>
                <a:spcPts val="0"/>
              </a:spcBef>
              <a:spcAft>
                <a:spcPts val="1000"/>
              </a:spcAft>
            </a:pPr>
            <a:r>
              <a:rPr sz="2000" dirty="0">
                <a:solidFill>
                  <a:srgbClr val="000000"/>
                </a:solidFill>
                <a:latin typeface="Times New Roman"/>
              </a:rPr>
              <a:t>- Menu tạm dừng </a:t>
            </a:r>
            <a:r>
              <a:rPr sz="2000" dirty="0" err="1">
                <a:solidFill>
                  <a:srgbClr val="000000"/>
                </a:solidFill>
                <a:latin typeface="Times New Roman"/>
              </a:rPr>
              <a:t>và</a:t>
            </a:r>
            <a:r>
              <a:rPr sz="2000" dirty="0">
                <a:solidFill>
                  <a:srgbClr val="000000"/>
                </a:solidFill>
                <a:latin typeface="Times New Roman"/>
              </a:rPr>
              <a:t> cài đặt </a:t>
            </a:r>
            <a:r>
              <a:rPr sz="2000" dirty="0" err="1">
                <a:solidFill>
                  <a:srgbClr val="000000"/>
                </a:solidFill>
                <a:latin typeface="Times New Roman"/>
              </a:rPr>
              <a:t>hỗ</a:t>
            </a:r>
            <a:r>
              <a:rPr sz="2000" dirty="0">
                <a:solidFill>
                  <a:srgbClr val="000000"/>
                </a:solidFill>
                <a:latin typeface="Times New Roman"/>
              </a:rPr>
              <a:t> </a:t>
            </a:r>
            <a:r>
              <a:rPr sz="2000" dirty="0" err="1">
                <a:solidFill>
                  <a:srgbClr val="000000"/>
                </a:solidFill>
                <a:latin typeface="Times New Roman"/>
              </a:rPr>
              <a:t>trợ</a:t>
            </a:r>
            <a:r>
              <a:rPr sz="2000" dirty="0">
                <a:solidFill>
                  <a:srgbClr val="000000"/>
                </a:solidFill>
                <a:latin typeface="Times New Roman"/>
              </a:rPr>
              <a:t> </a:t>
            </a:r>
            <a:r>
              <a:rPr sz="2000" dirty="0" err="1">
                <a:solidFill>
                  <a:srgbClr val="000000"/>
                </a:solidFill>
                <a:latin typeface="Times New Roman"/>
              </a:rPr>
              <a:t>tạm</a:t>
            </a:r>
            <a:r>
              <a:rPr sz="2000" dirty="0">
                <a:solidFill>
                  <a:srgbClr val="000000"/>
                </a:solidFill>
                <a:latin typeface="Times New Roman"/>
              </a:rPr>
              <a:t> </a:t>
            </a:r>
            <a:r>
              <a:rPr sz="2000" dirty="0" err="1">
                <a:solidFill>
                  <a:srgbClr val="000000"/>
                </a:solidFill>
                <a:latin typeface="Times New Roman"/>
              </a:rPr>
              <a:t>dừng</a:t>
            </a:r>
            <a:r>
              <a:rPr sz="2000" dirty="0">
                <a:solidFill>
                  <a:srgbClr val="000000"/>
                </a:solidFill>
                <a:latin typeface="Times New Roman"/>
              </a:rPr>
              <a:t> </a:t>
            </a:r>
            <a:r>
              <a:rPr sz="2000" dirty="0" err="1">
                <a:solidFill>
                  <a:srgbClr val="000000"/>
                </a:solidFill>
                <a:latin typeface="Times New Roman"/>
              </a:rPr>
              <a:t>trò</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điều</a:t>
            </a:r>
            <a:r>
              <a:rPr sz="2000" dirty="0">
                <a:solidFill>
                  <a:srgbClr val="000000"/>
                </a:solidFill>
                <a:latin typeface="Times New Roman"/>
              </a:rPr>
              <a:t> </a:t>
            </a:r>
            <a:r>
              <a:rPr sz="2000" dirty="0" err="1">
                <a:solidFill>
                  <a:srgbClr val="000000"/>
                </a:solidFill>
                <a:latin typeface="Times New Roman"/>
              </a:rPr>
              <a:t>chỉnh</a:t>
            </a:r>
            <a:r>
              <a:rPr sz="2000" dirty="0">
                <a:solidFill>
                  <a:srgbClr val="000000"/>
                </a:solidFill>
                <a:latin typeface="Times New Roman"/>
              </a:rPr>
              <a:t> </a:t>
            </a:r>
            <a:r>
              <a:rPr sz="2000" dirty="0" err="1">
                <a:solidFill>
                  <a:srgbClr val="000000"/>
                </a:solidFill>
                <a:latin typeface="Times New Roman"/>
              </a:rPr>
              <a:t>âm</a:t>
            </a:r>
            <a:r>
              <a:rPr sz="2000" dirty="0">
                <a:solidFill>
                  <a:srgbClr val="000000"/>
                </a:solidFill>
                <a:latin typeface="Times New Roman"/>
              </a:rPr>
              <a:t> </a:t>
            </a:r>
            <a:r>
              <a:rPr sz="2000" dirty="0" err="1">
                <a:solidFill>
                  <a:srgbClr val="000000"/>
                </a:solidFill>
                <a:latin typeface="Times New Roman"/>
              </a:rPr>
              <a:t>thanh</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Các </a:t>
            </a:r>
            <a:r>
              <a:rPr sz="2000" dirty="0" err="1">
                <a:solidFill>
                  <a:srgbClr val="000000"/>
                </a:solidFill>
                <a:latin typeface="Times New Roman"/>
              </a:rPr>
              <a:t>giao</a:t>
            </a:r>
            <a:r>
              <a:rPr sz="2000" dirty="0">
                <a:solidFill>
                  <a:srgbClr val="000000"/>
                </a:solidFill>
                <a:latin typeface="Times New Roman"/>
              </a:rPr>
              <a:t> </a:t>
            </a:r>
            <a:r>
              <a:rPr sz="2000" dirty="0" err="1">
                <a:solidFill>
                  <a:srgbClr val="000000"/>
                </a:solidFill>
                <a:latin typeface="Times New Roman"/>
              </a:rPr>
              <a:t>diện</a:t>
            </a:r>
            <a:r>
              <a:rPr sz="2000" dirty="0">
                <a:solidFill>
                  <a:srgbClr val="000000"/>
                </a:solidFill>
                <a:latin typeface="Times New Roman"/>
              </a:rPr>
              <a:t> </a:t>
            </a:r>
            <a:r>
              <a:rPr sz="2000" dirty="0" err="1">
                <a:solidFill>
                  <a:srgbClr val="000000"/>
                </a:solidFill>
                <a:latin typeface="Times New Roman"/>
              </a:rPr>
              <a:t>được</a:t>
            </a:r>
            <a:r>
              <a:rPr sz="2000" dirty="0">
                <a:solidFill>
                  <a:srgbClr val="000000"/>
                </a:solidFill>
                <a:latin typeface="Times New Roman"/>
              </a:rPr>
              <a:t> </a:t>
            </a:r>
            <a:r>
              <a:rPr sz="2000" dirty="0" err="1">
                <a:solidFill>
                  <a:srgbClr val="000000"/>
                </a:solidFill>
                <a:latin typeface="Times New Roman"/>
              </a:rPr>
              <a:t>hiển</a:t>
            </a:r>
            <a:r>
              <a:rPr sz="2000" dirty="0">
                <a:solidFill>
                  <a:srgbClr val="000000"/>
                </a:solidFill>
                <a:latin typeface="Times New Roman"/>
              </a:rPr>
              <a:t> </a:t>
            </a:r>
            <a:r>
              <a:rPr sz="2000" dirty="0" err="1">
                <a:solidFill>
                  <a:srgbClr val="000000"/>
                </a:solidFill>
                <a:latin typeface="Times New Roman"/>
              </a:rPr>
              <a:t>thị</a:t>
            </a:r>
            <a:r>
              <a:rPr sz="2000" dirty="0">
                <a:solidFill>
                  <a:srgbClr val="000000"/>
                </a:solidFill>
                <a:latin typeface="Times New Roman"/>
              </a:rPr>
              <a:t> </a:t>
            </a:r>
            <a:r>
              <a:rPr sz="2000" dirty="0" err="1">
                <a:solidFill>
                  <a:srgbClr val="000000"/>
                </a:solidFill>
                <a:latin typeface="Times New Roman"/>
              </a:rPr>
              <a:t>đúng</a:t>
            </a:r>
            <a:r>
              <a:rPr sz="2000" dirty="0">
                <a:solidFill>
                  <a:srgbClr val="000000"/>
                </a:solidFill>
                <a:latin typeface="Times New Roman"/>
              </a:rPr>
              <a:t> </a:t>
            </a:r>
            <a:r>
              <a:rPr sz="2000" dirty="0" err="1">
                <a:solidFill>
                  <a:srgbClr val="000000"/>
                </a:solidFill>
                <a:latin typeface="Times New Roman"/>
              </a:rPr>
              <a:t>theo</a:t>
            </a:r>
            <a:r>
              <a:rPr sz="2000" dirty="0">
                <a:solidFill>
                  <a:srgbClr val="000000"/>
                </a:solidFill>
                <a:latin typeface="Times New Roman"/>
              </a:rPr>
              <a:t> </a:t>
            </a:r>
            <a:r>
              <a:rPr sz="2000" dirty="0" err="1">
                <a:solidFill>
                  <a:srgbClr val="000000"/>
                </a:solidFill>
                <a:latin typeface="Times New Roman"/>
              </a:rPr>
              <a:t>trạng</a:t>
            </a:r>
            <a:r>
              <a:rPr sz="2000" dirty="0">
                <a:solidFill>
                  <a:srgbClr val="000000"/>
                </a:solidFill>
                <a:latin typeface="Times New Roman"/>
              </a:rPr>
              <a:t> </a:t>
            </a:r>
            <a:r>
              <a:rPr sz="2000" dirty="0" err="1">
                <a:solidFill>
                  <a:srgbClr val="000000"/>
                </a:solidFill>
                <a:latin typeface="Times New Roman"/>
              </a:rPr>
              <a:t>thái</a:t>
            </a:r>
            <a:r>
              <a:rPr sz="2000" dirty="0">
                <a:solidFill>
                  <a:srgbClr val="000000"/>
                </a:solidFill>
                <a:latin typeface="Times New Roman"/>
              </a:rPr>
              <a:t> </a:t>
            </a:r>
            <a:r>
              <a:rPr sz="2000" dirty="0" err="1">
                <a:solidFill>
                  <a:srgbClr val="000000"/>
                </a:solidFill>
                <a:latin typeface="Times New Roman"/>
              </a:rPr>
              <a:t>của</a:t>
            </a:r>
            <a:r>
              <a:rPr sz="2000" dirty="0">
                <a:solidFill>
                  <a:srgbClr val="000000"/>
                </a:solidFill>
                <a:latin typeface="Times New Roman"/>
              </a:rPr>
              <a:t> </a:t>
            </a:r>
            <a:r>
              <a:rPr sz="2000" dirty="0" err="1">
                <a:solidFill>
                  <a:srgbClr val="000000"/>
                </a:solidFill>
                <a:latin typeface="Times New Roman"/>
              </a:rPr>
              <a:t>trận</a:t>
            </a:r>
            <a:r>
              <a:rPr sz="2000" dirty="0">
                <a:solidFill>
                  <a:srgbClr val="000000"/>
                </a:solidFill>
                <a:latin typeface="Times New Roman"/>
              </a:rPr>
              <a:t> </a:t>
            </a:r>
            <a:r>
              <a:rPr sz="2000" dirty="0" err="1">
                <a:solidFill>
                  <a:srgbClr val="000000"/>
                </a:solidFill>
                <a:latin typeface="Times New Roman"/>
              </a:rPr>
              <a:t>đấu</a:t>
            </a:r>
            <a:r>
              <a:rPr sz="2000" dirty="0">
                <a:solidFill>
                  <a:srgbClr val="000000"/>
                </a:solidFill>
                <a:latin typeface="Times New Roman"/>
              </a:rPr>
              <a:t>.</a:t>
            </a:r>
          </a:p>
        </p:txBody>
      </p:sp>
      <p:pic>
        <p:nvPicPr>
          <p:cNvPr id="7" name="Picture 6">
            <a:extLst>
              <a:ext uri="{FF2B5EF4-FFF2-40B4-BE49-F238E27FC236}">
                <a16:creationId xmlns:a16="http://schemas.microsoft.com/office/drawing/2014/main" id="{233F6B13-28A2-D945-0377-2CDD8A22B3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153276" y="4410075"/>
            <a:ext cx="4160000" cy="2340000"/>
          </a:xfrm>
          <a:prstGeom prst="rect">
            <a:avLst/>
          </a:prstGeom>
        </p:spPr>
      </p:pic>
      <p:pic>
        <p:nvPicPr>
          <p:cNvPr id="5" name="Picture 4">
            <a:extLst>
              <a:ext uri="{FF2B5EF4-FFF2-40B4-BE49-F238E27FC236}">
                <a16:creationId xmlns:a16="http://schemas.microsoft.com/office/drawing/2014/main" id="{354A73B0-95C2-AC26-4D24-2DD9EBC53B8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53276" y="1901878"/>
            <a:ext cx="4160000" cy="2340000"/>
          </a:xfrm>
          <a:prstGeom prst="rect">
            <a:avLst/>
          </a:prstGeom>
        </p:spPr>
      </p:pic>
    </p:spTree>
    <p:extLst>
      <p:ext uri="{BB962C8B-B14F-4D97-AF65-F5344CB8AC3E}">
        <p14:creationId xmlns:p14="http://schemas.microsoft.com/office/powerpoint/2010/main" val="401818190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20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139315" y="557784"/>
            <a:ext cx="6217920" cy="1163075"/>
          </a:xfrm>
          <a:prstGeom prst="rect">
            <a:avLst/>
          </a:prstGeom>
          <a:noFill/>
        </p:spPr>
        <p:txBody>
          <a:bodyPr wrap="square" lIns="18288" tIns="18288" rIns="18288" bIns="18288" anchor="t">
            <a:spAutoFit/>
          </a:bodyPr>
          <a:lstStyle/>
          <a:p>
            <a:pPr algn="ctr">
              <a:lnSpc>
                <a:spcPct val="105000"/>
              </a:lnSpc>
              <a:spcBef>
                <a:spcPts val="0"/>
              </a:spcBef>
              <a:spcAft>
                <a:spcPts val="1000"/>
              </a:spcAft>
            </a:pPr>
            <a:r>
              <a:rPr sz="3600" b="1">
                <a:latin typeface="Times New Roman"/>
              </a:rPr>
              <a:t>GIAO DIỆN VÀ</a:t>
            </a:r>
          </a:p>
          <a:p>
            <a:pPr algn="ctr">
              <a:lnSpc>
                <a:spcPct val="105000"/>
              </a:lnSpc>
              <a:spcBef>
                <a:spcPts val="0"/>
              </a:spcBef>
              <a:spcAft>
                <a:spcPts val="1000"/>
              </a:spcAft>
            </a:pPr>
            <a:r>
              <a:rPr sz="3600" b="1">
                <a:latin typeface="Times New Roman"/>
              </a:rPr>
              <a:t>TRẢI NGHIỆM</a:t>
            </a:r>
          </a:p>
        </p:txBody>
      </p:sp>
      <p:sp>
        <p:nvSpPr>
          <p:cNvPr id="3" name="TextBox 2"/>
          <p:cNvSpPr txBox="1"/>
          <p:nvPr/>
        </p:nvSpPr>
        <p:spPr>
          <a:xfrm>
            <a:off x="754532" y="2565776"/>
            <a:ext cx="10682935" cy="399918"/>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a:latin typeface="Times New Roman"/>
              </a:rPr>
              <a:t>Nhập tên người chơi</a:t>
            </a:r>
            <a:endParaRPr sz="2000" b="1" dirty="0">
              <a:solidFill>
                <a:srgbClr val="000000"/>
              </a:solidFill>
              <a:latin typeface="Times New Roman"/>
            </a:endParaRPr>
          </a:p>
        </p:txBody>
      </p:sp>
      <p:sp>
        <p:nvSpPr>
          <p:cNvPr id="6" name="anim-appear-20-line-1"/>
          <p:cNvSpPr txBox="1"/>
          <p:nvPr/>
        </p:nvSpPr>
        <p:spPr>
          <a:xfrm>
            <a:off x="754532" y="3133466"/>
            <a:ext cx="5212080" cy="2924711"/>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b="0">
                <a:latin typeface="Times New Roman"/>
              </a:rPr>
              <a:t>- Người chơi cần nhập tên trước khi bắt đầu trận.</a:t>
            </a:r>
          </a:p>
          <a:p>
            <a:pPr algn="l">
              <a:lnSpc>
                <a:spcPct val="105000"/>
              </a:lnSpc>
              <a:spcBef>
                <a:spcPts val="0"/>
              </a:spcBef>
              <a:spcAft>
                <a:spcPts val="1000"/>
              </a:spcAft>
            </a:pPr>
            <a:r>
              <a:rPr sz="2000" b="0">
                <a:latin typeface="Times New Roman"/>
              </a:rPr>
              <a:t>- Tên được dùng để hiển thị kết quả trên bảng xếp hạng.</a:t>
            </a:r>
          </a:p>
          <a:p>
            <a:pPr algn="l">
              <a:lnSpc>
                <a:spcPct val="105000"/>
              </a:lnSpc>
              <a:spcBef>
                <a:spcPts val="0"/>
              </a:spcBef>
              <a:spcAft>
                <a:spcPts val="1000"/>
              </a:spcAft>
            </a:pPr>
            <a:r>
              <a:rPr sz="2000" b="0">
                <a:latin typeface="Times New Roman"/>
              </a:rPr>
              <a:t>- Nếu chưa có tên, hệ thống yêu cầu nhập và xác nhận trước khi chơi.</a:t>
            </a:r>
          </a:p>
        </p:txBody>
      </p:sp>
      <p:pic>
        <p:nvPicPr>
          <p:cNvPr id="7" name="Picture 6" descr="doc_image_03.png"/>
          <p:cNvPicPr>
            <a:picLocks noChangeAspect="1"/>
          </p:cNvPicPr>
          <p:nvPr/>
        </p:nvPicPr>
        <p:blipFill>
          <a:blip r:embed="rId4"/>
          <a:stretch>
            <a:fillRect/>
          </a:stretch>
        </p:blipFill>
        <p:spPr>
          <a:xfrm>
            <a:off x="6957467" y="2965694"/>
            <a:ext cx="4480000" cy="2520000"/>
          </a:xfrm>
          <a:prstGeom prst="rect">
            <a:avLst/>
          </a:prstGeom>
        </p:spPr>
      </p:pic>
    </p:spTree>
  </p:cSld>
  <p:clrMapOvr>
    <a:masterClrMapping/>
  </p:clrMapOvr>
  <p:transition>
    <p:fade/>
  </p:transition>
  <p:timing>
    <p:tnLst>
      <p:par>
        <p:cTn id="1" dur="indef"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D8272-451E-1BEE-4E71-C5AB5AA9DE5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4AE3B23-A557-2798-B74F-90132755546E}"/>
              </a:ext>
            </a:extLst>
          </p:cNvPr>
          <p:cNvSpPr txBox="1"/>
          <p:nvPr/>
        </p:nvSpPr>
        <p:spPr>
          <a:xfrm>
            <a:off x="2139315" y="570606"/>
            <a:ext cx="6217920" cy="1163075"/>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GIAO DIỆN VÀ</a:t>
            </a:r>
            <a:r>
              <a:rPr lang="en-US" sz="3600" b="1" dirty="0">
                <a:solidFill>
                  <a:srgbClr val="1F4E79"/>
                </a:solidFill>
                <a:latin typeface="Times New Roman"/>
              </a:rPr>
              <a:t>
</a:t>
            </a:r>
            <a:r>
              <a:rPr sz="3600" b="1" dirty="0">
                <a:solidFill>
                  <a:srgbClr val="1F4E79"/>
                </a:solidFill>
                <a:latin typeface="Times New Roman"/>
              </a:rPr>
              <a:t>TRẢI</a:t>
            </a:r>
            <a:r>
              <a:rPr lang="en-US" sz="3600" b="1" dirty="0">
                <a:solidFill>
                  <a:srgbClr val="1F4E79"/>
                </a:solidFill>
                <a:latin typeface="Times New Roman"/>
              </a:rPr>
              <a:t> </a:t>
            </a:r>
            <a:r>
              <a:rPr sz="3600" b="1" dirty="0">
                <a:solidFill>
                  <a:srgbClr val="1F4E79"/>
                </a:solidFill>
                <a:latin typeface="Times New Roman"/>
              </a:rPr>
              <a:t>NGHIỆM</a:t>
            </a:r>
          </a:p>
        </p:txBody>
      </p:sp>
      <p:sp>
        <p:nvSpPr>
          <p:cNvPr id="6" name="anim-appear-20-line-1">
            <a:extLst>
              <a:ext uri="{FF2B5EF4-FFF2-40B4-BE49-F238E27FC236}">
                <a16:creationId xmlns:a16="http://schemas.microsoft.com/office/drawing/2014/main" id="{D3797DC2-2EAF-9D1A-A019-63730E3F6374}"/>
              </a:ext>
            </a:extLst>
          </p:cNvPr>
          <p:cNvSpPr txBox="1"/>
          <p:nvPr/>
        </p:nvSpPr>
        <p:spPr>
          <a:xfrm>
            <a:off x="786764" y="2488311"/>
            <a:ext cx="5575935" cy="1629998"/>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a:latin typeface="Times New Roman"/>
              </a:rPr>
              <a:t>Bản đồ</a:t>
            </a:r>
            <a:endParaRPr sz="2400" b="1" dirty="0">
              <a:solidFill>
                <a:srgbClr val="000000"/>
              </a:solidFill>
              <a:latin typeface="Times New Roman"/>
            </a:endParaRPr>
          </a:p>
          <a:p>
            <a:pPr>
              <a:lnSpc>
                <a:spcPct val="105000"/>
              </a:lnSpc>
              <a:spcBef>
                <a:spcPts val="0"/>
              </a:spcBef>
              <a:spcAft>
                <a:spcPts val="1000"/>
              </a:spcAft>
            </a:pPr>
            <a:r>
              <a:rPr sz="2000" b="0">
                <a:latin typeface="Times New Roman"/>
              </a:rPr>
              <a:t>- Bản đồ thay đổi theo từng giai đoạn để tạo cảm giác mới trong quá trình chơi.</a:t>
            </a:r>
            <a:endParaRPr lang="en-US" sz="2000" dirty="0">
              <a:latin typeface="Times New Roman"/>
            </a:endParaRPr>
          </a:p>
          <a:p>
            <a:pPr>
              <a:lnSpc>
                <a:spcPct val="105000"/>
              </a:lnSpc>
              <a:spcBef>
                <a:spcPts val="0"/>
              </a:spcBef>
              <a:spcAft>
                <a:spcPts val="1000"/>
              </a:spcAft>
            </a:pPr>
            <a:r>
              <a:rPr sz="2000" b="0">
                <a:latin typeface="Times New Roman"/>
              </a:rPr>
              <a:t>- Mỗi khi hoàn thành đợt có boss, trò chơi chuyển sang bản đồ mới.</a:t>
            </a:r>
          </a:p>
        </p:txBody>
      </p:sp>
      <p:pic>
        <p:nvPicPr>
          <p:cNvPr id="5" name="Picture 4">
            <a:extLst>
              <a:ext uri="{FF2B5EF4-FFF2-40B4-BE49-F238E27FC236}">
                <a16:creationId xmlns:a16="http://schemas.microsoft.com/office/drawing/2014/main" id="{B51E35A4-68D7-4C43-35FD-D1EAE27DA0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153276" y="1901878"/>
            <a:ext cx="4160000" cy="2340000"/>
          </a:xfrm>
          <a:prstGeom prst="rect">
            <a:avLst/>
          </a:prstGeom>
        </p:spPr>
      </p:pic>
      <p:pic>
        <p:nvPicPr>
          <p:cNvPr id="4" name="Picture 3">
            <a:extLst>
              <a:ext uri="{FF2B5EF4-FFF2-40B4-BE49-F238E27FC236}">
                <a16:creationId xmlns:a16="http://schemas.microsoft.com/office/drawing/2014/main" id="{F19760B1-B276-4A05-87F2-DEF4DB4C0B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53276" y="4410075"/>
            <a:ext cx="4160000" cy="2340000"/>
          </a:xfrm>
          <a:prstGeom prst="rect">
            <a:avLst/>
          </a:prstGeom>
        </p:spPr>
      </p:pic>
    </p:spTree>
    <p:extLst>
      <p:ext uri="{BB962C8B-B14F-4D97-AF65-F5344CB8AC3E}">
        <p14:creationId xmlns:p14="http://schemas.microsoft.com/office/powerpoint/2010/main" val="244734177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20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39315" y="557784"/>
            <a:ext cx="6217920" cy="1163075"/>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GIAO DIỆN VÀ
TRẢI NGHIỆM</a:t>
            </a:r>
          </a:p>
        </p:txBody>
      </p:sp>
      <p:sp>
        <p:nvSpPr>
          <p:cNvPr id="3" name="TextBox 2"/>
          <p:cNvSpPr txBox="1"/>
          <p:nvPr/>
        </p:nvSpPr>
        <p:spPr>
          <a:xfrm>
            <a:off x="754532" y="2565776"/>
            <a:ext cx="10682935" cy="399918"/>
          </a:xfrm>
          <a:prstGeom prst="rect">
            <a:avLst/>
          </a:prstGeom>
          <a:noFill/>
        </p:spPr>
        <p:txBody>
          <a:bodyPr wrap="square" lIns="18288" tIns="18288" rIns="18288" bIns="18288" anchor="t">
            <a:spAutoFit/>
          </a:bodyPr>
          <a:lstStyle/>
          <a:p>
            <a:pPr algn="l">
              <a:lnSpc>
                <a:spcPct val="105000"/>
              </a:lnSpc>
              <a:spcBef>
                <a:spcPts val="0"/>
              </a:spcBef>
              <a:spcAft>
                <a:spcPts val="0"/>
              </a:spcAft>
            </a:pPr>
            <a:r>
              <a:rPr lang="en-US" sz="2400" b="1" dirty="0" err="1">
                <a:latin typeface="Times New Roman"/>
              </a:rPr>
              <a:t>B</a:t>
            </a:r>
            <a:r>
              <a:rPr sz="2400" b="1" dirty="0" err="1">
                <a:latin typeface="Times New Roman"/>
              </a:rPr>
              <a:t>ắt</a:t>
            </a:r>
            <a:r>
              <a:rPr sz="2400" b="1" dirty="0">
                <a:latin typeface="Times New Roman"/>
              </a:rPr>
              <a:t> </a:t>
            </a:r>
            <a:r>
              <a:rPr sz="2400" b="1" dirty="0" err="1">
                <a:latin typeface="Times New Roman"/>
              </a:rPr>
              <a:t>đầu</a:t>
            </a:r>
            <a:r>
              <a:rPr sz="2400" b="1" dirty="0">
                <a:latin typeface="Times New Roman"/>
              </a:rPr>
              <a:t> </a:t>
            </a:r>
            <a:r>
              <a:rPr sz="2400" b="1" dirty="0" err="1">
                <a:latin typeface="Times New Roman"/>
              </a:rPr>
              <a:t>trận</a:t>
            </a:r>
            <a:endParaRPr sz="2000" b="1" dirty="0">
              <a:solidFill>
                <a:srgbClr val="000000"/>
              </a:solidFill>
              <a:latin typeface="Times New Roman"/>
            </a:endParaRPr>
          </a:p>
        </p:txBody>
      </p:sp>
      <p:sp>
        <p:nvSpPr>
          <p:cNvPr id="6" name="anim-appear-20-line-1"/>
          <p:cNvSpPr txBox="1"/>
          <p:nvPr/>
        </p:nvSpPr>
        <p:spPr>
          <a:xfrm>
            <a:off x="754532" y="3133466"/>
            <a:ext cx="5212080" cy="2924711"/>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Người</a:t>
            </a:r>
            <a:r>
              <a:rPr sz="2000" dirty="0">
                <a:solidFill>
                  <a:srgbClr val="000000"/>
                </a:solidFill>
                <a:latin typeface="Times New Roman"/>
              </a:rPr>
              <a:t> </a:t>
            </a:r>
            <a:r>
              <a:rPr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tương</a:t>
            </a:r>
            <a:r>
              <a:rPr sz="2000" dirty="0">
                <a:solidFill>
                  <a:srgbClr val="000000"/>
                </a:solidFill>
                <a:latin typeface="Times New Roman"/>
              </a:rPr>
              <a:t> </a:t>
            </a:r>
            <a:r>
              <a:rPr sz="2000" dirty="0" err="1">
                <a:solidFill>
                  <a:srgbClr val="000000"/>
                </a:solidFill>
                <a:latin typeface="Times New Roman"/>
              </a:rPr>
              <a:t>tác</a:t>
            </a:r>
            <a:r>
              <a:rPr sz="2000" dirty="0">
                <a:solidFill>
                  <a:srgbClr val="000000"/>
                </a:solidFill>
                <a:latin typeface="Times New Roman"/>
              </a:rPr>
              <a:t> </a:t>
            </a:r>
            <a:r>
              <a:rPr sz="2000" dirty="0" err="1">
                <a:solidFill>
                  <a:srgbClr val="000000"/>
                </a:solidFill>
                <a:latin typeface="Times New Roman"/>
              </a:rPr>
              <a:t>với</a:t>
            </a:r>
            <a:r>
              <a:rPr sz="2000" dirty="0">
                <a:solidFill>
                  <a:srgbClr val="000000"/>
                </a:solidFill>
                <a:latin typeface="Times New Roman"/>
              </a:rPr>
              <a:t> </a:t>
            </a:r>
            <a:r>
              <a:rPr sz="2000" dirty="0" err="1">
                <a:solidFill>
                  <a:srgbClr val="000000"/>
                </a:solidFill>
                <a:latin typeface="Times New Roman"/>
              </a:rPr>
              <a:t>khu</a:t>
            </a:r>
            <a:r>
              <a:rPr sz="2000" dirty="0">
                <a:solidFill>
                  <a:srgbClr val="000000"/>
                </a:solidFill>
                <a:latin typeface="Times New Roman"/>
              </a:rPr>
              <a:t> </a:t>
            </a:r>
            <a:r>
              <a:rPr sz="2000" dirty="0" err="1">
                <a:solidFill>
                  <a:srgbClr val="000000"/>
                </a:solidFill>
                <a:latin typeface="Times New Roman"/>
              </a:rPr>
              <a:t>vực</a:t>
            </a:r>
            <a:r>
              <a:rPr sz="2000" dirty="0">
                <a:solidFill>
                  <a:srgbClr val="000000"/>
                </a:solidFill>
                <a:latin typeface="Times New Roman"/>
              </a:rPr>
              <a:t> </a:t>
            </a:r>
            <a:r>
              <a:rPr sz="2000" dirty="0" err="1">
                <a:solidFill>
                  <a:srgbClr val="000000"/>
                </a:solidFill>
                <a:latin typeface="Times New Roman"/>
              </a:rPr>
              <a:t>bắt</a:t>
            </a:r>
            <a:r>
              <a:rPr sz="2000" dirty="0">
                <a:solidFill>
                  <a:srgbClr val="000000"/>
                </a:solidFill>
                <a:latin typeface="Times New Roman"/>
              </a:rPr>
              <a:t> </a:t>
            </a:r>
            <a:r>
              <a:rPr sz="2000" dirty="0" err="1">
                <a:solidFill>
                  <a:srgbClr val="000000"/>
                </a:solidFill>
                <a:latin typeface="Times New Roman"/>
              </a:rPr>
              <a:t>đầu</a:t>
            </a:r>
            <a:r>
              <a:rPr sz="2000" dirty="0">
                <a:solidFill>
                  <a:srgbClr val="000000"/>
                </a:solidFill>
                <a:latin typeface="Times New Roman"/>
              </a:rPr>
              <a:t> </a:t>
            </a:r>
            <a:r>
              <a:rPr sz="2000" dirty="0" err="1">
                <a:solidFill>
                  <a:srgbClr val="000000"/>
                </a:solidFill>
                <a:latin typeface="Times New Roman"/>
              </a:rPr>
              <a:t>trận</a:t>
            </a:r>
            <a:r>
              <a:rPr sz="2000" dirty="0">
                <a:solidFill>
                  <a:srgbClr val="000000"/>
                </a:solidFill>
                <a:latin typeface="Times New Roman"/>
              </a:rPr>
              <a:t> </a:t>
            </a:r>
            <a:r>
              <a:rPr sz="2000" dirty="0" err="1">
                <a:solidFill>
                  <a:srgbClr val="000000"/>
                </a:solidFill>
                <a:latin typeface="Times New Roman"/>
              </a:rPr>
              <a:t>để</a:t>
            </a:r>
            <a:r>
              <a:rPr sz="2000" dirty="0">
                <a:solidFill>
                  <a:srgbClr val="000000"/>
                </a:solidFill>
                <a:latin typeface="Times New Roman"/>
              </a:rPr>
              <a:t> </a:t>
            </a:r>
            <a:r>
              <a:rPr sz="2000" dirty="0" err="1">
                <a:solidFill>
                  <a:srgbClr val="000000"/>
                </a:solidFill>
                <a:latin typeface="Times New Roman"/>
              </a:rPr>
              <a:t>mở</a:t>
            </a:r>
            <a:r>
              <a:rPr sz="2000" dirty="0">
                <a:solidFill>
                  <a:srgbClr val="000000"/>
                </a:solidFill>
                <a:latin typeface="Times New Roman"/>
              </a:rPr>
              <a:t> </a:t>
            </a:r>
            <a:r>
              <a:rPr sz="2000" dirty="0" err="1">
                <a:solidFill>
                  <a:srgbClr val="000000"/>
                </a:solidFill>
                <a:latin typeface="Times New Roman"/>
              </a:rPr>
              <a:t>bảng</a:t>
            </a:r>
            <a:r>
              <a:rPr sz="2000" dirty="0">
                <a:solidFill>
                  <a:srgbClr val="000000"/>
                </a:solidFill>
                <a:latin typeface="Times New Roman"/>
              </a:rPr>
              <a:t> </a:t>
            </a:r>
            <a:r>
              <a:rPr sz="2000" dirty="0" err="1">
                <a:solidFill>
                  <a:srgbClr val="000000"/>
                </a:solidFill>
                <a:latin typeface="Times New Roman"/>
              </a:rPr>
              <a:t>hướng</a:t>
            </a:r>
            <a:r>
              <a:rPr sz="2000" dirty="0">
                <a:solidFill>
                  <a:srgbClr val="000000"/>
                </a:solidFill>
                <a:latin typeface="Times New Roman"/>
              </a:rPr>
              <a:t> </a:t>
            </a:r>
            <a:r>
              <a:rPr sz="2000" dirty="0" err="1">
                <a:solidFill>
                  <a:srgbClr val="000000"/>
                </a:solidFill>
                <a:latin typeface="Times New Roman"/>
              </a:rPr>
              <a:t>dẫn</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Bảng</a:t>
            </a:r>
            <a:r>
              <a:rPr sz="2000" dirty="0">
                <a:solidFill>
                  <a:srgbClr val="000000"/>
                </a:solidFill>
                <a:latin typeface="Times New Roman"/>
              </a:rPr>
              <a:t> </a:t>
            </a:r>
            <a:r>
              <a:rPr sz="2000" dirty="0" err="1">
                <a:solidFill>
                  <a:srgbClr val="000000"/>
                </a:solidFill>
                <a:latin typeface="Times New Roman"/>
              </a:rPr>
              <a:t>hướng</a:t>
            </a:r>
            <a:r>
              <a:rPr sz="2000" dirty="0">
                <a:solidFill>
                  <a:srgbClr val="000000"/>
                </a:solidFill>
                <a:latin typeface="Times New Roman"/>
              </a:rPr>
              <a:t> </a:t>
            </a:r>
            <a:r>
              <a:rPr sz="2000" dirty="0" err="1">
                <a:solidFill>
                  <a:srgbClr val="000000"/>
                </a:solidFill>
                <a:latin typeface="Times New Roman"/>
              </a:rPr>
              <a:t>dẫn</a:t>
            </a:r>
            <a:r>
              <a:rPr sz="2000" dirty="0">
                <a:solidFill>
                  <a:srgbClr val="000000"/>
                </a:solidFill>
                <a:latin typeface="Times New Roman"/>
              </a:rPr>
              <a:t> </a:t>
            </a:r>
            <a:r>
              <a:rPr sz="2000" dirty="0" err="1">
                <a:solidFill>
                  <a:srgbClr val="000000"/>
                </a:solidFill>
                <a:latin typeface="Times New Roman"/>
              </a:rPr>
              <a:t>hiển</a:t>
            </a:r>
            <a:r>
              <a:rPr sz="2000" dirty="0">
                <a:solidFill>
                  <a:srgbClr val="000000"/>
                </a:solidFill>
                <a:latin typeface="Times New Roman"/>
              </a:rPr>
              <a:t> </a:t>
            </a:r>
            <a:r>
              <a:rPr sz="2000" dirty="0" err="1">
                <a:solidFill>
                  <a:srgbClr val="000000"/>
                </a:solidFill>
                <a:latin typeface="Times New Roman"/>
              </a:rPr>
              <a:t>thị</a:t>
            </a:r>
            <a:r>
              <a:rPr sz="2000" dirty="0">
                <a:solidFill>
                  <a:srgbClr val="000000"/>
                </a:solidFill>
                <a:latin typeface="Times New Roman"/>
              </a:rPr>
              <a:t> </a:t>
            </a:r>
            <a:r>
              <a:rPr sz="2000" dirty="0" err="1">
                <a:solidFill>
                  <a:srgbClr val="000000"/>
                </a:solidFill>
                <a:latin typeface="Times New Roman"/>
              </a:rPr>
              <a:t>hướng</a:t>
            </a:r>
            <a:r>
              <a:rPr sz="2000" dirty="0">
                <a:solidFill>
                  <a:srgbClr val="000000"/>
                </a:solidFill>
                <a:latin typeface="Times New Roman"/>
              </a:rPr>
              <a:t> </a:t>
            </a:r>
            <a:r>
              <a:rPr sz="2000" dirty="0" err="1">
                <a:solidFill>
                  <a:srgbClr val="000000"/>
                </a:solidFill>
                <a:latin typeface="Times New Roman"/>
              </a:rPr>
              <a:t>dẫn</a:t>
            </a:r>
            <a:r>
              <a:rPr sz="2000" dirty="0">
                <a:solidFill>
                  <a:srgbClr val="000000"/>
                </a:solidFill>
                <a:latin typeface="Times New Roman"/>
              </a:rPr>
              <a:t> </a:t>
            </a:r>
            <a:r>
              <a:rPr sz="2000" dirty="0" err="1">
                <a:solidFill>
                  <a:srgbClr val="000000"/>
                </a:solidFill>
                <a:latin typeface="Times New Roman"/>
              </a:rPr>
              <a:t>điều</a:t>
            </a:r>
            <a:r>
              <a:rPr sz="2000" dirty="0">
                <a:solidFill>
                  <a:srgbClr val="000000"/>
                </a:solidFill>
                <a:latin typeface="Times New Roman"/>
              </a:rPr>
              <a:t> </a:t>
            </a:r>
            <a:r>
              <a:rPr sz="2000" dirty="0" err="1">
                <a:solidFill>
                  <a:srgbClr val="000000"/>
                </a:solidFill>
                <a:latin typeface="Times New Roman"/>
              </a:rPr>
              <a:t>khiển</a:t>
            </a:r>
            <a:r>
              <a:rPr sz="2000" dirty="0">
                <a:solidFill>
                  <a:srgbClr val="000000"/>
                </a:solidFill>
                <a:latin typeface="Times New Roman"/>
              </a:rPr>
              <a:t> </a:t>
            </a:r>
            <a:r>
              <a:rPr sz="2000" dirty="0" err="1">
                <a:solidFill>
                  <a:srgbClr val="000000"/>
                </a:solidFill>
                <a:latin typeface="Times New Roman"/>
              </a:rPr>
              <a:t>cơ</a:t>
            </a:r>
            <a:r>
              <a:rPr sz="2000" dirty="0">
                <a:solidFill>
                  <a:srgbClr val="000000"/>
                </a:solidFill>
                <a:latin typeface="Times New Roman"/>
              </a:rPr>
              <a:t> </a:t>
            </a:r>
            <a:r>
              <a:rPr sz="2000" dirty="0" err="1">
                <a:solidFill>
                  <a:srgbClr val="000000"/>
                </a:solidFill>
                <a:latin typeface="Times New Roman"/>
              </a:rPr>
              <a:t>bản</a:t>
            </a:r>
            <a:r>
              <a:rPr sz="2000" dirty="0">
                <a:solidFill>
                  <a:srgbClr val="000000"/>
                </a:solidFill>
                <a:latin typeface="Times New Roman"/>
              </a:rPr>
              <a:t> </a:t>
            </a:r>
            <a:r>
              <a:rPr sz="2000" dirty="0" err="1">
                <a:solidFill>
                  <a:srgbClr val="000000"/>
                </a:solidFill>
                <a:latin typeface="Times New Roman"/>
              </a:rPr>
              <a:t>trước</a:t>
            </a:r>
            <a:r>
              <a:rPr sz="2000" dirty="0">
                <a:solidFill>
                  <a:srgbClr val="000000"/>
                </a:solidFill>
                <a:latin typeface="Times New Roman"/>
              </a:rPr>
              <a:t> </a:t>
            </a:r>
            <a:r>
              <a:rPr sz="2000" dirty="0" err="1">
                <a:solidFill>
                  <a:srgbClr val="000000"/>
                </a:solidFill>
                <a:latin typeface="Times New Roman"/>
              </a:rPr>
              <a:t>khi</a:t>
            </a:r>
            <a:r>
              <a:rPr sz="2000" dirty="0">
                <a:solidFill>
                  <a:srgbClr val="000000"/>
                </a:solidFill>
                <a:latin typeface="Times New Roman"/>
              </a:rPr>
              <a:t> </a:t>
            </a:r>
            <a:r>
              <a:rPr sz="2000" dirty="0" err="1">
                <a:solidFill>
                  <a:srgbClr val="000000"/>
                </a:solidFill>
                <a:latin typeface="Times New Roman"/>
              </a:rPr>
              <a:t>vào</a:t>
            </a:r>
            <a:r>
              <a:rPr sz="2000" dirty="0">
                <a:solidFill>
                  <a:srgbClr val="000000"/>
                </a:solidFill>
                <a:latin typeface="Times New Roman"/>
              </a:rPr>
              <a:t> </a:t>
            </a:r>
            <a:r>
              <a:rPr sz="2000" dirty="0" err="1">
                <a:solidFill>
                  <a:srgbClr val="000000"/>
                </a:solidFill>
                <a:latin typeface="Times New Roman"/>
              </a:rPr>
              <a:t>trận</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Sau </a:t>
            </a:r>
            <a:r>
              <a:rPr sz="2000" dirty="0" err="1">
                <a:solidFill>
                  <a:srgbClr val="000000"/>
                </a:solidFill>
                <a:latin typeface="Times New Roman"/>
              </a:rPr>
              <a:t>khi</a:t>
            </a:r>
            <a:r>
              <a:rPr sz="2000" dirty="0">
                <a:solidFill>
                  <a:srgbClr val="000000"/>
                </a:solidFill>
                <a:latin typeface="Times New Roman"/>
              </a:rPr>
              <a:t> </a:t>
            </a:r>
            <a:r>
              <a:rPr sz="2000" dirty="0" err="1">
                <a:solidFill>
                  <a:srgbClr val="000000"/>
                </a:solidFill>
                <a:latin typeface="Times New Roman"/>
              </a:rPr>
              <a:t>xác</a:t>
            </a:r>
            <a:r>
              <a:rPr sz="2000" dirty="0">
                <a:solidFill>
                  <a:srgbClr val="000000"/>
                </a:solidFill>
                <a:latin typeface="Times New Roman"/>
              </a:rPr>
              <a:t> </a:t>
            </a:r>
            <a:r>
              <a:rPr sz="2000" dirty="0" err="1">
                <a:solidFill>
                  <a:srgbClr val="000000"/>
                </a:solidFill>
                <a:latin typeface="Times New Roman"/>
              </a:rPr>
              <a:t>nhận</a:t>
            </a:r>
            <a:r>
              <a:rPr sz="2000" dirty="0">
                <a:solidFill>
                  <a:srgbClr val="000000"/>
                </a:solidFill>
                <a:latin typeface="Times New Roman"/>
              </a:rPr>
              <a:t> </a:t>
            </a:r>
            <a:r>
              <a:rPr sz="2000" dirty="0" err="1">
                <a:solidFill>
                  <a:srgbClr val="000000"/>
                </a:solidFill>
                <a:latin typeface="Times New Roman"/>
              </a:rPr>
              <a:t>bắt</a:t>
            </a:r>
            <a:r>
              <a:rPr sz="2000" dirty="0">
                <a:solidFill>
                  <a:srgbClr val="000000"/>
                </a:solidFill>
                <a:latin typeface="Times New Roman"/>
              </a:rPr>
              <a:t> </a:t>
            </a:r>
            <a:r>
              <a:rPr sz="2000" dirty="0" err="1">
                <a:solidFill>
                  <a:srgbClr val="000000"/>
                </a:solidFill>
                <a:latin typeface="Times New Roman"/>
              </a:rPr>
              <a:t>đầu</a:t>
            </a:r>
            <a:r>
              <a:rPr sz="2000" dirty="0">
                <a:solidFill>
                  <a:srgbClr val="000000"/>
                </a:solidFill>
                <a:latin typeface="Times New Roman"/>
              </a:rPr>
              <a:t>, </a:t>
            </a:r>
            <a:r>
              <a:rPr sz="2000" dirty="0" err="1">
                <a:solidFill>
                  <a:srgbClr val="000000"/>
                </a:solidFill>
                <a:latin typeface="Times New Roman"/>
              </a:rPr>
              <a:t>hệ</a:t>
            </a:r>
            <a:r>
              <a:rPr sz="2000" dirty="0">
                <a:solidFill>
                  <a:srgbClr val="000000"/>
                </a:solidFill>
                <a:latin typeface="Times New Roman"/>
              </a:rPr>
              <a:t> </a:t>
            </a:r>
            <a:r>
              <a:rPr sz="2000" dirty="0" err="1">
                <a:solidFill>
                  <a:srgbClr val="000000"/>
                </a:solidFill>
                <a:latin typeface="Times New Roman"/>
              </a:rPr>
              <a:t>thống</a:t>
            </a:r>
            <a:r>
              <a:rPr sz="2000" dirty="0">
                <a:solidFill>
                  <a:srgbClr val="000000"/>
                </a:solidFill>
                <a:latin typeface="Times New Roman"/>
              </a:rPr>
              <a:t> </a:t>
            </a:r>
            <a:r>
              <a:rPr sz="2000" dirty="0" err="1">
                <a:solidFill>
                  <a:srgbClr val="000000"/>
                </a:solidFill>
                <a:latin typeface="Times New Roman"/>
              </a:rPr>
              <a:t>khởi</a:t>
            </a:r>
            <a:r>
              <a:rPr sz="2000" dirty="0">
                <a:solidFill>
                  <a:srgbClr val="000000"/>
                </a:solidFill>
                <a:latin typeface="Times New Roman"/>
              </a:rPr>
              <a:t> </a:t>
            </a:r>
            <a:r>
              <a:rPr sz="2000" dirty="0" err="1">
                <a:solidFill>
                  <a:srgbClr val="000000"/>
                </a:solidFill>
                <a:latin typeface="Times New Roman"/>
              </a:rPr>
              <a:t>tạo</a:t>
            </a:r>
            <a:r>
              <a:rPr sz="2000" dirty="0">
                <a:solidFill>
                  <a:srgbClr val="000000"/>
                </a:solidFill>
                <a:latin typeface="Times New Roman"/>
              </a:rPr>
              <a:t> </a:t>
            </a:r>
            <a:r>
              <a:rPr sz="2000" dirty="0" err="1">
                <a:solidFill>
                  <a:srgbClr val="000000"/>
                </a:solidFill>
                <a:latin typeface="Times New Roman"/>
              </a:rPr>
              <a:t>đợt</a:t>
            </a:r>
            <a:r>
              <a:rPr sz="2000" dirty="0">
                <a:solidFill>
                  <a:srgbClr val="000000"/>
                </a:solidFill>
                <a:latin typeface="Times New Roman"/>
              </a:rPr>
              <a:t> </a:t>
            </a:r>
            <a:r>
              <a:rPr sz="2000" dirty="0" err="1">
                <a:solidFill>
                  <a:srgbClr val="000000"/>
                </a:solidFill>
                <a:latin typeface="Times New Roman"/>
              </a:rPr>
              <a:t>quái</a:t>
            </a:r>
            <a:r>
              <a:rPr sz="2000" dirty="0">
                <a:solidFill>
                  <a:srgbClr val="000000"/>
                </a:solidFill>
                <a:latin typeface="Times New Roman"/>
              </a:rPr>
              <a:t> </a:t>
            </a:r>
            <a:r>
              <a:rPr sz="2000" dirty="0" err="1">
                <a:solidFill>
                  <a:srgbClr val="000000"/>
                </a:solidFill>
                <a:latin typeface="Times New Roman"/>
              </a:rPr>
              <a:t>đầu</a:t>
            </a:r>
            <a:r>
              <a:rPr sz="2000" dirty="0">
                <a:solidFill>
                  <a:srgbClr val="000000"/>
                </a:solidFill>
                <a:latin typeface="Times New Roman"/>
              </a:rPr>
              <a:t> </a:t>
            </a:r>
            <a:r>
              <a:rPr sz="2000" dirty="0" err="1">
                <a:solidFill>
                  <a:srgbClr val="000000"/>
                </a:solidFill>
                <a:latin typeface="Times New Roman"/>
              </a:rPr>
              <a:t>tiên</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chuyển</a:t>
            </a:r>
            <a:r>
              <a:rPr sz="2000" dirty="0">
                <a:solidFill>
                  <a:srgbClr val="000000"/>
                </a:solidFill>
                <a:latin typeface="Times New Roman"/>
              </a:rPr>
              <a:t> sang </a:t>
            </a:r>
            <a:r>
              <a:rPr sz="2000" dirty="0" err="1">
                <a:solidFill>
                  <a:srgbClr val="000000"/>
                </a:solidFill>
                <a:latin typeface="Times New Roman"/>
              </a:rPr>
              <a:t>trạng</a:t>
            </a:r>
            <a:r>
              <a:rPr sz="2000" dirty="0">
                <a:solidFill>
                  <a:srgbClr val="000000"/>
                </a:solidFill>
                <a:latin typeface="Times New Roman"/>
              </a:rPr>
              <a:t> </a:t>
            </a:r>
            <a:r>
              <a:rPr sz="2000" dirty="0" err="1">
                <a:solidFill>
                  <a:srgbClr val="000000"/>
                </a:solidFill>
                <a:latin typeface="Times New Roman"/>
              </a:rPr>
              <a:t>thái</a:t>
            </a:r>
            <a:r>
              <a:rPr sz="2000" dirty="0">
                <a:solidFill>
                  <a:srgbClr val="000000"/>
                </a:solidFill>
                <a:latin typeface="Times New Roman"/>
              </a:rPr>
              <a:t> </a:t>
            </a:r>
            <a:r>
              <a:rPr sz="2000" dirty="0" err="1">
                <a:solidFill>
                  <a:srgbClr val="000000"/>
                </a:solidFill>
                <a:latin typeface="Times New Roman"/>
              </a:rPr>
              <a:t>chiến</a:t>
            </a:r>
            <a:r>
              <a:rPr sz="2000" dirty="0">
                <a:solidFill>
                  <a:srgbClr val="000000"/>
                </a:solidFill>
                <a:latin typeface="Times New Roman"/>
              </a:rPr>
              <a:t> </a:t>
            </a:r>
            <a:r>
              <a:rPr sz="2000" dirty="0" err="1">
                <a:solidFill>
                  <a:srgbClr val="000000"/>
                </a:solidFill>
                <a:latin typeface="Times New Roman"/>
              </a:rPr>
              <a:t>đấu</a:t>
            </a:r>
            <a:r>
              <a:rPr sz="2000" dirty="0">
                <a:solidFill>
                  <a:srgbClr val="000000"/>
                </a:solidFill>
                <a:latin typeface="Times New Roman"/>
              </a:rPr>
              <a:t>.</a:t>
            </a:r>
          </a:p>
        </p:txBody>
      </p:sp>
      <p:pic>
        <p:nvPicPr>
          <p:cNvPr id="7" name="Picture 6">
            <a:extLst>
              <a:ext uri="{FF2B5EF4-FFF2-40B4-BE49-F238E27FC236}">
                <a16:creationId xmlns:a16="http://schemas.microsoft.com/office/drawing/2014/main" id="{1DDCC893-1854-D46F-D062-F28D844F8C6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57467" y="2965694"/>
            <a:ext cx="4480000" cy="2520000"/>
          </a:xfrm>
          <a:prstGeom prst="rect">
            <a:avLst/>
          </a:prstGeom>
        </p:spPr>
      </p:pic>
    </p:spTree>
    <p:extLst>
      <p:ext uri="{BB962C8B-B14F-4D97-AF65-F5344CB8AC3E}">
        <p14:creationId xmlns:p14="http://schemas.microsoft.com/office/powerpoint/2010/main" val="380587071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20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39315" y="557784"/>
            <a:ext cx="6217920" cy="1163075"/>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a:solidFill>
                  <a:srgbClr val="1F4E79"/>
                </a:solidFill>
                <a:latin typeface="Times New Roman"/>
              </a:rPr>
              <a:t>GIAO DIỆN VÀ
TRẢI NGHIỆM</a:t>
            </a:r>
          </a:p>
        </p:txBody>
      </p:sp>
      <p:sp>
        <p:nvSpPr>
          <p:cNvPr id="6" name="anim-appear-20-line-1"/>
          <p:cNvSpPr txBox="1"/>
          <p:nvPr/>
        </p:nvSpPr>
        <p:spPr>
          <a:xfrm>
            <a:off x="777240" y="2688336"/>
            <a:ext cx="5212080" cy="3571042"/>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a:solidFill>
                  <a:srgbClr val="000000"/>
                </a:solidFill>
                <a:latin typeface="Times New Roman"/>
              </a:rPr>
              <a:t>Bảng xếp hạng</a:t>
            </a:r>
          </a:p>
          <a:p>
            <a:pPr algn="l">
              <a:lnSpc>
                <a:spcPct val="105000"/>
              </a:lnSpc>
              <a:spcBef>
                <a:spcPts val="0"/>
              </a:spcBef>
              <a:spcAft>
                <a:spcPts val="1000"/>
              </a:spcAft>
            </a:pPr>
            <a:r>
              <a:rPr sz="2000">
                <a:solidFill>
                  <a:srgbClr val="000000"/>
                </a:solidFill>
                <a:latin typeface="Times New Roman"/>
              </a:rPr>
              <a:t>- Điểm số của người chơi được gửi lên hệ thống PlayFab sau khi kết thúc trận đấu.</a:t>
            </a:r>
          </a:p>
          <a:p>
            <a:pPr algn="l">
              <a:lnSpc>
                <a:spcPct val="105000"/>
              </a:lnSpc>
              <a:spcBef>
                <a:spcPts val="0"/>
              </a:spcBef>
              <a:spcAft>
                <a:spcPts val="1000"/>
              </a:spcAft>
            </a:pPr>
            <a:r>
              <a:rPr sz="2000">
                <a:solidFill>
                  <a:srgbClr val="000000"/>
                </a:solidFill>
                <a:latin typeface="Times New Roman"/>
              </a:rPr>
              <a:t>- Bảng xếp hạng hiển thị danh sách người chơi theo điểm số từ cao xuống thấp.</a:t>
            </a:r>
          </a:p>
          <a:p>
            <a:pPr algn="l">
              <a:lnSpc>
                <a:spcPct val="105000"/>
              </a:lnSpc>
              <a:spcBef>
                <a:spcPts val="0"/>
              </a:spcBef>
              <a:spcAft>
                <a:spcPts val="1000"/>
              </a:spcAft>
            </a:pPr>
            <a:r>
              <a:rPr sz="2000">
                <a:solidFill>
                  <a:srgbClr val="000000"/>
                </a:solidFill>
                <a:latin typeface="Times New Roman"/>
              </a:rPr>
              <a:t>- Người chơi có thể theo dõi thứ hạng của mình trực tiếp trên giao diện.</a:t>
            </a:r>
          </a:p>
        </p:txBody>
      </p:sp>
      <p:pic>
        <p:nvPicPr>
          <p:cNvPr id="4" name="Picture 3">
            <a:extLst>
              <a:ext uri="{FF2B5EF4-FFF2-40B4-BE49-F238E27FC236}">
                <a16:creationId xmlns:a16="http://schemas.microsoft.com/office/drawing/2014/main" id="{DA69207D-F675-F14A-C14E-76CCF93083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10325" y="2688336"/>
            <a:ext cx="5120000" cy="2880000"/>
          </a:xfrm>
          <a:prstGeom prst="rect">
            <a:avLst/>
          </a:prstGeom>
        </p:spPr>
      </p:pic>
    </p:spTree>
    <p:extLst>
      <p:ext uri="{BB962C8B-B14F-4D97-AF65-F5344CB8AC3E}">
        <p14:creationId xmlns:p14="http://schemas.microsoft.com/office/powerpoint/2010/main" val="209154933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20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KẾT LUẬN</a:t>
            </a:r>
          </a:p>
        </p:txBody>
      </p:sp>
      <p:sp>
        <p:nvSpPr>
          <p:cNvPr id="4" name="anim-appear-10-line-1"/>
          <p:cNvSpPr txBox="1"/>
          <p:nvPr/>
        </p:nvSpPr>
        <p:spPr>
          <a:xfrm>
            <a:off x="739139" y="2543175"/>
            <a:ext cx="10633711" cy="2404569"/>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dirty="0" err="1">
                <a:solidFill>
                  <a:srgbClr val="000000"/>
                </a:solidFill>
                <a:latin typeface="Times New Roman"/>
              </a:rPr>
              <a:t>Kiểm</a:t>
            </a:r>
            <a:r>
              <a:rPr sz="2400" b="1" dirty="0">
                <a:solidFill>
                  <a:srgbClr val="000000"/>
                </a:solidFill>
                <a:latin typeface="Times New Roman"/>
              </a:rPr>
              <a:t> </a:t>
            </a:r>
            <a:r>
              <a:rPr sz="2400" b="1" dirty="0" err="1">
                <a:solidFill>
                  <a:srgbClr val="000000"/>
                </a:solidFill>
                <a:latin typeface="Times New Roman"/>
              </a:rPr>
              <a:t>thử</a:t>
            </a:r>
            <a:r>
              <a:rPr sz="2400" b="1" dirty="0">
                <a:solidFill>
                  <a:srgbClr val="000000"/>
                </a:solidFill>
                <a:latin typeface="Times New Roman"/>
              </a:rPr>
              <a:t> </a:t>
            </a:r>
            <a:r>
              <a:rPr sz="2400" b="1" dirty="0" err="1">
                <a:solidFill>
                  <a:srgbClr val="000000"/>
                </a:solidFill>
                <a:latin typeface="Times New Roman"/>
              </a:rPr>
              <a:t>và</a:t>
            </a:r>
            <a:r>
              <a:rPr sz="2400" b="1" dirty="0">
                <a:solidFill>
                  <a:srgbClr val="000000"/>
                </a:solidFill>
                <a:latin typeface="Times New Roman"/>
              </a:rPr>
              <a:t> </a:t>
            </a:r>
            <a:r>
              <a:rPr sz="2400" b="1" dirty="0" err="1">
                <a:solidFill>
                  <a:srgbClr val="000000"/>
                </a:solidFill>
                <a:latin typeface="Times New Roman"/>
              </a:rPr>
              <a:t>kết</a:t>
            </a:r>
            <a:r>
              <a:rPr sz="2400" b="1" dirty="0">
                <a:solidFill>
                  <a:srgbClr val="000000"/>
                </a:solidFill>
                <a:latin typeface="Times New Roman"/>
              </a:rPr>
              <a:t> </a:t>
            </a:r>
            <a:r>
              <a:rPr sz="2400" b="1" dirty="0" err="1">
                <a:solidFill>
                  <a:srgbClr val="000000"/>
                </a:solidFill>
                <a:latin typeface="Times New Roman"/>
              </a:rPr>
              <a:t>quả</a:t>
            </a:r>
            <a:r>
              <a:rPr sz="2400" b="1" dirty="0">
                <a:solidFill>
                  <a:srgbClr val="000000"/>
                </a:solidFill>
                <a:latin typeface="Times New Roman"/>
              </a:rPr>
              <a:t> </a:t>
            </a:r>
            <a:r>
              <a:rPr sz="2400" b="1" dirty="0" err="1">
                <a:solidFill>
                  <a:srgbClr val="000000"/>
                </a:solidFill>
                <a:latin typeface="Times New Roman"/>
              </a:rPr>
              <a:t>đạt</a:t>
            </a:r>
            <a:r>
              <a:rPr sz="2400" b="1" dirty="0">
                <a:solidFill>
                  <a:srgbClr val="000000"/>
                </a:solidFill>
                <a:latin typeface="Times New Roman"/>
              </a:rPr>
              <a:t> </a:t>
            </a:r>
            <a:r>
              <a:rPr sz="2400" b="1" dirty="0" err="1">
                <a:solidFill>
                  <a:srgbClr val="000000"/>
                </a:solidFill>
                <a:latin typeface="Times New Roman"/>
              </a:rPr>
              <a:t>được</a:t>
            </a:r>
            <a:endParaRPr sz="2400" b="1" dirty="0">
              <a:solidFill>
                <a:srgbClr val="000000"/>
              </a:solidFill>
              <a:latin typeface="Times New Roman"/>
            </a:endParaRP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Đề</a:t>
            </a:r>
            <a:r>
              <a:rPr sz="2000" dirty="0">
                <a:solidFill>
                  <a:srgbClr val="000000"/>
                </a:solidFill>
                <a:latin typeface="Times New Roman"/>
              </a:rPr>
              <a:t> </a:t>
            </a:r>
            <a:r>
              <a:rPr sz="2000" dirty="0" err="1">
                <a:solidFill>
                  <a:srgbClr val="000000"/>
                </a:solidFill>
                <a:latin typeface="Times New Roman"/>
              </a:rPr>
              <a:t>tài</a:t>
            </a:r>
            <a:r>
              <a:rPr sz="2000" dirty="0">
                <a:solidFill>
                  <a:srgbClr val="000000"/>
                </a:solidFill>
                <a:latin typeface="Times New Roman"/>
              </a:rPr>
              <a:t> </a:t>
            </a:r>
            <a:r>
              <a:rPr sz="2000" dirty="0" err="1">
                <a:solidFill>
                  <a:srgbClr val="000000"/>
                </a:solidFill>
                <a:latin typeface="Times New Roman"/>
              </a:rPr>
              <a:t>đã</a:t>
            </a:r>
            <a:r>
              <a:rPr sz="2000" dirty="0">
                <a:solidFill>
                  <a:srgbClr val="000000"/>
                </a:solidFill>
                <a:latin typeface="Times New Roman"/>
              </a:rPr>
              <a:t> </a:t>
            </a:r>
            <a:r>
              <a:rPr sz="2000" dirty="0" err="1">
                <a:solidFill>
                  <a:srgbClr val="000000"/>
                </a:solidFill>
                <a:latin typeface="Times New Roman"/>
              </a:rPr>
              <a:t>kiểm</a:t>
            </a:r>
            <a:r>
              <a:rPr sz="2000" dirty="0">
                <a:solidFill>
                  <a:srgbClr val="000000"/>
                </a:solidFill>
                <a:latin typeface="Times New Roman"/>
              </a:rPr>
              <a:t> </a:t>
            </a:r>
            <a:r>
              <a:rPr sz="2000" dirty="0" err="1">
                <a:solidFill>
                  <a:srgbClr val="000000"/>
                </a:solidFill>
                <a:latin typeface="Times New Roman"/>
              </a:rPr>
              <a:t>thử</a:t>
            </a:r>
            <a:r>
              <a:rPr sz="2000" dirty="0">
                <a:solidFill>
                  <a:srgbClr val="000000"/>
                </a:solidFill>
                <a:latin typeface="Times New Roman"/>
              </a:rPr>
              <a:t> </a:t>
            </a:r>
            <a:r>
              <a:rPr sz="2000" dirty="0" err="1">
                <a:solidFill>
                  <a:srgbClr val="000000"/>
                </a:solidFill>
                <a:latin typeface="Times New Roman"/>
              </a:rPr>
              <a:t>các</a:t>
            </a:r>
            <a:r>
              <a:rPr sz="2000" dirty="0">
                <a:solidFill>
                  <a:srgbClr val="000000"/>
                </a:solidFill>
                <a:latin typeface="Times New Roman"/>
              </a:rPr>
              <a:t> </a:t>
            </a:r>
            <a:r>
              <a:rPr sz="2000" dirty="0" err="1">
                <a:solidFill>
                  <a:srgbClr val="000000"/>
                </a:solidFill>
                <a:latin typeface="Times New Roman"/>
              </a:rPr>
              <a:t>chức</a:t>
            </a:r>
            <a:r>
              <a:rPr sz="2000" dirty="0">
                <a:solidFill>
                  <a:srgbClr val="000000"/>
                </a:solidFill>
                <a:latin typeface="Times New Roman"/>
              </a:rPr>
              <a:t> </a:t>
            </a:r>
            <a:r>
              <a:rPr sz="2000" dirty="0" err="1">
                <a:solidFill>
                  <a:srgbClr val="000000"/>
                </a:solidFill>
                <a:latin typeface="Times New Roman"/>
              </a:rPr>
              <a:t>năng</a:t>
            </a:r>
            <a:r>
              <a:rPr sz="2000" dirty="0">
                <a:solidFill>
                  <a:srgbClr val="000000"/>
                </a:solidFill>
                <a:latin typeface="Times New Roman"/>
              </a:rPr>
              <a:t> </a:t>
            </a:r>
            <a:r>
              <a:rPr sz="2000" dirty="0" err="1">
                <a:solidFill>
                  <a:srgbClr val="000000"/>
                </a:solidFill>
                <a:latin typeface="Times New Roman"/>
              </a:rPr>
              <a:t>chính</a:t>
            </a:r>
            <a:r>
              <a:rPr sz="2000" dirty="0">
                <a:solidFill>
                  <a:srgbClr val="000000"/>
                </a:solidFill>
                <a:latin typeface="Times New Roman"/>
              </a:rPr>
              <a:t> </a:t>
            </a:r>
            <a:r>
              <a:rPr sz="2000" dirty="0" err="1">
                <a:solidFill>
                  <a:srgbClr val="000000"/>
                </a:solidFill>
                <a:latin typeface="Times New Roman"/>
              </a:rPr>
              <a:t>như</a:t>
            </a:r>
            <a:r>
              <a:rPr sz="2000" dirty="0">
                <a:solidFill>
                  <a:srgbClr val="000000"/>
                </a:solidFill>
                <a:latin typeface="Times New Roman"/>
              </a:rPr>
              <a:t> </a:t>
            </a:r>
            <a:r>
              <a:rPr sz="2000" dirty="0" err="1">
                <a:solidFill>
                  <a:srgbClr val="000000"/>
                </a:solidFill>
                <a:latin typeface="Times New Roman"/>
              </a:rPr>
              <a:t>vào</a:t>
            </a:r>
            <a:r>
              <a:rPr sz="2000" dirty="0">
                <a:solidFill>
                  <a:srgbClr val="000000"/>
                </a:solidFill>
                <a:latin typeface="Times New Roman"/>
              </a:rPr>
              <a:t> </a:t>
            </a:r>
            <a:r>
              <a:rPr sz="2000" dirty="0" err="1">
                <a:solidFill>
                  <a:srgbClr val="000000"/>
                </a:solidFill>
                <a:latin typeface="Times New Roman"/>
              </a:rPr>
              <a:t>trận</a:t>
            </a:r>
            <a:r>
              <a:rPr sz="2000" dirty="0">
                <a:solidFill>
                  <a:srgbClr val="000000"/>
                </a:solidFill>
                <a:latin typeface="Times New Roman"/>
              </a:rPr>
              <a:t>, </a:t>
            </a:r>
            <a:r>
              <a:rPr sz="2000" dirty="0" err="1">
                <a:solidFill>
                  <a:srgbClr val="000000"/>
                </a:solidFill>
                <a:latin typeface="Times New Roman"/>
              </a:rPr>
              <a:t>chiến</a:t>
            </a:r>
            <a:r>
              <a:rPr sz="2000" dirty="0">
                <a:solidFill>
                  <a:srgbClr val="000000"/>
                </a:solidFill>
                <a:latin typeface="Times New Roman"/>
              </a:rPr>
              <a:t> </a:t>
            </a:r>
            <a:r>
              <a:rPr sz="2000" dirty="0" err="1">
                <a:solidFill>
                  <a:srgbClr val="000000"/>
                </a:solidFill>
                <a:latin typeface="Times New Roman"/>
              </a:rPr>
              <a:t>đấu</a:t>
            </a:r>
            <a:r>
              <a:rPr sz="2000" dirty="0">
                <a:solidFill>
                  <a:srgbClr val="000000"/>
                </a:solidFill>
                <a:latin typeface="Times New Roman"/>
              </a:rPr>
              <a:t>, </a:t>
            </a:r>
            <a:r>
              <a:rPr sz="2000" dirty="0" err="1">
                <a:solidFill>
                  <a:srgbClr val="000000"/>
                </a:solidFill>
                <a:latin typeface="Times New Roman"/>
              </a:rPr>
              <a:t>lên</a:t>
            </a:r>
            <a:r>
              <a:rPr sz="2000" dirty="0">
                <a:solidFill>
                  <a:srgbClr val="000000"/>
                </a:solidFill>
                <a:latin typeface="Times New Roman"/>
              </a:rPr>
              <a:t> </a:t>
            </a:r>
            <a:r>
              <a:rPr sz="2000" dirty="0" err="1">
                <a:solidFill>
                  <a:srgbClr val="000000"/>
                </a:solidFill>
                <a:latin typeface="Times New Roman"/>
              </a:rPr>
              <a:t>cấp</a:t>
            </a:r>
            <a:r>
              <a:rPr sz="2000" dirty="0">
                <a:solidFill>
                  <a:srgbClr val="000000"/>
                </a:solidFill>
                <a:latin typeface="Times New Roman"/>
              </a:rPr>
              <a:t>, </a:t>
            </a:r>
            <a:r>
              <a:rPr lang="en-US" sz="2000" dirty="0" err="1">
                <a:solidFill>
                  <a:srgbClr val="000000"/>
                </a:solidFill>
                <a:latin typeface="Times New Roman"/>
              </a:rPr>
              <a:t>chọn</a:t>
            </a:r>
            <a:r>
              <a:rPr lang="en-US" sz="2000" dirty="0">
                <a:solidFill>
                  <a:srgbClr val="000000"/>
                </a:solidFill>
                <a:latin typeface="Times New Roman"/>
              </a:rPr>
              <a:t> nâng cấp</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sz="2000" dirty="0" err="1">
                <a:solidFill>
                  <a:srgbClr val="000000"/>
                </a:solidFill>
                <a:latin typeface="Times New Roman"/>
              </a:rPr>
              <a:t>bảng</a:t>
            </a:r>
            <a:r>
              <a:rPr sz="2000" dirty="0">
                <a:solidFill>
                  <a:srgbClr val="000000"/>
                </a:solidFill>
                <a:latin typeface="Times New Roman"/>
              </a:rPr>
              <a:t> </a:t>
            </a:r>
            <a:r>
              <a:rPr sz="2000" dirty="0" err="1">
                <a:solidFill>
                  <a:srgbClr val="000000"/>
                </a:solidFill>
                <a:latin typeface="Times New Roman"/>
              </a:rPr>
              <a:t>xếp</a:t>
            </a:r>
            <a:r>
              <a:rPr sz="2000" dirty="0">
                <a:solidFill>
                  <a:srgbClr val="000000"/>
                </a:solidFill>
                <a:latin typeface="Times New Roman"/>
              </a:rPr>
              <a:t> </a:t>
            </a:r>
            <a:r>
              <a:rPr sz="2000" dirty="0" err="1">
                <a:solidFill>
                  <a:srgbClr val="000000"/>
                </a:solidFill>
                <a:latin typeface="Times New Roman"/>
              </a:rPr>
              <a:t>hạng</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Kết</a:t>
            </a:r>
            <a:r>
              <a:rPr sz="2000" dirty="0">
                <a:solidFill>
                  <a:srgbClr val="000000"/>
                </a:solidFill>
                <a:latin typeface="Times New Roman"/>
              </a:rPr>
              <a:t> </a:t>
            </a:r>
            <a:r>
              <a:rPr sz="2000" dirty="0" err="1">
                <a:solidFill>
                  <a:srgbClr val="000000"/>
                </a:solidFill>
                <a:latin typeface="Times New Roman"/>
              </a:rPr>
              <a:t>quả</a:t>
            </a:r>
            <a:r>
              <a:rPr sz="2000" dirty="0">
                <a:solidFill>
                  <a:srgbClr val="000000"/>
                </a:solidFill>
                <a:latin typeface="Times New Roman"/>
              </a:rPr>
              <a:t> </a:t>
            </a:r>
            <a:r>
              <a:rPr sz="2000" dirty="0" err="1">
                <a:solidFill>
                  <a:srgbClr val="000000"/>
                </a:solidFill>
                <a:latin typeface="Times New Roman"/>
              </a:rPr>
              <a:t>đạt</a:t>
            </a:r>
            <a:r>
              <a:rPr sz="2000" dirty="0">
                <a:solidFill>
                  <a:srgbClr val="000000"/>
                </a:solidFill>
                <a:latin typeface="Times New Roman"/>
              </a:rPr>
              <a:t> </a:t>
            </a:r>
            <a:r>
              <a:rPr sz="2000" dirty="0" err="1">
                <a:solidFill>
                  <a:srgbClr val="000000"/>
                </a:solidFill>
                <a:latin typeface="Times New Roman"/>
              </a:rPr>
              <a:t>được</a:t>
            </a:r>
            <a:r>
              <a:rPr sz="2000" dirty="0">
                <a:solidFill>
                  <a:srgbClr val="000000"/>
                </a:solidFill>
                <a:latin typeface="Times New Roman"/>
              </a:rPr>
              <a:t> </a:t>
            </a:r>
            <a:r>
              <a:rPr sz="2000" dirty="0" err="1">
                <a:solidFill>
                  <a:srgbClr val="000000"/>
                </a:solidFill>
                <a:latin typeface="Times New Roman"/>
              </a:rPr>
              <a:t>là</a:t>
            </a:r>
            <a:r>
              <a:rPr sz="2000" dirty="0">
                <a:solidFill>
                  <a:srgbClr val="000000"/>
                </a:solidFill>
                <a:latin typeface="Times New Roman"/>
              </a:rPr>
              <a:t> </a:t>
            </a:r>
            <a:r>
              <a:rPr sz="2000" dirty="0" err="1">
                <a:solidFill>
                  <a:srgbClr val="000000"/>
                </a:solidFill>
                <a:latin typeface="Times New Roman"/>
              </a:rPr>
              <a:t>xây</a:t>
            </a:r>
            <a:r>
              <a:rPr sz="2000" dirty="0">
                <a:solidFill>
                  <a:srgbClr val="000000"/>
                </a:solidFill>
                <a:latin typeface="Times New Roman"/>
              </a:rPr>
              <a:t> </a:t>
            </a:r>
            <a:r>
              <a:rPr sz="2000" dirty="0" err="1">
                <a:solidFill>
                  <a:srgbClr val="000000"/>
                </a:solidFill>
                <a:latin typeface="Times New Roman"/>
              </a:rPr>
              <a:t>dựng</a:t>
            </a:r>
            <a:r>
              <a:rPr sz="2000" dirty="0">
                <a:solidFill>
                  <a:srgbClr val="000000"/>
                </a:solidFill>
                <a:latin typeface="Times New Roman"/>
              </a:rPr>
              <a:t> </a:t>
            </a:r>
            <a:r>
              <a:rPr sz="2000" dirty="0" err="1">
                <a:solidFill>
                  <a:srgbClr val="000000"/>
                </a:solidFill>
                <a:latin typeface="Times New Roman"/>
              </a:rPr>
              <a:t>được</a:t>
            </a:r>
            <a:r>
              <a:rPr sz="2000" dirty="0">
                <a:solidFill>
                  <a:srgbClr val="000000"/>
                </a:solidFill>
                <a:latin typeface="Times New Roman"/>
              </a:rPr>
              <a:t> </a:t>
            </a:r>
            <a:r>
              <a:rPr sz="2000" dirty="0" err="1">
                <a:solidFill>
                  <a:srgbClr val="000000"/>
                </a:solidFill>
                <a:latin typeface="Times New Roman"/>
              </a:rPr>
              <a:t>một</a:t>
            </a:r>
            <a:r>
              <a:rPr sz="2000" dirty="0">
                <a:solidFill>
                  <a:srgbClr val="000000"/>
                </a:solidFill>
                <a:latin typeface="Times New Roman"/>
              </a:rPr>
              <a:t> </a:t>
            </a:r>
            <a:r>
              <a:rPr lang="en-US" sz="2000" dirty="0" err="1">
                <a:solidFill>
                  <a:srgbClr val="000000"/>
                </a:solidFill>
                <a:latin typeface="Times New Roman"/>
              </a:rPr>
              <a:t>trò</a:t>
            </a:r>
            <a:r>
              <a:rPr lang="en-US" sz="2000" dirty="0">
                <a:solidFill>
                  <a:srgbClr val="000000"/>
                </a:solidFill>
                <a:latin typeface="Times New Roman"/>
              </a:rPr>
              <a:t> </a:t>
            </a:r>
            <a:r>
              <a:rPr lang="en-US" sz="2000" dirty="0" err="1">
                <a:solidFill>
                  <a:srgbClr val="000000"/>
                </a:solidFill>
                <a:latin typeface="Times New Roman"/>
              </a:rPr>
              <a:t>chơi</a:t>
            </a:r>
            <a:r>
              <a:rPr lang="en-US" sz="2000" dirty="0">
                <a:solidFill>
                  <a:srgbClr val="000000"/>
                </a:solidFill>
                <a:latin typeface="Times New Roman"/>
              </a:rPr>
              <a:t> roguelike</a:t>
            </a:r>
            <a:r>
              <a:rPr sz="2000" dirty="0">
                <a:solidFill>
                  <a:srgbClr val="000000"/>
                </a:solidFill>
                <a:latin typeface="Times New Roman"/>
              </a:rPr>
              <a:t> 3D </a:t>
            </a:r>
            <a:r>
              <a:rPr sz="2000" dirty="0" err="1">
                <a:solidFill>
                  <a:srgbClr val="000000"/>
                </a:solidFill>
                <a:latin typeface="Times New Roman"/>
              </a:rPr>
              <a:t>có</a:t>
            </a:r>
            <a:r>
              <a:rPr sz="2000" dirty="0">
                <a:solidFill>
                  <a:srgbClr val="000000"/>
                </a:solidFill>
                <a:latin typeface="Times New Roman"/>
              </a:rPr>
              <a:t> </a:t>
            </a:r>
            <a:r>
              <a:rPr sz="2000" dirty="0" err="1">
                <a:solidFill>
                  <a:srgbClr val="000000"/>
                </a:solidFill>
                <a:latin typeface="Times New Roman"/>
              </a:rPr>
              <a:t>thể</a:t>
            </a:r>
            <a:r>
              <a:rPr sz="2000" dirty="0">
                <a:solidFill>
                  <a:srgbClr val="000000"/>
                </a:solidFill>
                <a:latin typeface="Times New Roman"/>
              </a:rPr>
              <a:t> </a:t>
            </a:r>
            <a:r>
              <a:rPr lang="en-US" sz="2000" dirty="0" err="1">
                <a:solidFill>
                  <a:srgbClr val="000000"/>
                </a:solidFill>
                <a:latin typeface="Times New Roman"/>
              </a:rPr>
              <a:t>chơi</a:t>
            </a:r>
            <a:r>
              <a:rPr sz="2000" dirty="0">
                <a:solidFill>
                  <a:srgbClr val="000000"/>
                </a:solidFill>
                <a:latin typeface="Times New Roman"/>
              </a:rPr>
              <a:t> </a:t>
            </a:r>
            <a:r>
              <a:rPr sz="2000" dirty="0" err="1">
                <a:solidFill>
                  <a:srgbClr val="000000"/>
                </a:solidFill>
                <a:latin typeface="Times New Roman"/>
              </a:rPr>
              <a:t>và</a:t>
            </a:r>
            <a:r>
              <a:rPr sz="2000" dirty="0">
                <a:solidFill>
                  <a:srgbClr val="000000"/>
                </a:solidFill>
                <a:latin typeface="Times New Roman"/>
              </a:rPr>
              <a:t> </a:t>
            </a:r>
            <a:r>
              <a:rPr lang="en-US" sz="2000" dirty="0" err="1">
                <a:solidFill>
                  <a:srgbClr val="000000"/>
                </a:solidFill>
                <a:latin typeface="Times New Roman"/>
              </a:rPr>
              <a:t>trải</a:t>
            </a:r>
            <a:r>
              <a:rPr lang="en-US" sz="2000" dirty="0">
                <a:solidFill>
                  <a:srgbClr val="000000"/>
                </a:solidFill>
                <a:latin typeface="Times New Roman"/>
              </a:rPr>
              <a:t> </a:t>
            </a:r>
            <a:r>
              <a:rPr lang="en-US" sz="2000" dirty="0" err="1">
                <a:solidFill>
                  <a:srgbClr val="000000"/>
                </a:solidFill>
                <a:latin typeface="Times New Roman"/>
              </a:rPr>
              <a:t>nghiệm</a:t>
            </a:r>
            <a:r>
              <a:rPr lang="en-US" sz="2000" dirty="0">
                <a:solidFill>
                  <a:srgbClr val="000000"/>
                </a:solidFill>
                <a:latin typeface="Times New Roman"/>
              </a:rPr>
              <a:t> </a:t>
            </a:r>
            <a:r>
              <a:rPr lang="en-US" sz="2000" dirty="0" err="1">
                <a:solidFill>
                  <a:srgbClr val="000000"/>
                </a:solidFill>
                <a:latin typeface="Times New Roman"/>
              </a:rPr>
              <a:t>trên</a:t>
            </a:r>
            <a:r>
              <a:rPr lang="en-US" sz="2000" dirty="0">
                <a:solidFill>
                  <a:srgbClr val="000000"/>
                </a:solidFill>
                <a:latin typeface="Times New Roman"/>
              </a:rPr>
              <a:t> Windows</a:t>
            </a:r>
            <a:r>
              <a:rPr sz="2000" dirty="0">
                <a:solidFill>
                  <a:srgbClr val="000000"/>
                </a:solidFill>
                <a:latin typeface="Times New Roman"/>
              </a:rPr>
              <a:t>.</a:t>
            </a:r>
          </a:p>
          <a:p>
            <a:pPr algn="l">
              <a:lnSpc>
                <a:spcPct val="105000"/>
              </a:lnSpc>
              <a:spcBef>
                <a:spcPts val="0"/>
              </a:spcBef>
              <a:spcAft>
                <a:spcPts val="1000"/>
              </a:spcAft>
            </a:pPr>
            <a:r>
              <a:rPr sz="2000" b="0">
                <a:latin typeface="Times New Roman"/>
              </a:rPr>
              <a:t>- Sản phẩm đã thể hiện rõ phần lối chơi, giao diện và kết nối bảng xếp hạng trực tuyến.</a:t>
            </a:r>
          </a:p>
        </p:txBody>
      </p:sp>
    </p:spTree>
    <p:extLst>
      <p:ext uri="{BB962C8B-B14F-4D97-AF65-F5344CB8AC3E}">
        <p14:creationId xmlns:p14="http://schemas.microsoft.com/office/powerpoint/2010/main" val="668409665"/>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8840" y="1143000"/>
            <a:ext cx="6217920" cy="594360"/>
          </a:xfrm>
          <a:prstGeom prst="rect">
            <a:avLst/>
          </a:prstGeom>
          <a:noFill/>
        </p:spPr>
        <p:txBody>
          <a:bodyPr wrap="square" lIns="18288" tIns="18288" rIns="18288" bIns="18288" anchor="ctr">
            <a:spAutoFit/>
          </a:bodyPr>
          <a:lstStyle/>
          <a:p>
            <a:pPr>
              <a:lnSpc>
                <a:spcPct val="105000"/>
              </a:lnSpc>
              <a:spcBef>
                <a:spcPts val="0"/>
              </a:spcBef>
              <a:spcAft>
                <a:spcPts val="0"/>
              </a:spcAft>
            </a:pPr>
            <a:r>
              <a:rPr sz="3600" b="1" dirty="0">
                <a:solidFill>
                  <a:srgbClr val="1F4E79"/>
                </a:solidFill>
                <a:latin typeface="Times New Roman"/>
              </a:rPr>
              <a:t>KẾT LUẬN</a:t>
            </a:r>
          </a:p>
        </p:txBody>
      </p:sp>
      <p:sp>
        <p:nvSpPr>
          <p:cNvPr id="4" name="anim-appear-10-line-1"/>
          <p:cNvSpPr txBox="1"/>
          <p:nvPr/>
        </p:nvSpPr>
        <p:spPr>
          <a:xfrm>
            <a:off x="681990" y="2519095"/>
            <a:ext cx="10058400" cy="2081404"/>
          </a:xfrm>
          <a:prstGeom prst="rect">
            <a:avLst/>
          </a:prstGeom>
          <a:noFill/>
        </p:spPr>
        <p:txBody>
          <a:bodyPr wrap="square" lIns="18288" tIns="18288" rIns="18288" bIns="18288" anchor="t">
            <a:spAutoFit/>
          </a:bodyPr>
          <a:lstStyle/>
          <a:p>
            <a:pPr algn="l">
              <a:lnSpc>
                <a:spcPct val="105000"/>
              </a:lnSpc>
              <a:spcBef>
                <a:spcPts val="0"/>
              </a:spcBef>
              <a:spcAft>
                <a:spcPts val="1000"/>
              </a:spcAft>
            </a:pPr>
            <a:r>
              <a:rPr sz="2400" b="1" dirty="0" err="1">
                <a:solidFill>
                  <a:srgbClr val="000000"/>
                </a:solidFill>
                <a:latin typeface="Times New Roman"/>
              </a:rPr>
              <a:t>Hạn</a:t>
            </a:r>
            <a:r>
              <a:rPr sz="2400" b="1" dirty="0">
                <a:solidFill>
                  <a:srgbClr val="000000"/>
                </a:solidFill>
                <a:latin typeface="Times New Roman"/>
              </a:rPr>
              <a:t> </a:t>
            </a:r>
            <a:r>
              <a:rPr sz="2400" b="1" dirty="0" err="1">
                <a:solidFill>
                  <a:srgbClr val="000000"/>
                </a:solidFill>
                <a:latin typeface="Times New Roman"/>
              </a:rPr>
              <a:t>chế</a:t>
            </a:r>
            <a:r>
              <a:rPr sz="2400" b="1" dirty="0">
                <a:solidFill>
                  <a:srgbClr val="000000"/>
                </a:solidFill>
                <a:latin typeface="Times New Roman"/>
              </a:rPr>
              <a:t> </a:t>
            </a:r>
            <a:r>
              <a:rPr sz="2400" b="1" dirty="0" err="1">
                <a:solidFill>
                  <a:srgbClr val="000000"/>
                </a:solidFill>
                <a:latin typeface="Times New Roman"/>
              </a:rPr>
              <a:t>và</a:t>
            </a:r>
            <a:r>
              <a:rPr sz="2400" b="1" dirty="0">
                <a:solidFill>
                  <a:srgbClr val="000000"/>
                </a:solidFill>
                <a:latin typeface="Times New Roman"/>
              </a:rPr>
              <a:t> </a:t>
            </a:r>
            <a:r>
              <a:rPr sz="2400" b="1" dirty="0" err="1">
                <a:solidFill>
                  <a:srgbClr val="000000"/>
                </a:solidFill>
                <a:latin typeface="Times New Roman"/>
              </a:rPr>
              <a:t>hướng</a:t>
            </a:r>
            <a:r>
              <a:rPr sz="2400" b="1" dirty="0">
                <a:solidFill>
                  <a:srgbClr val="000000"/>
                </a:solidFill>
                <a:latin typeface="Times New Roman"/>
              </a:rPr>
              <a:t> </a:t>
            </a:r>
            <a:r>
              <a:rPr sz="2400" b="1" dirty="0" err="1">
                <a:solidFill>
                  <a:srgbClr val="000000"/>
                </a:solidFill>
                <a:latin typeface="Times New Roman"/>
              </a:rPr>
              <a:t>phát</a:t>
            </a:r>
            <a:r>
              <a:rPr sz="2400" b="1" dirty="0">
                <a:solidFill>
                  <a:srgbClr val="000000"/>
                </a:solidFill>
                <a:latin typeface="Times New Roman"/>
              </a:rPr>
              <a:t> </a:t>
            </a:r>
            <a:r>
              <a:rPr sz="2400" b="1" dirty="0" err="1">
                <a:solidFill>
                  <a:srgbClr val="000000"/>
                </a:solidFill>
                <a:latin typeface="Times New Roman"/>
              </a:rPr>
              <a:t>triển</a:t>
            </a:r>
            <a:endParaRPr sz="2400" b="1" dirty="0">
              <a:solidFill>
                <a:srgbClr val="000000"/>
              </a:solidFill>
              <a:latin typeface="Times New Roman"/>
            </a:endParaRP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Số</a:t>
            </a:r>
            <a:r>
              <a:rPr sz="2000" dirty="0">
                <a:solidFill>
                  <a:srgbClr val="000000"/>
                </a:solidFill>
                <a:latin typeface="Times New Roman"/>
              </a:rPr>
              <a:t> </a:t>
            </a:r>
            <a:r>
              <a:rPr lang="en-US" sz="2000" dirty="0" err="1">
                <a:solidFill>
                  <a:srgbClr val="000000"/>
                </a:solidFill>
                <a:latin typeface="Times New Roman"/>
              </a:rPr>
              <a:t>loại</a:t>
            </a:r>
            <a:r>
              <a:rPr sz="2000" dirty="0">
                <a:solidFill>
                  <a:srgbClr val="000000"/>
                </a:solidFill>
                <a:latin typeface="Times New Roman"/>
              </a:rPr>
              <a:t> quái</a:t>
            </a:r>
            <a:r>
              <a:rPr lang="en-US" sz="2000" dirty="0">
                <a:solidFill>
                  <a:srgbClr val="000000"/>
                </a:solidFill>
                <a:latin typeface="Times New Roman"/>
              </a:rPr>
              <a:t> </a:t>
            </a:r>
            <a:r>
              <a:rPr lang="en-US" sz="2000" dirty="0" err="1">
                <a:solidFill>
                  <a:srgbClr val="000000"/>
                </a:solidFill>
                <a:latin typeface="Times New Roman"/>
              </a:rPr>
              <a:t>và</a:t>
            </a:r>
            <a:r>
              <a:rPr lang="en-US" sz="2000" dirty="0">
                <a:solidFill>
                  <a:srgbClr val="000000"/>
                </a:solidFill>
                <a:latin typeface="Times New Roman"/>
              </a:rPr>
              <a:t> </a:t>
            </a:r>
            <a:r>
              <a:rPr lang="en-US" sz="2000" dirty="0" err="1">
                <a:solidFill>
                  <a:srgbClr val="000000"/>
                </a:solidFill>
                <a:latin typeface="Times New Roman"/>
              </a:rPr>
              <a:t>tính</a:t>
            </a:r>
            <a:r>
              <a:rPr lang="en-US" sz="2000" dirty="0">
                <a:solidFill>
                  <a:srgbClr val="000000"/>
                </a:solidFill>
                <a:latin typeface="Times New Roman"/>
              </a:rPr>
              <a:t> </a:t>
            </a:r>
            <a:r>
              <a:rPr lang="en-US" sz="2000" dirty="0" err="1">
                <a:solidFill>
                  <a:srgbClr val="000000"/>
                </a:solidFill>
                <a:latin typeface="Times New Roman"/>
              </a:rPr>
              <a:t>năng</a:t>
            </a:r>
            <a:r>
              <a:rPr lang="en-US" sz="2000" dirty="0">
                <a:solidFill>
                  <a:srgbClr val="000000"/>
                </a:solidFill>
                <a:latin typeface="Times New Roman"/>
              </a:rPr>
              <a:t> </a:t>
            </a:r>
            <a:r>
              <a:rPr sz="2000" dirty="0" err="1">
                <a:solidFill>
                  <a:srgbClr val="000000"/>
                </a:solidFill>
                <a:latin typeface="Times New Roman"/>
              </a:rPr>
              <a:t>trong</a:t>
            </a:r>
            <a:r>
              <a:rPr sz="2000" dirty="0">
                <a:solidFill>
                  <a:srgbClr val="000000"/>
                </a:solidFill>
                <a:latin typeface="Times New Roman"/>
              </a:rPr>
              <a:t> game </a:t>
            </a:r>
            <a:r>
              <a:rPr sz="2000" dirty="0" err="1">
                <a:solidFill>
                  <a:srgbClr val="000000"/>
                </a:solidFill>
                <a:latin typeface="Times New Roman"/>
              </a:rPr>
              <a:t>hiện</a:t>
            </a:r>
            <a:r>
              <a:rPr sz="2000" dirty="0">
                <a:solidFill>
                  <a:srgbClr val="000000"/>
                </a:solidFill>
                <a:latin typeface="Times New Roman"/>
              </a:rPr>
              <a:t> </a:t>
            </a:r>
            <a:r>
              <a:rPr sz="2000" dirty="0" err="1">
                <a:solidFill>
                  <a:srgbClr val="000000"/>
                </a:solidFill>
                <a:latin typeface="Times New Roman"/>
              </a:rPr>
              <a:t>vẫn</a:t>
            </a:r>
            <a:r>
              <a:rPr sz="2000" dirty="0">
                <a:solidFill>
                  <a:srgbClr val="000000"/>
                </a:solidFill>
                <a:latin typeface="Times New Roman"/>
              </a:rPr>
              <a:t> </a:t>
            </a:r>
            <a:r>
              <a:rPr sz="2000" dirty="0" err="1">
                <a:solidFill>
                  <a:srgbClr val="000000"/>
                </a:solidFill>
                <a:latin typeface="Times New Roman"/>
              </a:rPr>
              <a:t>còn</a:t>
            </a:r>
            <a:r>
              <a:rPr sz="2000" dirty="0">
                <a:solidFill>
                  <a:srgbClr val="000000"/>
                </a:solidFill>
                <a:latin typeface="Times New Roman"/>
              </a:rPr>
              <a:t> </a:t>
            </a:r>
            <a:r>
              <a:rPr sz="2000" dirty="0" err="1">
                <a:solidFill>
                  <a:srgbClr val="000000"/>
                </a:solidFill>
                <a:latin typeface="Times New Roman"/>
              </a:rPr>
              <a:t>chưa</a:t>
            </a:r>
            <a:r>
              <a:rPr sz="2000" dirty="0">
                <a:solidFill>
                  <a:srgbClr val="000000"/>
                </a:solidFill>
                <a:latin typeface="Times New Roman"/>
              </a:rPr>
              <a:t> </a:t>
            </a:r>
            <a:r>
              <a:rPr sz="2000" dirty="0" err="1">
                <a:solidFill>
                  <a:srgbClr val="000000"/>
                </a:solidFill>
                <a:latin typeface="Times New Roman"/>
              </a:rPr>
              <a:t>nhiều</a:t>
            </a:r>
            <a:r>
              <a:rPr sz="2000" dirty="0">
                <a:solidFill>
                  <a:srgbClr val="000000"/>
                </a:solidFill>
                <a:latin typeface="Times New Roman"/>
              </a:rPr>
              <a:t>.</a:t>
            </a:r>
          </a:p>
          <a:p>
            <a:pPr algn="l">
              <a:lnSpc>
                <a:spcPct val="105000"/>
              </a:lnSpc>
              <a:spcBef>
                <a:spcPts val="0"/>
              </a:spcBef>
              <a:spcAft>
                <a:spcPts val="1000"/>
              </a:spcAft>
            </a:pPr>
            <a:r>
              <a:rPr sz="2000" dirty="0">
                <a:solidFill>
                  <a:srgbClr val="000000"/>
                </a:solidFill>
                <a:latin typeface="Times New Roman"/>
              </a:rPr>
              <a:t>- </a:t>
            </a:r>
            <a:r>
              <a:rPr sz="2000" dirty="0" err="1">
                <a:solidFill>
                  <a:srgbClr val="000000"/>
                </a:solidFill>
                <a:latin typeface="Times New Roman"/>
              </a:rPr>
              <a:t>Một</a:t>
            </a:r>
            <a:r>
              <a:rPr sz="2000" dirty="0">
                <a:solidFill>
                  <a:srgbClr val="000000"/>
                </a:solidFill>
                <a:latin typeface="Times New Roman"/>
              </a:rPr>
              <a:t> </a:t>
            </a:r>
            <a:r>
              <a:rPr sz="2000" dirty="0" err="1">
                <a:solidFill>
                  <a:srgbClr val="000000"/>
                </a:solidFill>
                <a:latin typeface="Times New Roman"/>
              </a:rPr>
              <a:t>số</a:t>
            </a:r>
            <a:r>
              <a:rPr sz="2000" dirty="0">
                <a:solidFill>
                  <a:srgbClr val="000000"/>
                </a:solidFill>
                <a:latin typeface="Times New Roman"/>
              </a:rPr>
              <a:t> </a:t>
            </a:r>
            <a:r>
              <a:rPr sz="2000" dirty="0" err="1">
                <a:solidFill>
                  <a:srgbClr val="000000"/>
                </a:solidFill>
                <a:latin typeface="Times New Roman"/>
              </a:rPr>
              <a:t>phần</a:t>
            </a:r>
            <a:r>
              <a:rPr sz="2000" dirty="0">
                <a:solidFill>
                  <a:srgbClr val="000000"/>
                </a:solidFill>
                <a:latin typeface="Times New Roman"/>
              </a:rPr>
              <a:t> </a:t>
            </a:r>
            <a:r>
              <a:rPr sz="2000" dirty="0" err="1">
                <a:solidFill>
                  <a:srgbClr val="000000"/>
                </a:solidFill>
                <a:latin typeface="Times New Roman"/>
              </a:rPr>
              <a:t>giao</a:t>
            </a:r>
            <a:r>
              <a:rPr sz="2000" dirty="0">
                <a:solidFill>
                  <a:srgbClr val="000000"/>
                </a:solidFill>
                <a:latin typeface="Times New Roman"/>
              </a:rPr>
              <a:t> </a:t>
            </a:r>
            <a:r>
              <a:rPr sz="2000" dirty="0" err="1">
                <a:solidFill>
                  <a:srgbClr val="000000"/>
                </a:solidFill>
                <a:latin typeface="Times New Roman"/>
              </a:rPr>
              <a:t>diện</a:t>
            </a:r>
            <a:r>
              <a:rPr sz="2000" dirty="0">
                <a:solidFill>
                  <a:srgbClr val="000000"/>
                </a:solidFill>
                <a:latin typeface="Times New Roman"/>
              </a:rPr>
              <a:t> </a:t>
            </a:r>
            <a:r>
              <a:rPr sz="2000" dirty="0" err="1">
                <a:solidFill>
                  <a:srgbClr val="000000"/>
                </a:solidFill>
                <a:latin typeface="Times New Roman"/>
              </a:rPr>
              <a:t>vẫn</a:t>
            </a:r>
            <a:r>
              <a:rPr sz="2000" dirty="0">
                <a:solidFill>
                  <a:srgbClr val="000000"/>
                </a:solidFill>
                <a:latin typeface="Times New Roman"/>
              </a:rPr>
              <a:t> </a:t>
            </a:r>
            <a:r>
              <a:rPr sz="2000" dirty="0" err="1">
                <a:solidFill>
                  <a:srgbClr val="000000"/>
                </a:solidFill>
                <a:latin typeface="Times New Roman"/>
              </a:rPr>
              <a:t>cần</a:t>
            </a:r>
            <a:r>
              <a:rPr sz="2000" dirty="0">
                <a:solidFill>
                  <a:srgbClr val="000000"/>
                </a:solidFill>
                <a:latin typeface="Times New Roman"/>
              </a:rPr>
              <a:t> </a:t>
            </a:r>
            <a:r>
              <a:rPr sz="2000" dirty="0" err="1">
                <a:solidFill>
                  <a:srgbClr val="000000"/>
                </a:solidFill>
                <a:latin typeface="Times New Roman"/>
              </a:rPr>
              <a:t>tiếp</a:t>
            </a:r>
            <a:r>
              <a:rPr sz="2000" dirty="0">
                <a:solidFill>
                  <a:srgbClr val="000000"/>
                </a:solidFill>
                <a:latin typeface="Times New Roman"/>
              </a:rPr>
              <a:t> </a:t>
            </a:r>
            <a:r>
              <a:rPr sz="2000" dirty="0" err="1">
                <a:solidFill>
                  <a:srgbClr val="000000"/>
                </a:solidFill>
                <a:latin typeface="Times New Roman"/>
              </a:rPr>
              <a:t>tục</a:t>
            </a:r>
            <a:r>
              <a:rPr sz="2000" dirty="0">
                <a:solidFill>
                  <a:srgbClr val="000000"/>
                </a:solidFill>
                <a:latin typeface="Times New Roman"/>
              </a:rPr>
              <a:t> </a:t>
            </a:r>
            <a:r>
              <a:rPr sz="2000" dirty="0" err="1">
                <a:solidFill>
                  <a:srgbClr val="000000"/>
                </a:solidFill>
                <a:latin typeface="Times New Roman"/>
              </a:rPr>
              <a:t>hoàn</a:t>
            </a:r>
            <a:r>
              <a:rPr sz="2000" dirty="0">
                <a:solidFill>
                  <a:srgbClr val="000000"/>
                </a:solidFill>
                <a:latin typeface="Times New Roman"/>
              </a:rPr>
              <a:t> </a:t>
            </a:r>
            <a:r>
              <a:rPr sz="2000" dirty="0" err="1">
                <a:solidFill>
                  <a:srgbClr val="000000"/>
                </a:solidFill>
                <a:latin typeface="Times New Roman"/>
              </a:rPr>
              <a:t>thiện</a:t>
            </a:r>
            <a:r>
              <a:rPr lang="en-US" sz="2000" dirty="0">
                <a:solidFill>
                  <a:srgbClr val="000000"/>
                </a:solidFill>
                <a:latin typeface="Times New Roman"/>
              </a:rPr>
              <a:t> </a:t>
            </a:r>
            <a:r>
              <a:rPr lang="en-US" sz="2000" dirty="0" err="1">
                <a:solidFill>
                  <a:srgbClr val="000000"/>
                </a:solidFill>
                <a:latin typeface="Times New Roman"/>
              </a:rPr>
              <a:t>tốt</a:t>
            </a:r>
            <a:r>
              <a:rPr lang="en-US" sz="2000" dirty="0">
                <a:solidFill>
                  <a:srgbClr val="000000"/>
                </a:solidFill>
                <a:latin typeface="Times New Roman"/>
              </a:rPr>
              <a:t> </a:t>
            </a:r>
            <a:r>
              <a:rPr lang="en-US" sz="2000" dirty="0" err="1">
                <a:solidFill>
                  <a:srgbClr val="000000"/>
                </a:solidFill>
                <a:latin typeface="Times New Roman"/>
              </a:rPr>
              <a:t>hơn</a:t>
            </a:r>
            <a:r>
              <a:rPr sz="2000" dirty="0">
                <a:solidFill>
                  <a:srgbClr val="000000"/>
                </a:solidFill>
                <a:latin typeface="Times New Roman"/>
              </a:rPr>
              <a:t>.</a:t>
            </a:r>
          </a:p>
          <a:p>
            <a:pPr algn="l">
              <a:lnSpc>
                <a:spcPct val="105000"/>
              </a:lnSpc>
              <a:spcBef>
                <a:spcPts val="0"/>
              </a:spcBef>
              <a:spcAft>
                <a:spcPts val="1000"/>
              </a:spcAft>
            </a:pPr>
            <a:r>
              <a:rPr sz="2000">
                <a:latin typeface="Times New Roman"/>
              </a:rPr>
              <a:t>- Trong thời gian tới, đề tài có thể mở rộng thêm loại bản đồ, loại quái, nhiều mô hình nhân vật, nâng cấp, giao diện và các tính năng khác thú vị hơn.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B6366-772A-E1CA-4AB0-A142CB3B6122}"/>
            </a:ext>
          </a:extLst>
        </p:cNvPr>
        <p:cNvGrpSpPr/>
        <p:nvPr/>
      </p:nvGrpSpPr>
      <p:grpSpPr>
        <a:xfrm>
          <a:off x="0" y="0"/>
          <a:ext cx="0" cy="0"/>
          <a:chOff x="0" y="0"/>
          <a:chExt cx="0" cy="0"/>
        </a:xfrm>
      </p:grpSpPr>
      <p:sp>
        <p:nvSpPr>
          <p:cNvPr id="4" name="anim-appear-10-line-1">
            <a:extLst>
              <a:ext uri="{FF2B5EF4-FFF2-40B4-BE49-F238E27FC236}">
                <a16:creationId xmlns:a16="http://schemas.microsoft.com/office/drawing/2014/main" id="{29A4A27A-67BB-5410-B605-54443B4D3493}"/>
              </a:ext>
            </a:extLst>
          </p:cNvPr>
          <p:cNvSpPr txBox="1"/>
          <p:nvPr/>
        </p:nvSpPr>
        <p:spPr>
          <a:xfrm>
            <a:off x="901065" y="3429000"/>
            <a:ext cx="10058400" cy="580800"/>
          </a:xfrm>
          <a:prstGeom prst="rect">
            <a:avLst/>
          </a:prstGeom>
          <a:noFill/>
        </p:spPr>
        <p:txBody>
          <a:bodyPr wrap="square" lIns="18288" tIns="18288" rIns="18288" bIns="18288" anchor="t">
            <a:spAutoFit/>
          </a:bodyPr>
          <a:lstStyle/>
          <a:p>
            <a:pPr algn="ctr">
              <a:lnSpc>
                <a:spcPct val="105000"/>
              </a:lnSpc>
              <a:spcBef>
                <a:spcPts val="0"/>
              </a:spcBef>
              <a:spcAft>
                <a:spcPts val="1000"/>
              </a:spcAft>
            </a:pPr>
            <a:r>
              <a:rPr lang="en-US" sz="3600" b="1" dirty="0">
                <a:solidFill>
                  <a:srgbClr val="0070C0"/>
                </a:solidFill>
                <a:latin typeface="Times New Roman"/>
                <a:cs typeface="Arial"/>
              </a:rPr>
              <a:t>EM </a:t>
            </a:r>
            <a:r>
              <a:rPr lang="vi-VN" sz="3600" b="1" dirty="0">
                <a:solidFill>
                  <a:srgbClr val="0070C0"/>
                </a:solidFill>
                <a:latin typeface="Times New Roman"/>
                <a:cs typeface="Arial"/>
              </a:rPr>
              <a:t>XIN CẢM ƠN THẦY CÔ ĐÃ LẮNG NGHE</a:t>
            </a:r>
            <a:endParaRPr lang="vi-VN" sz="2000" dirty="0">
              <a:solidFill>
                <a:srgbClr val="000000"/>
              </a:solidFill>
              <a:latin typeface="Times New Roman"/>
            </a:endParaRPr>
          </a:p>
        </p:txBody>
      </p:sp>
    </p:spTree>
    <p:extLst>
      <p:ext uri="{BB962C8B-B14F-4D97-AF65-F5344CB8AC3E}">
        <p14:creationId xmlns:p14="http://schemas.microsoft.com/office/powerpoint/2010/main" val="628645642"/>
      </p:ext>
    </p:extLst>
  </p:cSld>
  <p:clrMapOvr>
    <a:masterClrMapping/>
  </p:clrMapOvr>
  <p:transition spd="med">
    <p:fade/>
  </p:transition>
</p:sld>
</file>

<file path=ppt/theme/theme1.xml><?xml version="1.0" encoding="utf-8"?>
<a:theme xmlns:a="http://schemas.openxmlformats.org/drawingml/2006/main" name="Office Theme">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1061</TotalTime>
  <Words>1424</Words>
  <Application>Microsoft Office PowerPoint</Application>
  <PresentationFormat>Widescreen</PresentationFormat>
  <Paragraphs>136</Paragraphs>
  <Slides>19</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CÔNG NGHỆ THÔN TIN ĐỊA HỌC ĐẠI CƯƠNG</dc:title>
  <dc:creator>Nguyen Hoang Long</dc:creator>
  <cp:lastModifiedBy>Thái Hào</cp:lastModifiedBy>
  <cp:revision>445</cp:revision>
  <dcterms:created xsi:type="dcterms:W3CDTF">2020-12-14T15:14:04Z</dcterms:created>
  <dcterms:modified xsi:type="dcterms:W3CDTF">2026-06-01T13:01:59Z</dcterms:modified>
</cp:coreProperties>
</file>
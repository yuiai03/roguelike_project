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370" r:id="rId2"/>
    <p:sldId id="371" r:id="rId3"/>
    <p:sldId id="372" r:id="rId4"/>
    <p:sldId id="383" r:id="rId5"/>
    <p:sldId id="382" r:id="rId6"/>
    <p:sldId id="386" r:id="rId7"/>
    <p:sldId id="381" r:id="rId8"/>
    <p:sldId id="380" r:id="rId9"/>
    <p:sldId id="379" r:id="rId10"/>
    <p:sldId id="384" r:id="rId11"/>
    <p:sldId id="378" r:id="rId12"/>
    <p:sldId id="377" r:id="rId13"/>
    <p:sldId id="376" r:id="rId14"/>
    <p:sldId id="375" r:id="rId15"/>
    <p:sldId id="385" r:id="rId16"/>
    <p:sldId id="387" r:id="rId17"/>
    <p:sldId id="388" r:id="rId1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2693"/>
    <a:srgbClr val="303492"/>
    <a:srgbClr val="0000CC"/>
    <a:srgbClr val="F0FF5B"/>
    <a:srgbClr val="C25B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31" autoAdjust="0"/>
    <p:restoredTop sz="91176" autoAdjust="0"/>
  </p:normalViewPr>
  <p:slideViewPr>
    <p:cSldViewPr snapToGrid="0">
      <p:cViewPr varScale="1">
        <p:scale>
          <a:sx n="101" d="100"/>
          <a:sy n="101" d="100"/>
        </p:scale>
        <p:origin x="1278" y="102"/>
      </p:cViewPr>
      <p:guideLst>
        <p:guide orient="horz" pos="2160"/>
        <p:guide pos="3840"/>
      </p:guideLst>
    </p:cSldViewPr>
  </p:slideViewPr>
  <p:notesTextViewPr>
    <p:cViewPr>
      <p:scale>
        <a:sx n="70" d="100"/>
        <a:sy n="7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8E9E5-2994-0341-8455-2B688C92E95E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4EDBB8-7987-7B40-9AFE-E516A5D28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138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4EDBB8-7987-7B40-9AFE-E516A5D285C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8272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4EDBB8-7987-7B40-9AFE-E516A5D285C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163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FE05A88-1265-F799-8AFC-5C30860C27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11254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53086" y="365125"/>
            <a:ext cx="6280031" cy="1325563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03929"/>
            <a:ext cx="10515600" cy="38730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vi-V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4027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78541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BEE52F-77BA-5078-BCEE-D6FFD80ECE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069763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1AA48C2-430A-3D32-1061-5F6741DF8E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234518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6E79684-D115-C5EA-F2AC-BC3265508D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10738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7CE13C6-A001-9A5B-A91C-FF0B67AD04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681081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C8DA68F-E7A9-5272-F50D-237B7E42D5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432413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D99E1C9-1027-D65E-36D2-449EE91EAA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04465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24CCEA7-948C-7933-5A40-0FE32DBB81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678018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4AD8CFA-EEE6-6B00-1BD6-54887768A0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4658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667740A-CC60-C460-CD7A-198AE6215B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542157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18581" y="329956"/>
            <a:ext cx="65920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63968" y="2470637"/>
            <a:ext cx="9489831" cy="3706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vi-V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>
            <a:alphaModFix amt="20000"/>
          </a:blip>
          <a:stretch>
            <a:fillRect/>
          </a:stretch>
        </p:blipFill>
        <p:spPr>
          <a:xfrm>
            <a:off x="8896289" y="968590"/>
            <a:ext cx="3165082" cy="4973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087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64080" y="1121678"/>
            <a:ext cx="7315200" cy="58137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ĐỒ ÁN TỐT NGHIỆP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423160"/>
            <a:ext cx="9326880" cy="10058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000000"/>
                </a:solidFill>
                <a:latin typeface="Times New Roman"/>
              </a:rPr>
              <a:t>NGHIÊN CỨU VÀ PHÁT TRIỂN TRÒ CHƠI SINH TỒN 3D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3886200"/>
            <a:ext cx="832104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Sinh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viên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thực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hiện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: Thái Văn Hào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4270248"/>
            <a:ext cx="832104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Mã sinh viên: 2121051075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4654296"/>
            <a:ext cx="832104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Giáo viên hướng dẫn: Phạm Quang Hiển</a:t>
            </a:r>
          </a:p>
        </p:txBody>
      </p:sp>
    </p:spTree>
    <p:extLst>
      <p:ext uri="{BB962C8B-B14F-4D97-AF65-F5344CB8AC3E}">
        <p14:creationId xmlns:p14="http://schemas.microsoft.com/office/powerpoint/2010/main" val="2461206410"/>
      </p:ext>
    </p:extLst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NỘI DUNG TRÌNH BÀY</a:t>
            </a:r>
          </a:p>
        </p:txBody>
      </p:sp>
      <p:sp>
        <p:nvSpPr>
          <p:cNvPr id="3" name="anim-appear-10-agenda-1"/>
          <p:cNvSpPr txBox="1"/>
          <p:nvPr/>
        </p:nvSpPr>
        <p:spPr>
          <a:xfrm>
            <a:off x="2148840" y="2364105"/>
            <a:ext cx="8917000" cy="357104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1. GIỚI THIỆU ĐỀ TÀI</a:t>
            </a:r>
            <a:endParaRPr lang="en-US" sz="2000" b="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2. LÝ THUYẾT VÀ CÔNG NGHỆ</a:t>
            </a:r>
          </a:p>
          <a:p>
            <a:pPr>
              <a:lnSpc>
                <a:spcPct val="105000"/>
              </a:lnSpc>
            </a:pP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3. PHÂN TÍCH HỆ THỐNG</a:t>
            </a:r>
          </a:p>
          <a:p>
            <a:pPr>
              <a:lnSpc>
                <a:spcPct val="105000"/>
              </a:lnSpc>
            </a:pP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4. QUY TRÌNH THỰC HIỆN</a:t>
            </a:r>
          </a:p>
          <a:p>
            <a:pPr>
              <a:lnSpc>
                <a:spcPct val="105000"/>
              </a:lnSpc>
            </a:pP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5. GIAO DIỆN VÀ TRẢI NGHIỆM</a:t>
            </a:r>
          </a:p>
          <a:p>
            <a:pPr>
              <a:lnSpc>
                <a:spcPct val="105000"/>
              </a:lnSpc>
            </a:pP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6. KẾT LUẬN</a:t>
            </a:r>
          </a:p>
        </p:txBody>
      </p:sp>
    </p:spTree>
    <p:extLst>
      <p:ext uri="{BB962C8B-B14F-4D97-AF65-F5344CB8AC3E}">
        <p14:creationId xmlns:p14="http://schemas.microsoft.com/office/powerpoint/2010/main" val="3626447906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GIỚI THIỆU ĐỀ TÀI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3915" y="2696784"/>
            <a:ext cx="10682935" cy="39991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Times New Roman"/>
              </a:rPr>
              <a:t>Lý do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chọn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đề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tài</a:t>
            </a: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:</a:t>
            </a:r>
            <a:endParaRPr sz="24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anim-appear-10-line-1"/>
          <p:cNvSpPr txBox="1"/>
          <p:nvPr/>
        </p:nvSpPr>
        <p:spPr>
          <a:xfrm>
            <a:off x="843915" y="3429000"/>
            <a:ext cx="10058400" cy="222214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lnSpc>
                <a:spcPct val="105000"/>
              </a:lnSpc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lang="vi-VN" sz="2000" dirty="0">
                <a:solidFill>
                  <a:srgbClr val="000000"/>
                </a:solidFill>
                <a:latin typeface="Times New Roman"/>
              </a:rPr>
              <a:t>Thể loại roguelike sinh tồn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đánh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quái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vi-VN" sz="2000" dirty="0">
                <a:solidFill>
                  <a:srgbClr val="000000"/>
                </a:solidFill>
                <a:latin typeface="Times New Roman"/>
              </a:rPr>
              <a:t>có tính hấp dẫn, nhịp độ nhanh và giá trị chơi lại cao.</a:t>
            </a: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endParaRPr lang="en-US" sz="2000" b="0" dirty="0">
              <a:solidFill>
                <a:srgbClr val="000000"/>
              </a:solidFill>
              <a:latin typeface="Times New Roman"/>
            </a:endParaRPr>
          </a:p>
          <a:p>
            <a:r>
              <a:rPr lang="en-US"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Đề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tài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phù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hợp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để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áp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dụng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tổng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hợp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kiến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thức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về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Unity, C#, gameplay, UI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backend.</a:t>
            </a:r>
          </a:p>
          <a:p>
            <a:pPr marL="342900" indent="-342900">
              <a:buFontTx/>
              <a:buChar char="-"/>
            </a:pP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r>
              <a:rPr lang="en-US"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lang="vi-VN" sz="2000" dirty="0">
                <a:solidFill>
                  <a:srgbClr val="000000"/>
                </a:solidFill>
                <a:latin typeface="Times New Roman"/>
              </a:rPr>
              <a:t>Roguelike sinh tồn có vòng chơi ngắn, dễ demo và dễ đánh giá.</a:t>
            </a: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 marL="342900" indent="-342900">
              <a:buFontTx/>
              <a:buChar char="-"/>
            </a:pPr>
            <a:endParaRPr lang="vi-VN" sz="2000" dirty="0">
              <a:solidFill>
                <a:srgbClr val="000000"/>
              </a:solidFill>
              <a:latin typeface="Times New Roman"/>
            </a:endParaRPr>
          </a:p>
          <a:p>
            <a:r>
              <a:rPr lang="vi-VN" sz="2000" dirty="0">
                <a:solidFill>
                  <a:srgbClr val="000000"/>
                </a:solidFill>
                <a:latin typeface="Times New Roman"/>
              </a:rPr>
              <a:t>- Đề tài có tiềm năng mở rộng thành một game hoàn thiện hơn trong tương lai.</a:t>
            </a:r>
          </a:p>
        </p:txBody>
      </p:sp>
    </p:spTree>
    <p:extLst>
      <p:ext uri="{BB962C8B-B14F-4D97-AF65-F5344CB8AC3E}">
        <p14:creationId xmlns:p14="http://schemas.microsoft.com/office/powerpoint/2010/main" val="1363924659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GIỚI THIỆU ĐỀ TÀI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451801"/>
            <a:ext cx="5135727" cy="39991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solidFill>
                  <a:srgbClr val="000000"/>
                </a:solidFill>
                <a:latin typeface="Times New Roman"/>
              </a:rPr>
              <a:t>Mục</a:t>
            </a: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/>
              </a:rPr>
              <a:t>tiêu</a:t>
            </a:r>
            <a:endParaRPr lang="en-US" sz="24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24447" y="2451801"/>
            <a:ext cx="5135727" cy="39991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Times New Roman"/>
              </a:rPr>
              <a:t>Phạm vi</a:t>
            </a:r>
          </a:p>
        </p:txBody>
      </p:sp>
      <p:sp>
        <p:nvSpPr>
          <p:cNvPr id="5" name="anim-appear-10-line-1"/>
          <p:cNvSpPr txBox="1"/>
          <p:nvPr/>
        </p:nvSpPr>
        <p:spPr>
          <a:xfrm>
            <a:off x="777239" y="3161539"/>
            <a:ext cx="5135727" cy="29247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Xây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dựng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b="0" dirty="0">
                <a:solidFill>
                  <a:srgbClr val="000000"/>
                </a:solidFill>
                <a:latin typeface="Times New Roman"/>
              </a:rPr>
              <a:t>game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sinh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tồn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đánh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quái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3D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trên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Unity.</a:t>
            </a:r>
            <a:endParaRPr lang="en-US" sz="2000" b="0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vi-VN" sz="2000" dirty="0">
                <a:solidFill>
                  <a:srgbClr val="000000"/>
                </a:solidFill>
                <a:latin typeface="Times New Roman"/>
              </a:rPr>
              <a:t>- Hoàn thiện 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gameplay</a:t>
            </a:r>
            <a:r>
              <a:rPr lang="vi-VN" sz="2000" dirty="0">
                <a:solidFill>
                  <a:srgbClr val="000000"/>
                </a:solidFill>
                <a:latin typeface="Times New Roman"/>
              </a:rPr>
              <a:t> từ 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di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chuyển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vi-VN" sz="2000" dirty="0">
                <a:solidFill>
                  <a:srgbClr val="000000"/>
                </a:solidFill>
                <a:latin typeface="Times New Roman"/>
              </a:rPr>
              <a:t>chiến đấu,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nhận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kinh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nghiệm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vi-VN" sz="2000" dirty="0">
                <a:solidFill>
                  <a:srgbClr val="000000"/>
                </a:solidFill>
                <a:latin typeface="Times New Roman"/>
              </a:rPr>
              <a:t>đến chọn buff theo wave.</a:t>
            </a: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Xây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dựng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giao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diện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bảng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xếp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hạng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để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sản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phẩm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có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thể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chạy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, build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chơi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mượt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mà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trên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các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thiết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bị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khác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nhau</a:t>
            </a:r>
            <a:endParaRPr lang="vi-VN" sz="20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anim-appear-40-line-1"/>
          <p:cNvSpPr txBox="1"/>
          <p:nvPr/>
        </p:nvSpPr>
        <p:spPr>
          <a:xfrm>
            <a:off x="6324446" y="3161539"/>
            <a:ext cx="5135727" cy="29247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lnSpc>
                <a:spcPct val="105000"/>
              </a:lnSpc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Tập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trung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vào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gameplay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chính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, enemy, wave, buff, HUD, menu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tạm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dừng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nhập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tên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bảng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xếp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hạng</a:t>
            </a: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lang="vi-VN" sz="2000" dirty="0">
                <a:solidFill>
                  <a:srgbClr val="000000"/>
                </a:solidFill>
                <a:latin typeface="Times New Roman"/>
              </a:rPr>
              <a:t>Chưa đi sâu vào multiplayer, cốt truyện</a:t>
            </a: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lang="vi-VN" sz="2000" dirty="0">
                <a:solidFill>
                  <a:srgbClr val="000000"/>
                </a:solidFill>
                <a:latin typeface="Times New Roman"/>
              </a:rPr>
              <a:t>Sản phẩm là một bản game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cơ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bản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có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thể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phát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triển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thêm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nhiều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tính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năng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sau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này</a:t>
            </a:r>
            <a:endParaRPr lang="vi-VN" sz="2000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sz="2000" b="0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34637388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7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20265" y="557784"/>
            <a:ext cx="6217920" cy="116307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LÝ THUYẾT VÀ</a:t>
            </a:r>
            <a:r>
              <a:rPr lang="en-US" sz="3600" b="1" dirty="0">
                <a:solidFill>
                  <a:srgbClr val="1F4E79"/>
                </a:solidFill>
                <a:latin typeface="Times New Roman"/>
              </a:rPr>
              <a:t>
</a:t>
            </a:r>
            <a:r>
              <a:rPr sz="3600" b="1" dirty="0">
                <a:solidFill>
                  <a:srgbClr val="1F4E79"/>
                </a:solidFill>
                <a:latin typeface="Times New Roman"/>
              </a:rPr>
              <a:t>CÔNG</a:t>
            </a:r>
            <a:r>
              <a:rPr lang="en-US" sz="3600" b="1" dirty="0">
                <a:solidFill>
                  <a:srgbClr val="1F4E79"/>
                </a:solidFill>
                <a:latin typeface="Times New Roman"/>
              </a:rPr>
              <a:t> </a:t>
            </a:r>
            <a:r>
              <a:rPr sz="3600" b="1" dirty="0">
                <a:solidFill>
                  <a:srgbClr val="1F4E79"/>
                </a:solidFill>
                <a:latin typeface="Times New Roman"/>
              </a:rPr>
              <a:t>NGHỆ</a:t>
            </a:r>
          </a:p>
        </p:txBody>
      </p:sp>
      <p:sp>
        <p:nvSpPr>
          <p:cNvPr id="6" name="anim-appear-20-line-1"/>
          <p:cNvSpPr txBox="1"/>
          <p:nvPr/>
        </p:nvSpPr>
        <p:spPr>
          <a:xfrm>
            <a:off x="710565" y="2380392"/>
            <a:ext cx="5928360" cy="40995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lang="en-US" sz="2400" b="1" dirty="0" err="1">
                <a:solidFill>
                  <a:srgbClr val="000000"/>
                </a:solidFill>
                <a:latin typeface="Times New Roman"/>
              </a:rPr>
              <a:t>Tổng</a:t>
            </a: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/>
              </a:rPr>
              <a:t>quan</a:t>
            </a: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 gameplay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solidFill>
                <a:srgbClr val="000000"/>
              </a:solidFill>
              <a:latin typeface="Times New Roman"/>
            </a:endParaRPr>
          </a:p>
          <a:p>
            <a:r>
              <a:rPr lang="en-US"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lang="vi-VN" sz="2000" dirty="0">
                <a:solidFill>
                  <a:srgbClr val="000000"/>
                </a:solidFill>
                <a:latin typeface="Times New Roman"/>
              </a:rPr>
              <a:t>Người chơi di chuyển, né tránh enemy và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tấn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công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mục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tiêu</a:t>
            </a:r>
            <a:r>
              <a:rPr lang="vi-VN" sz="2000" dirty="0">
                <a:solidFill>
                  <a:srgbClr val="000000"/>
                </a:solidFill>
                <a:latin typeface="Times New Roman"/>
              </a:rPr>
              <a:t>.</a:t>
            </a: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 marL="342900" indent="-342900">
              <a:buFontTx/>
              <a:buChar char="-"/>
            </a:pP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r>
              <a:rPr lang="en-US"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lang="vi-VN" sz="2000" dirty="0">
                <a:solidFill>
                  <a:srgbClr val="000000"/>
                </a:solidFill>
                <a:latin typeface="Times New Roman"/>
              </a:rPr>
              <a:t>Khi tiêu diệt enemy, người chơi nhận kinh nghiệm, lên cấp và chọn buff để tăng sức mạnh.</a:t>
            </a: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 marL="342900" indent="-342900">
              <a:buFontTx/>
              <a:buChar char="-"/>
            </a:pP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r>
              <a:rPr lang="en-US"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lang="vi-VN" sz="2000" dirty="0">
                <a:solidFill>
                  <a:srgbClr val="000000"/>
                </a:solidFill>
                <a:latin typeface="Times New Roman"/>
              </a:rPr>
              <a:t>Độ khó tăng dần theo từng wave và có boss ở các mốc quan trọng.</a:t>
            </a: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r>
              <a:rPr lang="en-US"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lang="vi-VN" sz="2000" dirty="0">
                <a:solidFill>
                  <a:srgbClr val="000000"/>
                </a:solidFill>
                <a:latin typeface="Times New Roman"/>
              </a:rPr>
              <a:t>Trò chơi có HUD và bảng xếp hạng để hỗ trợ trải nghiệm và theo dõi kết quả.</a:t>
            </a:r>
          </a:p>
        </p:txBody>
      </p:sp>
      <p:pic>
        <p:nvPicPr>
          <p:cNvPr id="9" name="anim-fade-10-media" descr="doc_image_35.png">
            <a:extLst>
              <a:ext uri="{FF2B5EF4-FFF2-40B4-BE49-F238E27FC236}">
                <a16:creationId xmlns:a16="http://schemas.microsoft.com/office/drawing/2014/main" id="{E4B24DE5-DC49-B121-92A4-6B3B1F65A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1558" y="2380392"/>
            <a:ext cx="4553712" cy="2512800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</p:spTree>
    <p:extLst>
      <p:ext uri="{BB962C8B-B14F-4D97-AF65-F5344CB8AC3E}">
        <p14:creationId xmlns:p14="http://schemas.microsoft.com/office/powerpoint/2010/main" val="3640733493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20265" y="559731"/>
            <a:ext cx="6217920" cy="116307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LÝ THUYẾT VÀ</a:t>
            </a:r>
            <a:r>
              <a:rPr lang="en-US" sz="3600" b="1" dirty="0">
                <a:solidFill>
                  <a:srgbClr val="1F4E79"/>
                </a:solidFill>
                <a:latin typeface="Times New Roman"/>
              </a:rPr>
              <a:t>
</a:t>
            </a:r>
            <a:r>
              <a:rPr sz="3600" b="1" dirty="0">
                <a:solidFill>
                  <a:srgbClr val="1F4E79"/>
                </a:solidFill>
                <a:latin typeface="Times New Roman"/>
              </a:rPr>
              <a:t>CÔNG NGHỆ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413" y="2159193"/>
            <a:ext cx="5158587" cy="39991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Times New Roman"/>
              </a:rPr>
              <a:t>Unity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413" y="3617214"/>
            <a:ext cx="5122011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 err="1">
                <a:solidFill>
                  <a:srgbClr val="000000"/>
                </a:solidFill>
                <a:latin typeface="Times New Roman"/>
              </a:rPr>
              <a:t>Dựng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scene, gameplay runtime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UI.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19875" y="2204410"/>
            <a:ext cx="5158587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0000"/>
                </a:solidFill>
                <a:latin typeface="Times New Roman"/>
              </a:rPr>
              <a:t>C#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19875" y="3670786"/>
            <a:ext cx="5122011" cy="3393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 dirty="0" err="1">
                <a:solidFill>
                  <a:srgbClr val="000000"/>
                </a:solidFill>
                <a:latin typeface="Times New Roman"/>
              </a:rPr>
              <a:t>Ngôn</a:t>
            </a:r>
            <a:r>
              <a:rPr lang="en-US"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latin typeface="Times New Roman"/>
              </a:rPr>
              <a:t>ngữ</a:t>
            </a:r>
            <a:r>
              <a:rPr lang="en-US"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latin typeface="Times New Roman"/>
              </a:rPr>
              <a:t>lập</a:t>
            </a:r>
            <a:r>
              <a:rPr lang="en-US"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latin typeface="Times New Roman"/>
              </a:rPr>
              <a:t>trình</a:t>
            </a:r>
            <a:r>
              <a:rPr lang="en-US"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latin typeface="Times New Roman"/>
              </a:rPr>
              <a:t>chính</a:t>
            </a:r>
            <a:endParaRPr sz="2000" b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01587" y="4462272"/>
            <a:ext cx="5158587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solidFill>
                  <a:srgbClr val="000000"/>
                </a:solidFill>
                <a:latin typeface="Times New Roman"/>
              </a:rPr>
              <a:t>PlayFab</a:t>
            </a:r>
            <a:endParaRPr sz="20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19875" y="5760720"/>
            <a:ext cx="5122011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Lưu leaderboard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đồng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bộ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tên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người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chơi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9DB44E-E506-E3C3-5782-DB4BFC7990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226" y="4766645"/>
            <a:ext cx="2632574" cy="97905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B530E90-8EEC-44A9-448F-317312F26B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0320" y="2669667"/>
            <a:ext cx="1001119" cy="100111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49C11FA-A222-D975-0433-6F7169B3B0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718" y="2579763"/>
            <a:ext cx="2819400" cy="103745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EF0CD74-BCC6-E049-1E16-B875943453B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796" y="4782312"/>
            <a:ext cx="929716" cy="92971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5B1AFBB-DC89-72EB-648B-E0E657116E49}"/>
              </a:ext>
            </a:extLst>
          </p:cNvPr>
          <p:cNvSpPr txBox="1"/>
          <p:nvPr/>
        </p:nvSpPr>
        <p:spPr>
          <a:xfrm>
            <a:off x="299008" y="4376131"/>
            <a:ext cx="6096000" cy="394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0000"/>
                </a:solidFill>
                <a:latin typeface="Times New Roman"/>
              </a:rPr>
              <a:t>Visual Studio Code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5358D3-ED00-9675-5E4A-478EE96FC231}"/>
              </a:ext>
            </a:extLst>
          </p:cNvPr>
          <p:cNvSpPr txBox="1"/>
          <p:nvPr/>
        </p:nvSpPr>
        <p:spPr>
          <a:xfrm>
            <a:off x="693649" y="5787092"/>
            <a:ext cx="5122011" cy="3393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 dirty="0" err="1">
                <a:solidFill>
                  <a:srgbClr val="000000"/>
                </a:solidFill>
                <a:latin typeface="Times New Roman"/>
              </a:rPr>
              <a:t>Môi</a:t>
            </a:r>
            <a:r>
              <a:rPr lang="en-US"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latin typeface="Times New Roman"/>
              </a:rPr>
              <a:t>trường</a:t>
            </a:r>
            <a:r>
              <a:rPr lang="en-US"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latin typeface="Times New Roman"/>
              </a:rPr>
              <a:t>lập</a:t>
            </a:r>
            <a:r>
              <a:rPr lang="en-US"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latin typeface="Times New Roman"/>
              </a:rPr>
              <a:t>trình</a:t>
            </a:r>
            <a:r>
              <a:rPr lang="en-US" sz="2000" b="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sz="2000" b="0" dirty="0" err="1">
                <a:solidFill>
                  <a:srgbClr val="000000"/>
                </a:solidFill>
                <a:latin typeface="Times New Roman"/>
              </a:rPr>
              <a:t>xử</a:t>
            </a:r>
            <a:r>
              <a:rPr lang="en-US"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latin typeface="Times New Roman"/>
              </a:rPr>
              <a:t>lý</a:t>
            </a:r>
            <a:r>
              <a:rPr lang="en-US" sz="2000" b="0" dirty="0">
                <a:solidFill>
                  <a:srgbClr val="000000"/>
                </a:solidFill>
                <a:latin typeface="Times New Roman"/>
              </a:rPr>
              <a:t> logic</a:t>
            </a:r>
            <a:endParaRPr sz="2000" b="0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81826541"/>
      </p:ext>
    </p:extLst>
  </p:cSld>
  <p:clrMapOvr>
    <a:masterClrMapping/>
  </p:clrMapOvr>
  <p:transition spd="med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PHÂN TÍCH HỆ THỐNG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38" y="2339290"/>
            <a:ext cx="10682935" cy="39991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 err="1">
                <a:solidFill>
                  <a:srgbClr val="000000"/>
                </a:solidFill>
                <a:latin typeface="Times New Roman"/>
              </a:rPr>
              <a:t>Nhóm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chức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năng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chính</a:t>
            </a:r>
            <a:endParaRPr sz="24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anim-appear-10-line-1"/>
          <p:cNvSpPr txBox="1"/>
          <p:nvPr/>
        </p:nvSpPr>
        <p:spPr>
          <a:xfrm>
            <a:off x="777238" y="2881122"/>
            <a:ext cx="5135727" cy="2989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Gameplay </a:t>
            </a:r>
            <a:r>
              <a:rPr lang="en-US" sz="2400" b="1" dirty="0" err="1">
                <a:solidFill>
                  <a:srgbClr val="000000"/>
                </a:solidFill>
                <a:latin typeface="Times New Roman"/>
              </a:rPr>
              <a:t>chính</a:t>
            </a:r>
            <a:endParaRPr lang="en-US" sz="2400" b="1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- Định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danh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người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chơi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bắt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đầu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trận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đấu</a:t>
            </a:r>
            <a:endParaRPr lang="en-US" sz="2000" b="0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Điều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khiển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nhân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vật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chiến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đấu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với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enemy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vượt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qua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các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wave.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Nhận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kinh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nghiệm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lên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cấp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chọn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buff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đổi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theme map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theo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tiến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trình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  <p:sp>
        <p:nvSpPr>
          <p:cNvPr id="9" name="anim-appear-40-line-1"/>
          <p:cNvSpPr txBox="1"/>
          <p:nvPr/>
        </p:nvSpPr>
        <p:spPr>
          <a:xfrm>
            <a:off x="6324446" y="2881122"/>
            <a:ext cx="5135727" cy="2989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Giao </a:t>
            </a:r>
            <a:r>
              <a:rPr lang="en-US" sz="2400" b="1" dirty="0" err="1">
                <a:solidFill>
                  <a:srgbClr val="000000"/>
                </a:solidFill>
                <a:latin typeface="Times New Roman"/>
              </a:rPr>
              <a:t>diện</a:t>
            </a: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/>
              </a:rPr>
              <a:t>hệ</a:t>
            </a: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/>
              </a:rPr>
              <a:t>thống</a:t>
            </a: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/>
              </a:rPr>
              <a:t>hỗ</a:t>
            </a: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/>
              </a:rPr>
              <a:t>trợ</a:t>
            </a:r>
            <a:endParaRPr lang="en-US" sz="2400" b="1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-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Hiển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thị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HUD, </a:t>
            </a:r>
            <a:r>
              <a:rPr lang="en-US" sz="2000" b="0" dirty="0">
                <a:solidFill>
                  <a:srgbClr val="000000"/>
                </a:solidFill>
                <a:latin typeface="Times New Roman"/>
              </a:rPr>
              <a:t>menu </a:t>
            </a:r>
            <a:r>
              <a:rPr lang="en-US" sz="2000" b="0" dirty="0" err="1">
                <a:solidFill>
                  <a:srgbClr val="000000"/>
                </a:solidFill>
                <a:latin typeface="Times New Roman"/>
              </a:rPr>
              <a:t>tạm</a:t>
            </a:r>
            <a:r>
              <a:rPr lang="en-US"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latin typeface="Times New Roman"/>
              </a:rPr>
              <a:t>dừng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sz="2000" b="0" dirty="0" err="1">
                <a:solidFill>
                  <a:srgbClr val="000000"/>
                </a:solidFill>
                <a:latin typeface="Times New Roman"/>
              </a:rPr>
              <a:t>cài</a:t>
            </a:r>
            <a:r>
              <a:rPr lang="en-US"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latin typeface="Times New Roman"/>
              </a:rPr>
              <a:t>đặt</a:t>
            </a:r>
            <a:r>
              <a:rPr lang="en-US"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loading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hỗ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trợ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trong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trận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.</a:t>
            </a:r>
            <a:endParaRPr lang="en-US" sz="2000" b="0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Nhập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tên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người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chơi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hiển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thị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bảng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xếp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hạng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vi-VN"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Kết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nối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các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chức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năng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thành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một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vòng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chơi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hoàn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chỉnh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.</a:t>
            </a:r>
            <a:endParaRPr lang="vi-VN" sz="2000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08487718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9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PHÂN TÍCH HỆ THỐNG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74458"/>
            <a:ext cx="10682935" cy="39991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 err="1">
                <a:solidFill>
                  <a:srgbClr val="000000"/>
                </a:solidFill>
                <a:latin typeface="Times New Roman"/>
              </a:rPr>
              <a:t>Tổ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chức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project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module code</a:t>
            </a:r>
          </a:p>
        </p:txBody>
      </p:sp>
      <p:sp>
        <p:nvSpPr>
          <p:cNvPr id="6" name="anim-appear-10-line-1"/>
          <p:cNvSpPr txBox="1"/>
          <p:nvPr/>
        </p:nvSpPr>
        <p:spPr>
          <a:xfrm>
            <a:off x="777240" y="2995422"/>
            <a:ext cx="5135727" cy="266617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400" b="1" dirty="0" err="1">
                <a:solidFill>
                  <a:srgbClr val="000000"/>
                </a:solidFill>
                <a:latin typeface="Times New Roman"/>
              </a:rPr>
              <a:t>Nhóm</a:t>
            </a: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 gameplay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Xử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lý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điều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khiển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nhân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vật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chiến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đấu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>
              <a:lnSpc>
                <a:spcPct val="105000"/>
              </a:lnSpc>
            </a:pP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- Quản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lý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enemy,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đạn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bắn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wave</a:t>
            </a:r>
          </a:p>
          <a:p>
            <a:pPr>
              <a:lnSpc>
                <a:spcPct val="105000"/>
              </a:lnSpc>
            </a:pP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vi-VN" sz="2000" dirty="0">
                <a:solidFill>
                  <a:srgbClr val="000000"/>
                </a:solidFill>
                <a:latin typeface="Times New Roman"/>
              </a:rPr>
              <a:t>- Tổ chức dữ liệu để dễ chỉnh sửa và phát triển thêm.</a:t>
            </a:r>
            <a:endParaRPr sz="2000" b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anim-appear-40-line-1"/>
          <p:cNvSpPr txBox="1"/>
          <p:nvPr/>
        </p:nvSpPr>
        <p:spPr>
          <a:xfrm>
            <a:off x="6324448" y="2995422"/>
            <a:ext cx="5135727" cy="266617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400" b="1" dirty="0" err="1">
                <a:solidFill>
                  <a:srgbClr val="000000"/>
                </a:solidFill>
                <a:latin typeface="Times New Roman"/>
              </a:rPr>
              <a:t>Nhóm</a:t>
            </a: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/>
              </a:rPr>
              <a:t>hỗ</a:t>
            </a: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/>
              </a:rPr>
              <a:t>trợ</a:t>
            </a:r>
            <a:endParaRPr lang="en-US" sz="2400" b="1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- Quản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lý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kinh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nghiệm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lên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cấp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buff.</a:t>
            </a:r>
          </a:p>
          <a:p>
            <a:pPr>
              <a:lnSpc>
                <a:spcPct val="105000"/>
              </a:lnSpc>
            </a:pP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- Hiển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thị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giao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diện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các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chức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năng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hỗ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trợ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trong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game.</a:t>
            </a:r>
          </a:p>
          <a:p>
            <a:pPr>
              <a:lnSpc>
                <a:spcPct val="105000"/>
              </a:lnSpc>
            </a:pP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lang="vi-VN" sz="2000" dirty="0">
                <a:solidFill>
                  <a:srgbClr val="000000"/>
                </a:solidFill>
                <a:latin typeface="Times New Roman"/>
              </a:rPr>
              <a:t>Kết nối bảng xếp hạng và lưu điểm người chơi.</a:t>
            </a:r>
            <a:endParaRPr lang="en-US" sz="2000" b="0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39011969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9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QUY TRÌNH THỰC HIỆN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83792"/>
            <a:ext cx="10682935" cy="39991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 err="1">
                <a:solidFill>
                  <a:srgbClr val="000000"/>
                </a:solidFill>
                <a:latin typeface="Times New Roman"/>
              </a:rPr>
              <a:t>Điều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khiển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chiến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đấu</a:t>
            </a:r>
            <a:endParaRPr sz="2400" b="1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" name="anim-fade-10-media" descr="doc_image_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2808108"/>
            <a:ext cx="4553712" cy="2512800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6" name="anim-appear-20-line-1"/>
          <p:cNvSpPr txBox="1"/>
          <p:nvPr/>
        </p:nvSpPr>
        <p:spPr>
          <a:xfrm>
            <a:off x="777240" y="3030093"/>
            <a:ext cx="5212080" cy="357104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lnSpc>
                <a:spcPct val="105000"/>
              </a:lnSpc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lang="vi-VN" sz="2000" dirty="0">
                <a:solidFill>
                  <a:srgbClr val="000000"/>
                </a:solidFill>
                <a:latin typeface="Times New Roman"/>
              </a:rPr>
              <a:t>Người chơi di chuyển nhân vật bằng bàn phím và có thể sử dụng dash để né enemy.</a:t>
            </a: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endParaRPr lang="vi-VN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lang="vi-VN" sz="2000" dirty="0">
                <a:solidFill>
                  <a:srgbClr val="000000"/>
                </a:solidFill>
                <a:latin typeface="Times New Roman"/>
              </a:rPr>
              <a:t>Hệ thống tự động tìm mục tiêu gần nhất để thực hiện tấn công.</a:t>
            </a: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lang="vi-VN" sz="2000" dirty="0">
                <a:solidFill>
                  <a:srgbClr val="000000"/>
                </a:solidFill>
                <a:latin typeface="Times New Roman"/>
              </a:rPr>
              <a:t>Cơ chế bắn tự động giúp người chơi tập trung nhiều hơn vào di chuyển và chiến thuật giữ vị trí.</a:t>
            </a: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lang="vi-VN" sz="2000" dirty="0">
                <a:solidFill>
                  <a:srgbClr val="000000"/>
                </a:solidFill>
                <a:latin typeface="Times New Roman"/>
              </a:rPr>
              <a:t>Cách chơi này giúp trận đấu diễn ra nhanh và tạo cảm giác liên tục.</a:t>
            </a:r>
            <a:endParaRPr sz="2000" b="0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02497573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QUY TRÌNH THỰC HIỆN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46645"/>
            <a:ext cx="10682935" cy="39991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Times New Roman"/>
              </a:rPr>
              <a:t>Enemy, boss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wave</a:t>
            </a:r>
          </a:p>
        </p:txBody>
      </p:sp>
      <p:sp>
        <p:nvSpPr>
          <p:cNvPr id="4" name="anim-appear-50-line-1"/>
          <p:cNvSpPr txBox="1"/>
          <p:nvPr/>
        </p:nvSpPr>
        <p:spPr>
          <a:xfrm>
            <a:off x="777240" y="2938801"/>
            <a:ext cx="5074920" cy="38942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lnSpc>
                <a:spcPct val="105000"/>
              </a:lnSpc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lang="vi-VN" sz="2000" dirty="0">
                <a:solidFill>
                  <a:srgbClr val="000000"/>
                </a:solidFill>
                <a:latin typeface="Times New Roman"/>
              </a:rPr>
              <a:t>Trong trò chơi có nhiều loại enemy như enemy bay, enemy đánh xa và enemy cận chiến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.</a:t>
            </a:r>
            <a:endParaRPr lang="en-US" sz="2000" b="0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lang="vi-VN" sz="2000" dirty="0">
                <a:solidFill>
                  <a:srgbClr val="000000"/>
                </a:solidFill>
                <a:latin typeface="Times New Roman"/>
              </a:rPr>
              <a:t>Các enemy được xuất hiện theo từng wave để tạo áp lực cho người chơi.</a:t>
            </a: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- Ở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những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mốc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nhất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định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sẽ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xuất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hiện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boss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để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tăng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thử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thách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tạo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cao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trào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>
              <a:lnSpc>
                <a:spcPct val="105000"/>
              </a:lnSpc>
            </a:pP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vi-VN" sz="2000" dirty="0">
                <a:solidFill>
                  <a:srgbClr val="000000"/>
                </a:solidFill>
                <a:latin typeface="Times New Roman"/>
              </a:rPr>
              <a:t>- Độ khó của trò chơi tăng dần theo từng wave thông qua số lượng và loại enemy.</a:t>
            </a: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sz="2000" b="0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9" name="anim-fade-10-enemy-1" descr="doc_image_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811" y="2542032"/>
            <a:ext cx="1791222" cy="1005840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10" name="anim-appear-11-enemy-cap-1"/>
          <p:cNvSpPr txBox="1"/>
          <p:nvPr/>
        </p:nvSpPr>
        <p:spPr>
          <a:xfrm>
            <a:off x="6492240" y="3630168"/>
            <a:ext cx="221284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Enemy bay</a:t>
            </a:r>
          </a:p>
        </p:txBody>
      </p:sp>
      <p:pic>
        <p:nvPicPr>
          <p:cNvPr id="12" name="anim-fade-20-enemy-2" descr="doc_image_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4424" y="2542032"/>
            <a:ext cx="1783360" cy="1005840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13" name="anim-appear-21-enemy-cap-2"/>
          <p:cNvSpPr txBox="1"/>
          <p:nvPr/>
        </p:nvSpPr>
        <p:spPr>
          <a:xfrm>
            <a:off x="8869680" y="3630168"/>
            <a:ext cx="221284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Enemy đánh xa</a:t>
            </a:r>
          </a:p>
        </p:txBody>
      </p:sp>
      <p:pic>
        <p:nvPicPr>
          <p:cNvPr id="15" name="anim-fade-30-enemy-3" descr="doc_image_3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3898" y="4041648"/>
            <a:ext cx="1789531" cy="1005840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16" name="anim-appear-31-enemy-cap-3"/>
          <p:cNvSpPr txBox="1"/>
          <p:nvPr/>
        </p:nvSpPr>
        <p:spPr>
          <a:xfrm>
            <a:off x="6492240" y="5129784"/>
            <a:ext cx="221284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Enemy cận chiến</a:t>
            </a:r>
          </a:p>
        </p:txBody>
      </p:sp>
      <p:pic>
        <p:nvPicPr>
          <p:cNvPr id="18" name="anim-fade-40-enemy-4" descr="doc_image_4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1338" y="4041648"/>
            <a:ext cx="1789531" cy="1005840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19" name="anim-appear-41-enemy-cap-4"/>
          <p:cNvSpPr txBox="1"/>
          <p:nvPr/>
        </p:nvSpPr>
        <p:spPr>
          <a:xfrm>
            <a:off x="8869680" y="5129784"/>
            <a:ext cx="221284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Boss / LawaChurl</a:t>
            </a:r>
          </a:p>
        </p:txBody>
      </p:sp>
    </p:spTree>
    <p:extLst>
      <p:ext uri="{BB962C8B-B14F-4D97-AF65-F5344CB8AC3E}">
        <p14:creationId xmlns:p14="http://schemas.microsoft.com/office/powerpoint/2010/main" val="1703041487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00"/>
                            </p:stCondLst>
                            <p:childTnLst>
                              <p:par>
                                <p:cTn id="11" presetID="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9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600"/>
                            </p:stCondLst>
                            <p:childTnLst>
                              <p:par>
                                <p:cTn id="17" presetID="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7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10" grpId="0" autoUpdateAnimBg="0"/>
      <p:bldP spid="13" grpId="0" autoUpdateAnimBg="0"/>
      <p:bldP spid="16" grpId="0" autoUpdateAnimBg="0"/>
      <p:bldP spid="19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QUY TRÌNH THỰC HIỆN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477494"/>
            <a:ext cx="10682935" cy="3393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0000"/>
                </a:solidFill>
                <a:latin typeface="Times New Roman"/>
              </a:rPr>
              <a:t>Kinh </a:t>
            </a:r>
            <a:r>
              <a:rPr lang="en-US" sz="2000" b="1" dirty="0" err="1">
                <a:solidFill>
                  <a:srgbClr val="000000"/>
                </a:solidFill>
                <a:latin typeface="Times New Roman"/>
              </a:rPr>
              <a:t>nghiệm</a:t>
            </a:r>
            <a:r>
              <a:rPr sz="2000" b="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sz="2000" b="1" dirty="0" err="1">
                <a:solidFill>
                  <a:srgbClr val="000000"/>
                </a:solidFill>
                <a:latin typeface="Times New Roman"/>
              </a:rPr>
              <a:t>Lên</a:t>
            </a:r>
            <a:r>
              <a:rPr lang="en-US" sz="20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Times New Roman"/>
              </a:rPr>
              <a:t>cấp</a:t>
            </a:r>
            <a:r>
              <a:rPr lang="en-US" sz="20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b="1" dirty="0">
                <a:solidFill>
                  <a:srgbClr val="000000"/>
                </a:solidFill>
                <a:latin typeface="Times New Roman"/>
              </a:rPr>
              <a:t> buff</a:t>
            </a:r>
          </a:p>
        </p:txBody>
      </p:sp>
      <p:pic>
        <p:nvPicPr>
          <p:cNvPr id="5" name="anim-fade-10-media" descr="doc_imag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2793044"/>
            <a:ext cx="4553712" cy="2542929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6" name="anim-appear-20-line-1"/>
          <p:cNvSpPr txBox="1"/>
          <p:nvPr/>
        </p:nvSpPr>
        <p:spPr>
          <a:xfrm>
            <a:off x="777240" y="3039618"/>
            <a:ext cx="5212080" cy="32478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- Enemy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bị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tiêu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diệt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sẽ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cộng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EXP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vào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thanh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tiến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trình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.</a:t>
            </a:r>
            <a:endParaRPr lang="en-US" sz="2000" b="0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lang="vi-VN" sz="2000" dirty="0">
                <a:solidFill>
                  <a:srgbClr val="000000"/>
                </a:solidFill>
                <a:latin typeface="Times New Roman"/>
              </a:rPr>
              <a:t>Đạt ngưỡng sẽ tăng level và mở lựa chọn buff.</a:t>
            </a: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 marL="342900" indent="-342900">
              <a:lnSpc>
                <a:spcPct val="105000"/>
              </a:lnSpc>
              <a:buFontTx/>
              <a:buChar char="-"/>
            </a:pP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- Buff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tăng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chỉ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số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hoặc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bổ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sung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lợi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thế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trực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tiếp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trong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combat.</a:t>
            </a:r>
          </a:p>
          <a:p>
            <a:pPr>
              <a:lnSpc>
                <a:spcPct val="105000"/>
              </a:lnSpc>
            </a:pP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vi-VN" sz="2000" dirty="0">
                <a:solidFill>
                  <a:srgbClr val="000000"/>
                </a:solidFill>
                <a:latin typeface="Times New Roman"/>
              </a:rPr>
              <a:t>- Sức mạnh nhân vật thay đổi rõ hơn ở các wave sau.</a:t>
            </a:r>
          </a:p>
        </p:txBody>
      </p:sp>
    </p:spTree>
    <p:extLst>
      <p:ext uri="{BB962C8B-B14F-4D97-AF65-F5344CB8AC3E}">
        <p14:creationId xmlns:p14="http://schemas.microsoft.com/office/powerpoint/2010/main" val="3455670047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9315" y="570606"/>
            <a:ext cx="6217920" cy="116307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GIAO DIỆN VÀ</a:t>
            </a:r>
            <a:r>
              <a:rPr lang="en-US" sz="3600" b="1" dirty="0">
                <a:solidFill>
                  <a:srgbClr val="1F4E79"/>
                </a:solidFill>
                <a:latin typeface="Times New Roman"/>
              </a:rPr>
              <a:t>
</a:t>
            </a:r>
            <a:r>
              <a:rPr sz="3600" b="1" dirty="0">
                <a:solidFill>
                  <a:srgbClr val="1F4E79"/>
                </a:solidFill>
                <a:latin typeface="Times New Roman"/>
              </a:rPr>
              <a:t>TRẢI</a:t>
            </a:r>
            <a:r>
              <a:rPr lang="en-US" sz="3600" b="1" dirty="0">
                <a:solidFill>
                  <a:srgbClr val="1F4E79"/>
                </a:solidFill>
                <a:latin typeface="Times New Roman"/>
              </a:rPr>
              <a:t> </a:t>
            </a:r>
            <a:r>
              <a:rPr sz="3600" b="1" dirty="0">
                <a:solidFill>
                  <a:srgbClr val="1F4E79"/>
                </a:solidFill>
                <a:latin typeface="Times New Roman"/>
              </a:rPr>
              <a:t>NGHIỆM</a:t>
            </a:r>
          </a:p>
        </p:txBody>
      </p:sp>
      <p:pic>
        <p:nvPicPr>
          <p:cNvPr id="5" name="anim-fade-10-media" descr="doc_imag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2996935"/>
            <a:ext cx="4553712" cy="2537482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6" name="anim-appear-20-line-1"/>
          <p:cNvSpPr txBox="1"/>
          <p:nvPr/>
        </p:nvSpPr>
        <p:spPr>
          <a:xfrm>
            <a:off x="786765" y="2488311"/>
            <a:ext cx="5212080" cy="421737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"/>
              </a:rPr>
              <a:t>HUD, pause, settings, theme map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vi-VN" sz="2000" dirty="0">
                <a:solidFill>
                  <a:srgbClr val="000000"/>
                </a:solidFill>
                <a:latin typeface="Times New Roman"/>
              </a:rPr>
              <a:t>- HUD hiển thị các thông tin chính như máu, kinh nghiệm, cấp độ và wave hiện tại.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vi-VN" sz="2000" dirty="0">
                <a:solidFill>
                  <a:srgbClr val="000000"/>
                </a:solidFill>
                <a:latin typeface="Times New Roman"/>
              </a:rPr>
              <a:t>- Menu pause và settings hỗ trợ tạm dừng trò chơi và điều chỉnh âm thanh.</a:t>
            </a:r>
          </a:p>
          <a:p>
            <a:pPr>
              <a:lnSpc>
                <a:spcPct val="105000"/>
              </a:lnSpc>
            </a:pPr>
            <a:endParaRPr lang="vi-VN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vi-VN" sz="2000" dirty="0">
                <a:solidFill>
                  <a:srgbClr val="000000"/>
                </a:solidFill>
                <a:latin typeface="Times New Roman"/>
              </a:rPr>
              <a:t>- Theme map được thay đổi theo từng giai đoạn để tạo cảm giác mới trong quá trình chơi.</a:t>
            </a:r>
          </a:p>
          <a:p>
            <a:pPr>
              <a:lnSpc>
                <a:spcPct val="105000"/>
              </a:lnSpc>
            </a:pP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vi-VN" sz="2000" dirty="0">
                <a:solidFill>
                  <a:srgbClr val="000000"/>
                </a:solidFill>
                <a:latin typeface="Times New Roman"/>
              </a:rPr>
              <a:t>- Các giao diện được hiển thị đúng theo trạng thái của trận đấu.</a:t>
            </a:r>
          </a:p>
        </p:txBody>
      </p:sp>
    </p:spTree>
    <p:extLst>
      <p:ext uri="{BB962C8B-B14F-4D97-AF65-F5344CB8AC3E}">
        <p14:creationId xmlns:p14="http://schemas.microsoft.com/office/powerpoint/2010/main" val="3831616474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9315" y="557784"/>
            <a:ext cx="6217920" cy="116307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GIAO DIỆN VÀ
TRẢI NGHIỆM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68296"/>
            <a:ext cx="10682935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solidFill>
                  <a:srgbClr val="000000"/>
                </a:solidFill>
                <a:latin typeface="Times New Roman"/>
              </a:rPr>
              <a:t>Nhập</a:t>
            </a:r>
            <a:r>
              <a:rPr sz="20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Times New Roman"/>
              </a:rPr>
              <a:t>tên</a:t>
            </a:r>
            <a:r>
              <a:rPr sz="20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Times New Roman"/>
              </a:rPr>
              <a:t>bắt</a:t>
            </a:r>
            <a:r>
              <a:rPr sz="20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Times New Roman"/>
              </a:rPr>
              <a:t>đầu</a:t>
            </a:r>
            <a:r>
              <a:rPr sz="20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Times New Roman"/>
              </a:rPr>
              <a:t>trận</a:t>
            </a:r>
            <a:endParaRPr sz="2000" b="1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" name="anim-fade-10-media" descr="doc_image_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2994269"/>
            <a:ext cx="4553712" cy="2542814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6" name="anim-appear-20-line-1"/>
          <p:cNvSpPr txBox="1"/>
          <p:nvPr/>
        </p:nvSpPr>
        <p:spPr>
          <a:xfrm>
            <a:off x="777240" y="2907411"/>
            <a:ext cx="5212080" cy="29247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lnSpc>
                <a:spcPct val="105000"/>
              </a:lnSpc>
            </a:pPr>
            <a:r>
              <a:rPr lang="vi-VN" sz="2000" dirty="0">
                <a:solidFill>
                  <a:srgbClr val="000000"/>
                </a:solidFill>
                <a:latin typeface="Times New Roman"/>
              </a:rPr>
              <a:t>- Người chơi tương tác với khu vực challenge để mở panel bắt đầu trận.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vi-VN" sz="2000" dirty="0">
                <a:solidFill>
                  <a:srgbClr val="000000"/>
                </a:solidFill>
                <a:latin typeface="Times New Roman"/>
              </a:rPr>
              <a:t>- Panel hiển thị hướng dẫn điều khiển cơ bản trước khi vào trận.</a:t>
            </a:r>
          </a:p>
          <a:p>
            <a:pPr>
              <a:lnSpc>
                <a:spcPct val="105000"/>
              </a:lnSpc>
            </a:pPr>
            <a:endParaRPr lang="vi-VN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- Sau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khi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xác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nhận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bắt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đầu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hệ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thống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khởi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tạo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wave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đầu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tiên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chuyển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sang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trạng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thái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chiến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đấu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sz="2000" b="0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05870710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9315" y="557784"/>
            <a:ext cx="6217920" cy="116307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GIAO DIỆN VÀ
TRẢI NGHIỆM</a:t>
            </a:r>
          </a:p>
        </p:txBody>
      </p:sp>
      <p:pic>
        <p:nvPicPr>
          <p:cNvPr id="5" name="anim-fade-10-media" descr="doc_imag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2993201"/>
            <a:ext cx="4553712" cy="2544950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6" name="anim-appear-20-line-1"/>
          <p:cNvSpPr txBox="1"/>
          <p:nvPr/>
        </p:nvSpPr>
        <p:spPr>
          <a:xfrm>
            <a:off x="777240" y="2688336"/>
            <a:ext cx="5212080" cy="357104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"/>
              </a:rPr>
              <a:t>Leaderboard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vi-VN" sz="2000" dirty="0">
                <a:solidFill>
                  <a:srgbClr val="000000"/>
                </a:solidFill>
                <a:latin typeface="Times New Roman"/>
              </a:rPr>
              <a:t>- Điểm số của người chơi được gửi lên hệ thống PlayFab sau khi kết thúc trận đấu.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vi-VN" sz="2000" dirty="0">
                <a:solidFill>
                  <a:srgbClr val="000000"/>
                </a:solidFill>
                <a:latin typeface="Times New Roman"/>
              </a:rPr>
              <a:t>- Bảng xếp hạng hiển thị danh sách người chơi theo điểm số từ cao xuống thấp.</a:t>
            </a:r>
          </a:p>
          <a:p>
            <a:pPr>
              <a:lnSpc>
                <a:spcPct val="105000"/>
              </a:lnSpc>
            </a:pPr>
            <a:endParaRPr lang="vi-VN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vi-VN" sz="2000" dirty="0">
                <a:solidFill>
                  <a:srgbClr val="000000"/>
                </a:solidFill>
                <a:latin typeface="Times New Roman"/>
              </a:rPr>
              <a:t>- Người chơi có thể theo dõi thứ hạng của mình trực tiếp trên giao diện.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sz="2000" b="0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91549337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KẾT LUẬN</a:t>
            </a:r>
          </a:p>
        </p:txBody>
      </p:sp>
      <p:sp>
        <p:nvSpPr>
          <p:cNvPr id="4" name="anim-appear-10-line-1"/>
          <p:cNvSpPr txBox="1"/>
          <p:nvPr/>
        </p:nvSpPr>
        <p:spPr>
          <a:xfrm>
            <a:off x="739139" y="2543175"/>
            <a:ext cx="10567035" cy="227838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lnSpc>
                <a:spcPct val="105000"/>
              </a:lnSpc>
            </a:pPr>
            <a:r>
              <a:rPr lang="vi-VN" sz="2000" b="1" dirty="0">
                <a:solidFill>
                  <a:srgbClr val="000000"/>
                </a:solidFill>
                <a:latin typeface="Times New Roman"/>
              </a:rPr>
              <a:t>Kiểm thử và kết quả đạt được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vi-VN" sz="2000" dirty="0">
                <a:solidFill>
                  <a:srgbClr val="000000"/>
                </a:solidFill>
                <a:latin typeface="Times New Roman"/>
              </a:rPr>
              <a:t>- Đề tài đã kiểm thử các chức năng chính như vào trận, chiến đấu, lên cấp, tạm dừng và bảng xếp hạng.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vi-VN" sz="2000" dirty="0">
                <a:solidFill>
                  <a:srgbClr val="000000"/>
                </a:solidFill>
                <a:latin typeface="Times New Roman"/>
              </a:rPr>
              <a:t>- Kết quả đạt được là xây dựng được một game sinh tồn 3D có thể chạy và trình bày trên thực tế.</a:t>
            </a:r>
          </a:p>
          <a:p>
            <a:pPr>
              <a:lnSpc>
                <a:spcPct val="105000"/>
              </a:lnSpc>
            </a:pP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Sản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phẩm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đã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thể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hiện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rõ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phần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gameplay,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giao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diện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kết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nối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bảng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xếp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hạng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trực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tuyến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8409665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KẾT LUẬN</a:t>
            </a:r>
          </a:p>
        </p:txBody>
      </p:sp>
      <p:sp>
        <p:nvSpPr>
          <p:cNvPr id="4" name="anim-appear-10-line-1"/>
          <p:cNvSpPr txBox="1"/>
          <p:nvPr/>
        </p:nvSpPr>
        <p:spPr>
          <a:xfrm>
            <a:off x="681990" y="2519095"/>
            <a:ext cx="10058400" cy="260154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lnSpc>
                <a:spcPct val="105000"/>
              </a:lnSpc>
            </a:pPr>
            <a:r>
              <a:rPr lang="vi-VN" sz="2000" b="1" dirty="0">
                <a:solidFill>
                  <a:srgbClr val="000000"/>
                </a:solidFill>
                <a:latin typeface="Times New Roman"/>
              </a:rPr>
              <a:t>Hạn chế và hướng phát triển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vi-VN" sz="2000" dirty="0">
                <a:solidFill>
                  <a:srgbClr val="000000"/>
                </a:solidFill>
                <a:latin typeface="Times New Roman"/>
              </a:rPr>
              <a:t>- Số lượng enemy, buff và nội dung trong game hiện vẫn còn chưa nhiều.</a:t>
            </a:r>
          </a:p>
          <a:p>
            <a:pPr>
              <a:lnSpc>
                <a:spcPct val="105000"/>
              </a:lnSpc>
            </a:pP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Một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số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phần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giao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diện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hiệu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năng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vẫn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cần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tiếp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tục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hoàn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thiện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marL="342900" indent="-342900">
              <a:lnSpc>
                <a:spcPct val="105000"/>
              </a:lnSpc>
              <a:buFontTx/>
              <a:buChar char="-"/>
            </a:pP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- Trong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thời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gian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tới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đề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tài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có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thể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mở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rộng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thêm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map, boss, buff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các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chỉ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số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thống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kê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sz="2000" b="0" dirty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B6366-772A-E1CA-4AB0-A142CB3B6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nim-appear-10-line-1">
            <a:extLst>
              <a:ext uri="{FF2B5EF4-FFF2-40B4-BE49-F238E27FC236}">
                <a16:creationId xmlns:a16="http://schemas.microsoft.com/office/drawing/2014/main" id="{29A4A27A-67BB-5410-B605-54443B4D3493}"/>
              </a:ext>
            </a:extLst>
          </p:cNvPr>
          <p:cNvSpPr txBox="1"/>
          <p:nvPr/>
        </p:nvSpPr>
        <p:spPr>
          <a:xfrm>
            <a:off x="901065" y="3429000"/>
            <a:ext cx="10058400" cy="580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sz="3600" b="1" dirty="0">
                <a:solidFill>
                  <a:srgbClr val="0070C0"/>
                </a:solidFill>
                <a:latin typeface="Arial"/>
                <a:cs typeface="Arial"/>
              </a:rPr>
              <a:t>EM </a:t>
            </a:r>
            <a:r>
              <a:rPr lang="vi-VN" sz="3600" b="1" dirty="0">
                <a:solidFill>
                  <a:srgbClr val="0070C0"/>
                </a:solidFill>
                <a:latin typeface="Arial"/>
                <a:cs typeface="Arial"/>
              </a:rPr>
              <a:t>XIN CẢM ƠN THẦY CÔ ĐÃ LẮNG NGHE</a:t>
            </a:r>
            <a:endParaRPr lang="vi-VN" sz="2000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28645642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theme/theme1.xml><?xml version="1.0" encoding="utf-8"?>
<a:theme xmlns:a="http://schemas.openxmlformats.org/drawingml/2006/main" name="Office Them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892</TotalTime>
  <Words>1219</Words>
  <Application>Microsoft Office PowerPoint</Application>
  <PresentationFormat>Widescreen</PresentationFormat>
  <Paragraphs>165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CÔNG NGHỆ THÔN TIN ĐỊA HỌC ĐẠI CƯƠNG</dc:title>
  <dc:creator>Nguyen Hoang Long</dc:creator>
  <cp:lastModifiedBy>Thái Hào</cp:lastModifiedBy>
  <cp:revision>301</cp:revision>
  <dcterms:created xsi:type="dcterms:W3CDTF">2020-12-14T15:14:04Z</dcterms:created>
  <dcterms:modified xsi:type="dcterms:W3CDTF">2026-05-31T08:24:52Z</dcterms:modified>
</cp:coreProperties>
</file>
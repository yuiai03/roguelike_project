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370" r:id="rId2"/>
    <p:sldId id="371" r:id="rId3"/>
    <p:sldId id="372" r:id="rId4"/>
    <p:sldId id="383" r:id="rId5"/>
    <p:sldId id="382" r:id="rId6"/>
    <p:sldId id="386" r:id="rId7"/>
    <p:sldId id="381" r:id="rId8"/>
    <p:sldId id="380" r:id="rId9"/>
    <p:sldId id="379" r:id="rId10"/>
    <p:sldId id="384" r:id="rId11"/>
    <p:sldId id="378" r:id="rId12"/>
    <p:sldId id="377" r:id="rId13"/>
    <p:sldId id="376" r:id="rId14"/>
    <p:sldId id="375" r:id="rId15"/>
    <p:sldId id="385" r:id="rId16"/>
    <p:sldId id="387" r:id="rId22"/>
    <p:sldId id="388" r:id="rId23"/>
    <p:sldId id="389" r:id="rId24"/>
    <p:sldId id="390" r:id="rId25"/>
    <p:sldId id="391" r:id="rId2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2693"/>
    <a:srgbClr val="303492"/>
    <a:srgbClr val="0000CC"/>
    <a:srgbClr val="F0FF5B"/>
    <a:srgbClr val="C25B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31" autoAdjust="0"/>
    <p:restoredTop sz="91176" autoAdjust="0"/>
  </p:normalViewPr>
  <p:slideViewPr>
    <p:cSldViewPr snapToGrid="0">
      <p:cViewPr varScale="1">
        <p:scale>
          <a:sx n="85" d="100"/>
          <a:sy n="85" d="100"/>
        </p:scale>
        <p:origin x="-821" y="-82"/>
      </p:cViewPr>
      <p:guideLst>
        <p:guide orient="horz" pos="2160"/>
        <p:guide pos="3840"/>
      </p:guideLst>
    </p:cSldViewPr>
  </p:slideViewPr>
  <p:notesTextViewPr>
    <p:cViewPr>
      <p:scale>
        <a:sx n="70" d="100"/>
        <a:sy n="7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8E9E5-2994-0341-8455-2B688C92E95E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4EDBB8-7987-7B40-9AFE-E516A5D28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138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4EDBB8-7987-7B40-9AFE-E516A5D285C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82720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7" name="Date Placeholder 3">
            <a:extLst>
              <a:ext uri="{FF2B5EF4-FFF2-40B4-BE49-F238E27FC236}">
                <a16:creationId xmlns="" xmlns:a16="http://schemas.microsoft.com/office/drawing/2014/main" id="{5FE05A88-1265-F799-8AFC-5C30860C27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811254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53086" y="365125"/>
            <a:ext cx="6280031" cy="1325563"/>
          </a:xfr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03929"/>
            <a:ext cx="10515600" cy="387303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vi-V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4027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878541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7" name="Date Placeholder 3">
            <a:extLst>
              <a:ext uri="{FF2B5EF4-FFF2-40B4-BE49-F238E27FC236}">
                <a16:creationId xmlns="" xmlns:a16="http://schemas.microsoft.com/office/drawing/2014/main" id="{E7BEE52F-77BA-5078-BCEE-D6FFD80ECE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069763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8" name="Date Placeholder 3">
            <a:extLst>
              <a:ext uri="{FF2B5EF4-FFF2-40B4-BE49-F238E27FC236}">
                <a16:creationId xmlns="" xmlns:a16="http://schemas.microsoft.com/office/drawing/2014/main" id="{31AA48C2-430A-3D32-1061-5F6741DF8E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4234518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10" name="Date Placeholder 3">
            <a:extLst>
              <a:ext uri="{FF2B5EF4-FFF2-40B4-BE49-F238E27FC236}">
                <a16:creationId xmlns="" xmlns:a16="http://schemas.microsoft.com/office/drawing/2014/main" id="{46E79684-D115-C5EA-F2AC-BC3265508D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810738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6" name="Date Placeholder 3">
            <a:extLst>
              <a:ext uri="{FF2B5EF4-FFF2-40B4-BE49-F238E27FC236}">
                <a16:creationId xmlns="" xmlns:a16="http://schemas.microsoft.com/office/drawing/2014/main" id="{97CE13C6-A001-9A5B-A91C-FF0B67AD04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681081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5" name="Date Placeholder 3">
            <a:extLst>
              <a:ext uri="{FF2B5EF4-FFF2-40B4-BE49-F238E27FC236}">
                <a16:creationId xmlns="" xmlns:a16="http://schemas.microsoft.com/office/drawing/2014/main" id="{2C8DA68F-E7A9-5272-F50D-237B7E42D5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432413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8" name="Date Placeholder 3">
            <a:extLst>
              <a:ext uri="{FF2B5EF4-FFF2-40B4-BE49-F238E27FC236}">
                <a16:creationId xmlns="" xmlns:a16="http://schemas.microsoft.com/office/drawing/2014/main" id="{ED99E1C9-1027-D65E-36D2-449EE91EAA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04465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8" name="Date Placeholder 3">
            <a:extLst>
              <a:ext uri="{FF2B5EF4-FFF2-40B4-BE49-F238E27FC236}">
                <a16:creationId xmlns="" xmlns:a16="http://schemas.microsoft.com/office/drawing/2014/main" id="{E24CCEA7-948C-7933-5A40-0FE32DBB81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678018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7" name="Date Placeholder 3">
            <a:extLst>
              <a:ext uri="{FF2B5EF4-FFF2-40B4-BE49-F238E27FC236}">
                <a16:creationId xmlns="" xmlns:a16="http://schemas.microsoft.com/office/drawing/2014/main" id="{C4AD8CFA-EEE6-6B00-1BD6-54887768A0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4658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7" name="Date Placeholder 3">
            <a:extLst>
              <a:ext uri="{FF2B5EF4-FFF2-40B4-BE49-F238E27FC236}">
                <a16:creationId xmlns="" xmlns:a16="http://schemas.microsoft.com/office/drawing/2014/main" id="{B667740A-CC60-C460-CD7A-198AE6215B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542157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18581" y="329956"/>
            <a:ext cx="65920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63968" y="2470637"/>
            <a:ext cx="9489831" cy="3706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vi-V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4">
            <a:alphaModFix amt="20000"/>
          </a:blip>
          <a:stretch>
            <a:fillRect/>
          </a:stretch>
        </p:blipFill>
        <p:spPr>
          <a:xfrm>
            <a:off x="8896289" y="968590"/>
            <a:ext cx="3165082" cy="49735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087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6.jpg"/><Relationship Id="rId5" Type="http://schemas.openxmlformats.org/officeDocument/2006/relationships/image" Target="../media/image2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6510528"/>
            <a:ext cx="2743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Bộ môn Mạng máy tính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2870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93769"/>
                </a:solidFill>
                <a:latin typeface="Times New Roman"/>
              </a:rPr>
              <a:t>BÁO CÁO ĐỒ ÁN TỐT NGHIỆP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99212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E67823"/>
                </a:solidFill>
                <a:latin typeface="Times New Roman"/>
              </a:rPr>
              <a:t>NGHIÊN CỨU VÀ PHÁT TRIỂN TRÒ CHƠI SINH TỒN 3D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3246120"/>
            <a:ext cx="6583680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Sinh viên thực hiện: Thái Văn Hào</a:t>
            </a:r>
            <a:br/>
            <a:r>
              <a:rPr sz="1300" b="0">
                <a:solidFill>
                  <a:srgbClr val="141414"/>
                </a:solidFill>
                <a:latin typeface="Times New Roman"/>
              </a:rPr>
              <a:t>Mã sinh viên: 2121051075</a:t>
            </a:r>
            <a:br/>
            <a:r>
              <a:rPr sz="1300" b="0">
                <a:solidFill>
                  <a:srgbClr val="141414"/>
                </a:solidFill>
                <a:latin typeface="Times New Roman"/>
              </a:rPr>
              <a:t>Giáo viên hướng dẫn: Phạm Quang Hiển</a:t>
            </a:r>
            <a:br/>
            <a:r>
              <a:rPr sz="1300" b="0">
                <a:solidFill>
                  <a:srgbClr val="141414"/>
                </a:solidFill>
                <a:latin typeface="Times New Roman"/>
              </a:rPr>
              <a:t>Hà Nội, 5/2026</a:t>
            </a:r>
          </a:p>
        </p:txBody>
      </p:sp>
    </p:spTree>
    <p:extLst>
      <p:ext uri="{BB962C8B-B14F-4D97-AF65-F5344CB8AC3E}">
        <p14:creationId xmlns:p14="http://schemas.microsoft.com/office/powerpoint/2010/main" val="2461206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0040"/>
            <a:ext cx="106527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93769"/>
                </a:solidFill>
                <a:latin typeface="Times New Roman"/>
              </a:rPr>
              <a:t>Nội dung trình bày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13232"/>
            <a:ext cx="10652760" cy="18288"/>
          </a:xfrm>
          <a:prstGeom prst="rect">
            <a:avLst/>
          </a:prstGeom>
          <a:solidFill>
            <a:srgbClr val="EB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713232"/>
            <a:ext cx="1097280" cy="27432"/>
          </a:xfrm>
          <a:prstGeom prst="rect">
            <a:avLst/>
          </a:prstGeom>
          <a:solidFill>
            <a:srgbClr val="E67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510528"/>
            <a:ext cx="2743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Bộ môn Mạng máy tính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143000"/>
            <a:ext cx="9966960" cy="43891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Lý do chọn đề tài, mục tiêu và phạm vi thực hiện.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Công nghệ sử dụng và cách tổ chức project Unity.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Các hệ thống gameplay đã xây dựng: Player, Enemy, Wave, EXP, Buff.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Các giao diện và chức năng hỗ trợ: HUD, Challenge, Pause, Settings, Leaderboard.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Kiểm thử, kết quả đạt được, hạn chế và hướng phát triển.</a:t>
            </a:r>
          </a:p>
        </p:txBody>
      </p:sp>
    </p:spTree>
    <p:extLst>
      <p:ext uri="{BB962C8B-B14F-4D97-AF65-F5344CB8AC3E}">
        <p14:creationId xmlns:p14="http://schemas.microsoft.com/office/powerpoint/2010/main" val="3626447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0040"/>
            <a:ext cx="106527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93769"/>
                </a:solidFill>
                <a:latin typeface="Times New Roman"/>
              </a:rPr>
              <a:t>Lý do chọn đề tài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13232"/>
            <a:ext cx="10652760" cy="18288"/>
          </a:xfrm>
          <a:prstGeom prst="rect">
            <a:avLst/>
          </a:prstGeom>
          <a:solidFill>
            <a:srgbClr val="EB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713232"/>
            <a:ext cx="1097280" cy="27432"/>
          </a:xfrm>
          <a:prstGeom prst="rect">
            <a:avLst/>
          </a:prstGeom>
          <a:solidFill>
            <a:srgbClr val="E67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510528"/>
            <a:ext cx="2743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Bộ môn Mạng máy tính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097280"/>
            <a:ext cx="5486400" cy="43891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Game 3D giúp vận dụng nhiều kiến thức: lập trình, đồ họa, UI, âm thanh và thiết kế hệ thống.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Thể loại sinh tồn kết hợp Roguelike có vòng lặp chơi rõ, dễ demo và có khả năng mở rộng.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Đề tài phù hợp để xây dựng một sản phẩm đồ án có thể chơi thử, không chỉ dừng ở mô phỏng lý thuyết.</a:t>
            </a:r>
          </a:p>
        </p:txBody>
      </p:sp>
      <p:pic>
        <p:nvPicPr>
          <p:cNvPr id="8" name="Picture 7" descr="doc_image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7349" y="1115568"/>
            <a:ext cx="3158941" cy="27889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629400" y="1115568"/>
            <a:ext cx="4434840" cy="2788920"/>
          </a:xfrm>
          <a:prstGeom prst="rect">
            <a:avLst/>
          </a:prstGeom>
          <a:noFill/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3950208"/>
            <a:ext cx="44348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Hình ảnh gameplay trong báo cáo</a:t>
            </a:r>
          </a:p>
        </p:txBody>
      </p:sp>
    </p:spTree>
    <p:extLst>
      <p:ext uri="{BB962C8B-B14F-4D97-AF65-F5344CB8AC3E}">
        <p14:creationId xmlns:p14="http://schemas.microsoft.com/office/powerpoint/2010/main" val="1363924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0040"/>
            <a:ext cx="106527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93769"/>
                </a:solidFill>
                <a:latin typeface="Times New Roman"/>
              </a:rPr>
              <a:t>Mục tiêu và phạm vi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13232"/>
            <a:ext cx="10652760" cy="18288"/>
          </a:xfrm>
          <a:prstGeom prst="rect">
            <a:avLst/>
          </a:prstGeom>
          <a:solidFill>
            <a:srgbClr val="EB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713232"/>
            <a:ext cx="1097280" cy="27432"/>
          </a:xfrm>
          <a:prstGeom prst="rect">
            <a:avLst/>
          </a:prstGeom>
          <a:solidFill>
            <a:srgbClr val="E67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510528"/>
            <a:ext cx="2743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Bộ môn Mạng máy tính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143000"/>
            <a:ext cx="521208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252728"/>
            <a:ext cx="495604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376092"/>
                </a:solidFill>
                <a:latin typeface="Times New Roman"/>
              </a:rPr>
              <a:t>Mục tiêu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1581912"/>
            <a:ext cx="4956048" cy="35661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Xây dựng game Roguelike sinh tồn 3D trên Unity.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Hoàn thiện vòng lặp chơi: chiến đấu, nhận EXP, chọn buff, vượt wave.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Tổ chức code và dữ liệu để có thể mở rộng sau đồ án.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143000"/>
            <a:ext cx="489204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1656" y="1252728"/>
            <a:ext cx="463600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376092"/>
                </a:solidFill>
                <a:latin typeface="Times New Roman"/>
              </a:rPr>
              <a:t>Phạm vi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1656" y="1581912"/>
            <a:ext cx="4636008" cy="35661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Tập trung prototype gameplay chính.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Backend giới hạn ở định danh người chơi và HighScore.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Chưa đặt mục tiêu hoàn thiện như game thương mại.</a:t>
            </a:r>
          </a:p>
        </p:txBody>
      </p:sp>
    </p:spTree>
    <p:extLst>
      <p:ext uri="{BB962C8B-B14F-4D97-AF65-F5344CB8AC3E}">
        <p14:creationId xmlns:p14="http://schemas.microsoft.com/office/powerpoint/2010/main" val="1934637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0040"/>
            <a:ext cx="106527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93769"/>
                </a:solidFill>
                <a:latin typeface="Times New Roman"/>
              </a:rPr>
              <a:t>Công nghệ sử dụng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13232"/>
            <a:ext cx="10652760" cy="18288"/>
          </a:xfrm>
          <a:prstGeom prst="rect">
            <a:avLst/>
          </a:prstGeom>
          <a:solidFill>
            <a:srgbClr val="EB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713232"/>
            <a:ext cx="1097280" cy="27432"/>
          </a:xfrm>
          <a:prstGeom prst="rect">
            <a:avLst/>
          </a:prstGeom>
          <a:solidFill>
            <a:srgbClr val="E67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510528"/>
            <a:ext cx="2743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Bộ môn Mạng máy tính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097280"/>
            <a:ext cx="3474720" cy="1874519"/>
          </a:xfrm>
          <a:prstGeom prst="rect">
            <a:avLst/>
          </a:prstGeom>
          <a:solidFill>
            <a:srgbClr val="FFFFFF"/>
          </a:solidFill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207008"/>
            <a:ext cx="321868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376092"/>
                </a:solidFill>
                <a:latin typeface="Times New Roman"/>
              </a:rPr>
              <a:t>Unity và C#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1536192"/>
            <a:ext cx="3218688" cy="1325879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Xử lý gameplay runtime, input, collision, animation và UI.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MonoBehaviour dùng cho các hệ thống tương tác trực tiếp trong scene.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97280"/>
            <a:ext cx="3474720" cy="1874519"/>
          </a:xfrm>
          <a:prstGeom prst="rect">
            <a:avLst/>
          </a:prstGeom>
          <a:solidFill>
            <a:srgbClr val="FFFFFF"/>
          </a:solidFill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1207008"/>
            <a:ext cx="321868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376092"/>
                </a:solidFill>
                <a:latin typeface="Times New Roman"/>
              </a:rPr>
              <a:t>Dữ liệu và hiệu năng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1536192"/>
            <a:ext cx="3218688" cy="1325879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ScriptableObject lưu cấu hình Player, Enemy, Wave, Buff.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Object Pooling giảm chi phí sinh/hủy projectile và enemy.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1097280"/>
            <a:ext cx="3063240" cy="1874519"/>
          </a:xfrm>
          <a:prstGeom prst="rect">
            <a:avLst/>
          </a:prstGeom>
          <a:solidFill>
            <a:srgbClr val="FFFFFF"/>
          </a:solidFill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1895" y="1207008"/>
            <a:ext cx="280720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376092"/>
                </a:solidFill>
                <a:latin typeface="Times New Roman"/>
              </a:rPr>
              <a:t>Quản lý và 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1895" y="1536192"/>
            <a:ext cx="2807208" cy="1325879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Git/GitHub quản lý phiên bản mã nguồn.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PlayFab lưu tên hiển thị và bảng xếp hạng HighScore.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49039"/>
            <a:ext cx="10058400" cy="7315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Các công nghệ được chọn phục vụ trực tiếp cho việc làm ra bản demo chơi được và dễ trình bày khi bảo vệ.</a:t>
            </a:r>
          </a:p>
        </p:txBody>
      </p:sp>
    </p:spTree>
    <p:extLst>
      <p:ext uri="{BB962C8B-B14F-4D97-AF65-F5344CB8AC3E}">
        <p14:creationId xmlns:p14="http://schemas.microsoft.com/office/powerpoint/2010/main" val="3640733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0040"/>
            <a:ext cx="106527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93769"/>
                </a:solidFill>
                <a:latin typeface="Times New Roman"/>
              </a:rPr>
              <a:t>Tổng quan sản phẩm gameplay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13232"/>
            <a:ext cx="10652760" cy="18288"/>
          </a:xfrm>
          <a:prstGeom prst="rect">
            <a:avLst/>
          </a:prstGeom>
          <a:solidFill>
            <a:srgbClr val="EB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713232"/>
            <a:ext cx="1097280" cy="27432"/>
          </a:xfrm>
          <a:prstGeom prst="rect">
            <a:avLst/>
          </a:prstGeom>
          <a:solidFill>
            <a:srgbClr val="E67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510528"/>
            <a:ext cx="2743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Bộ môn Mạng máy tính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6</a:t>
            </a:r>
          </a:p>
        </p:txBody>
      </p:sp>
      <p:pic>
        <p:nvPicPr>
          <p:cNvPr id="7" name="Picture 6" descr="doc_image_2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6285" y="1097280"/>
            <a:ext cx="3225428" cy="28803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" y="1097280"/>
            <a:ext cx="5212080" cy="2880360"/>
          </a:xfrm>
          <a:prstGeom prst="rect">
            <a:avLst/>
          </a:prstGeom>
          <a:noFill/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52120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Màn hình gameplay chính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143000"/>
            <a:ext cx="4572000" cy="34747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Người chơi điều khiển nhân vật trong môi trường 3D.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Enemy xuất hiện theo wave và tấn công người chơi.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Người chơi tiêu diệt enemy để nhận EXP, lên cấp và chọn buff.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Điểm số cuối lượt chơi được gửi lên leaderboard.</a:t>
            </a:r>
          </a:p>
        </p:txBody>
      </p:sp>
    </p:spTree>
    <p:extLst>
      <p:ext uri="{BB962C8B-B14F-4D97-AF65-F5344CB8AC3E}">
        <p14:creationId xmlns:p14="http://schemas.microsoft.com/office/powerpoint/2010/main" val="3381826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0040"/>
            <a:ext cx="106527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93769"/>
                </a:solidFill>
                <a:latin typeface="Times New Roman"/>
              </a:rPr>
              <a:t>Những hệ thống chính đã xây dựng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13232"/>
            <a:ext cx="10652760" cy="18288"/>
          </a:xfrm>
          <a:prstGeom prst="rect">
            <a:avLst/>
          </a:prstGeom>
          <a:solidFill>
            <a:srgbClr val="EB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713232"/>
            <a:ext cx="1097280" cy="27432"/>
          </a:xfrm>
          <a:prstGeom prst="rect">
            <a:avLst/>
          </a:prstGeom>
          <a:solidFill>
            <a:srgbClr val="E67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510528"/>
            <a:ext cx="2743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Bộ môn Mạng máy tính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051560"/>
            <a:ext cx="324612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161288"/>
            <a:ext cx="299008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376092"/>
                </a:solidFill>
                <a:latin typeface="Times New Roman"/>
              </a:rPr>
              <a:t>Player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1490472"/>
            <a:ext cx="2990088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Di chuyển, dash, máu, tự động tấn công.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Đồng bộ trạng thái với animation và UI.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051560"/>
            <a:ext cx="324612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1161288"/>
            <a:ext cx="299008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376092"/>
                </a:solidFill>
                <a:latin typeface="Times New Roman"/>
              </a:rPr>
              <a:t>Enemy và Wave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1490472"/>
            <a:ext cx="2990088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Enemy nhận sát thương, tấn công và phát EXP.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WaveSpawner sinh quái, boss wave và tăng độ khó.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051560"/>
            <a:ext cx="324612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74736" y="1161288"/>
            <a:ext cx="299008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376092"/>
                </a:solidFill>
                <a:latin typeface="Times New Roman"/>
              </a:rPr>
              <a:t>Progression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4736" y="1490472"/>
            <a:ext cx="2990088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Cộng EXP, lên cấp, chọn buff.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Buff tác động lên chỉ số hoặc kỹ năng chiến đấu.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06040" y="2971800"/>
            <a:ext cx="69494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34056" y="3081528"/>
            <a:ext cx="669340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376092"/>
                </a:solidFill>
                <a:latin typeface="Times New Roman"/>
              </a:rPr>
              <a:t>UI và 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34056" y="3410712"/>
            <a:ext cx="6693408" cy="10515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HUD, Challenge, Pause, Settings, Loading.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PlayFab đăng nhập, nhập tên và HighScore.</a:t>
            </a:r>
          </a:p>
        </p:txBody>
      </p:sp>
    </p:spTree>
    <p:extLst>
      <p:ext uri="{BB962C8B-B14F-4D97-AF65-F5344CB8AC3E}">
        <p14:creationId xmlns:p14="http://schemas.microsoft.com/office/powerpoint/2010/main" val="508487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0040"/>
            <a:ext cx="106527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93769"/>
                </a:solidFill>
                <a:latin typeface="Times New Roman"/>
              </a:rPr>
              <a:t>Tổ chức module trong project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13232"/>
            <a:ext cx="10652760" cy="18288"/>
          </a:xfrm>
          <a:prstGeom prst="rect">
            <a:avLst/>
          </a:prstGeom>
          <a:solidFill>
            <a:srgbClr val="EB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713232"/>
            <a:ext cx="1097280" cy="27432"/>
          </a:xfrm>
          <a:prstGeom prst="rect">
            <a:avLst/>
          </a:prstGeom>
          <a:solidFill>
            <a:srgbClr val="E67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510528"/>
            <a:ext cx="2743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Bộ môn Mạng máy tính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097280"/>
            <a:ext cx="5074920" cy="3931920"/>
          </a:xfrm>
          <a:prstGeom prst="rect">
            <a:avLst/>
          </a:prstGeom>
          <a:solidFill>
            <a:srgbClr val="FFFFFF"/>
          </a:solidFill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207008"/>
            <a:ext cx="481888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376092"/>
                </a:solidFill>
                <a:latin typeface="Times New Roman"/>
              </a:rPr>
              <a:t>Nhóm gameplay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1536192"/>
            <a:ext cx="4818888" cy="33832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PlayerController, PlayerAttack, PlayerHealth.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Enemy, MeleeEnemy, RangedEnemy, FlyEnemy, BossEnemy.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WaveSpawner, EnemyConfig, WaveConfig.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097280"/>
            <a:ext cx="4892040" cy="3931920"/>
          </a:xfrm>
          <a:prstGeom prst="rect">
            <a:avLst/>
          </a:prstGeom>
          <a:solidFill>
            <a:srgbClr val="FFFFFF"/>
          </a:solidFill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1656" y="1207008"/>
            <a:ext cx="463600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376092"/>
                </a:solidFill>
                <a:latin typeface="Times New Roman"/>
              </a:rPr>
              <a:t>Nhóm hỗ trợ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1656" y="1536192"/>
            <a:ext cx="4636008" cy="33832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PlayerLevelSystem và BuffCardManager.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GameUI, các panel chức năng và LoadingUIManager.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PlayFabLeaderboardManager xử lý định danh và điểm.</a:t>
            </a:r>
          </a:p>
        </p:txBody>
      </p:sp>
    </p:spTree>
    <p:extLst>
      <p:ext uri="{BB962C8B-B14F-4D97-AF65-F5344CB8AC3E}">
        <p14:creationId xmlns:p14="http://schemas.microsoft.com/office/powerpoint/2010/main" val="3539011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0040"/>
            <a:ext cx="106527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93769"/>
                </a:solidFill>
                <a:latin typeface="Times New Roman"/>
              </a:rPr>
              <a:t>Điều khiển nhân vật và chiến đấu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13232"/>
            <a:ext cx="10652760" cy="18288"/>
          </a:xfrm>
          <a:prstGeom prst="rect">
            <a:avLst/>
          </a:prstGeom>
          <a:solidFill>
            <a:srgbClr val="EB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713232"/>
            <a:ext cx="1097280" cy="27432"/>
          </a:xfrm>
          <a:prstGeom prst="rect">
            <a:avLst/>
          </a:prstGeom>
          <a:solidFill>
            <a:srgbClr val="E67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510528"/>
            <a:ext cx="2743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Bộ môn Mạng máy tính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9</a:t>
            </a:r>
          </a:p>
        </p:txBody>
      </p:sp>
      <p:pic>
        <p:nvPicPr>
          <p:cNvPr id="7" name="Picture 6" descr="doc_image_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7360" y="1097280"/>
            <a:ext cx="3668999" cy="3017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" y="1097280"/>
            <a:ext cx="5257800" cy="3017520"/>
          </a:xfrm>
          <a:prstGeom prst="rect">
            <a:avLst/>
          </a:prstGeom>
          <a:noFill/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160520"/>
            <a:ext cx="525780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Nhân vật chiến đấu trong gameplay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143000"/>
            <a:ext cx="4617720" cy="34290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Input System gửi dữ liệu di chuyển và thao tác cho PlayerController.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CharacterController xử lý di chuyển, gravity và dash.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PlayerAttack tự tìm enemy gần nhất và bắn projectile.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Projectile gây sát thương thông qua interface IDamageable.</a:t>
            </a:r>
          </a:p>
        </p:txBody>
      </p:sp>
    </p:spTree>
    <p:extLst>
      <p:ext uri="{BB962C8B-B14F-4D97-AF65-F5344CB8AC3E}">
        <p14:creationId xmlns:p14="http://schemas.microsoft.com/office/powerpoint/2010/main" val="1802497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0040"/>
            <a:ext cx="106527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93769"/>
                </a:solidFill>
                <a:latin typeface="Times New Roman"/>
              </a:rPr>
              <a:t>Enemy, boss và wave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13232"/>
            <a:ext cx="10652760" cy="18288"/>
          </a:xfrm>
          <a:prstGeom prst="rect">
            <a:avLst/>
          </a:prstGeom>
          <a:solidFill>
            <a:srgbClr val="EB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713232"/>
            <a:ext cx="1097280" cy="27432"/>
          </a:xfrm>
          <a:prstGeom prst="rect">
            <a:avLst/>
          </a:prstGeom>
          <a:solidFill>
            <a:srgbClr val="E67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510528"/>
            <a:ext cx="2743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Bộ môn Mạng máy tính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097280"/>
            <a:ext cx="4389120" cy="3017520"/>
          </a:xfrm>
          <a:prstGeom prst="rect">
            <a:avLst/>
          </a:prstGeom>
          <a:solidFill>
            <a:srgbClr val="FFFFFF"/>
          </a:solidFill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207008"/>
            <a:ext cx="413308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376092"/>
                </a:solidFill>
                <a:latin typeface="Times New Roman"/>
              </a:rPr>
              <a:t>Enemy đã làm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1536192"/>
            <a:ext cx="4133088" cy="2468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Melee enemy áp sát người chơi.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Ranged/Fly enemy tấn công từ xa.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Boss enemy tạo thử thách ở wave quan trọng.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097280"/>
            <a:ext cx="3794760" cy="3017520"/>
          </a:xfrm>
          <a:prstGeom prst="rect">
            <a:avLst/>
          </a:prstGeom>
          <a:solidFill>
            <a:srgbClr val="FFFFFF"/>
          </a:solidFill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14416" y="1207008"/>
            <a:ext cx="353872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376092"/>
                </a:solidFill>
                <a:latin typeface="Times New Roman"/>
              </a:rPr>
              <a:t>Wave đã làm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14416" y="1536192"/>
            <a:ext cx="3538728" cy="2468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WaveSpawner đọc cấu hình wave.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Theo dõi số enemy còn sống.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Hoàn tất wave để chuyển sang wave tiếp theo.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Tăng độ khó bằng autoScale và scalePerWave.</a:t>
            </a:r>
          </a:p>
        </p:txBody>
      </p:sp>
      <p:pic>
        <p:nvPicPr>
          <p:cNvPr id="13" name="Picture 12" descr="doc_image_3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5480" y="1732266"/>
            <a:ext cx="1600200" cy="1107466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9555480" y="1143000"/>
            <a:ext cx="1600200" cy="2286000"/>
          </a:xfrm>
          <a:prstGeom prst="rect">
            <a:avLst/>
          </a:prstGeom>
          <a:noFill/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3474720"/>
            <a:ext cx="160020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Enemy/boss trong báo cáo</a:t>
            </a:r>
          </a:p>
        </p:txBody>
      </p:sp>
    </p:spTree>
    <p:extLst>
      <p:ext uri="{BB962C8B-B14F-4D97-AF65-F5344CB8AC3E}">
        <p14:creationId xmlns:p14="http://schemas.microsoft.com/office/powerpoint/2010/main" val="1703041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0040"/>
            <a:ext cx="106527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93769"/>
                </a:solidFill>
                <a:latin typeface="Times New Roman"/>
              </a:rPr>
              <a:t>EXP, level-up và buff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13232"/>
            <a:ext cx="10652760" cy="18288"/>
          </a:xfrm>
          <a:prstGeom prst="rect">
            <a:avLst/>
          </a:prstGeom>
          <a:solidFill>
            <a:srgbClr val="EB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713232"/>
            <a:ext cx="1097280" cy="27432"/>
          </a:xfrm>
          <a:prstGeom prst="rect">
            <a:avLst/>
          </a:prstGeom>
          <a:solidFill>
            <a:srgbClr val="E67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510528"/>
            <a:ext cx="2743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Bộ môn Mạng máy tính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11</a:t>
            </a:r>
          </a:p>
        </p:txBody>
      </p:sp>
      <p:pic>
        <p:nvPicPr>
          <p:cNvPr id="7" name="Picture 6" descr="doc_image_3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247" y="1097280"/>
            <a:ext cx="5043224" cy="28346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" y="1097280"/>
            <a:ext cx="5257800" cy="2834640"/>
          </a:xfrm>
          <a:prstGeom prst="rect">
            <a:avLst/>
          </a:prstGeom>
          <a:noFill/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977640"/>
            <a:ext cx="525780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Màn hình chọn buff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143000"/>
            <a:ext cx="4617720" cy="34290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Enemy chết sẽ cộng EXP cho người chơi.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Khi đủ EXP, hệ thống tăng level và mở giao diện chọn buff.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BuffCardManager chọn các card phù hợp theo rarity và luckBonus.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Buff được áp dụng vào PlayerData, máu hoặc các modifier chiến đấu.</a:t>
            </a:r>
          </a:p>
        </p:txBody>
      </p:sp>
    </p:spTree>
    <p:extLst>
      <p:ext uri="{BB962C8B-B14F-4D97-AF65-F5344CB8AC3E}">
        <p14:creationId xmlns:p14="http://schemas.microsoft.com/office/powerpoint/2010/main" val="3455670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0040"/>
            <a:ext cx="106527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93769"/>
                </a:solidFill>
                <a:latin typeface="Times New Roman"/>
              </a:rPr>
              <a:t>Theme map và chuyển đổi môi trường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13232"/>
            <a:ext cx="10652760" cy="18288"/>
          </a:xfrm>
          <a:prstGeom prst="rect">
            <a:avLst/>
          </a:prstGeom>
          <a:solidFill>
            <a:srgbClr val="EB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713232"/>
            <a:ext cx="1097280" cy="27432"/>
          </a:xfrm>
          <a:prstGeom prst="rect">
            <a:avLst/>
          </a:prstGeom>
          <a:solidFill>
            <a:srgbClr val="E67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510528"/>
            <a:ext cx="2743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Bộ môn Mạng máy tính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12</a:t>
            </a:r>
          </a:p>
        </p:txBody>
      </p:sp>
      <p:pic>
        <p:nvPicPr>
          <p:cNvPr id="7" name="Picture 6" descr="doc_image_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757" y="1097280"/>
            <a:ext cx="3390725" cy="2743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" y="1097280"/>
            <a:ext cx="4846320" cy="2743200"/>
          </a:xfrm>
          <a:prstGeom prst="rect">
            <a:avLst/>
          </a:prstGeom>
          <a:noFill/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886200"/>
            <a:ext cx="48463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Theme map 1</a:t>
            </a:r>
          </a:p>
        </p:txBody>
      </p:sp>
      <p:pic>
        <p:nvPicPr>
          <p:cNvPr id="10" name="Picture 9" descr="doc_image_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2595" y="1097280"/>
            <a:ext cx="3768408" cy="27432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63640" y="1097280"/>
            <a:ext cx="4846320" cy="2743200"/>
          </a:xfrm>
          <a:prstGeom prst="rect">
            <a:avLst/>
          </a:prstGeom>
          <a:noFill/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886200"/>
            <a:ext cx="48463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Theme map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89120"/>
            <a:ext cx="987552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MapThemeManager thay đổi vật liệu, tường và effectRoot theo tiến trình wave.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LoadingUIManager dùng hiệu ứng chuyển cảnh để quá trình đổi theme không gây gián đoạn trải nghiệm.</a:t>
            </a:r>
          </a:p>
        </p:txBody>
      </p:sp>
    </p:spTree>
    <p:extLst>
      <p:ext uri="{BB962C8B-B14F-4D97-AF65-F5344CB8AC3E}">
        <p14:creationId xmlns:p14="http://schemas.microsoft.com/office/powerpoint/2010/main" val="3831616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0040"/>
            <a:ext cx="106527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93769"/>
                </a:solidFill>
                <a:latin typeface="Times New Roman"/>
              </a:rPr>
              <a:t>Giao diện HUD, Challenge, Pause và Settings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13232"/>
            <a:ext cx="10652760" cy="18288"/>
          </a:xfrm>
          <a:prstGeom prst="rect">
            <a:avLst/>
          </a:prstGeom>
          <a:solidFill>
            <a:srgbClr val="EB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713232"/>
            <a:ext cx="1097280" cy="27432"/>
          </a:xfrm>
          <a:prstGeom prst="rect">
            <a:avLst/>
          </a:prstGeom>
          <a:solidFill>
            <a:srgbClr val="E67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510528"/>
            <a:ext cx="2743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Bộ môn Mạng máy tính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13</a:t>
            </a:r>
          </a:p>
        </p:txBody>
      </p:sp>
      <p:pic>
        <p:nvPicPr>
          <p:cNvPr id="7" name="Picture 6" descr="doc_image_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159404"/>
            <a:ext cx="3337560" cy="184171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7240" y="1097280"/>
            <a:ext cx="3337560" cy="1965960"/>
          </a:xfrm>
          <a:prstGeom prst="rect">
            <a:avLst/>
          </a:prstGeom>
          <a:noFill/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108960"/>
            <a:ext cx="33375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HUD trong trận</a:t>
            </a:r>
          </a:p>
        </p:txBody>
      </p:sp>
      <p:pic>
        <p:nvPicPr>
          <p:cNvPr id="10" name="Picture 9" descr="doc_image_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137974"/>
            <a:ext cx="3337560" cy="18845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434840" y="1097280"/>
            <a:ext cx="3337560" cy="1965960"/>
          </a:xfrm>
          <a:prstGeom prst="rect">
            <a:avLst/>
          </a:prstGeom>
          <a:noFill/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3108960"/>
            <a:ext cx="33375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Challenge panel</a:t>
            </a:r>
          </a:p>
        </p:txBody>
      </p:sp>
      <p:pic>
        <p:nvPicPr>
          <p:cNvPr id="13" name="Picture 12" descr="doc_image_3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1143175"/>
            <a:ext cx="3337560" cy="187416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092440" y="1097280"/>
            <a:ext cx="3337560" cy="1965960"/>
          </a:xfrm>
          <a:prstGeom prst="rect">
            <a:avLst/>
          </a:prstGeom>
          <a:noFill/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108960"/>
            <a:ext cx="33375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Pause/Settings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840480"/>
            <a:ext cx="9784080" cy="10972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HUD hiển thị HP, EXP, level và wave.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ChallengePanel điều khiển luồng bắt đầu trận.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Pause/Settings cho phép tạm dừng và điều chỉnh âm thanh.</a:t>
            </a:r>
          </a:p>
        </p:txBody>
      </p:sp>
    </p:spTree>
    <p:extLst>
      <p:ext uri="{BB962C8B-B14F-4D97-AF65-F5344CB8AC3E}">
        <p14:creationId xmlns:p14="http://schemas.microsoft.com/office/powerpoint/2010/main" val="3805870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0040"/>
            <a:ext cx="106527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93769"/>
                </a:solidFill>
                <a:latin typeface="Times New Roman"/>
              </a:rPr>
              <a:t>Nhập tên và bảng xếp hạng PlayFab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13232"/>
            <a:ext cx="10652760" cy="18288"/>
          </a:xfrm>
          <a:prstGeom prst="rect">
            <a:avLst/>
          </a:prstGeom>
          <a:solidFill>
            <a:srgbClr val="EB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713232"/>
            <a:ext cx="1097280" cy="27432"/>
          </a:xfrm>
          <a:prstGeom prst="rect">
            <a:avLst/>
          </a:prstGeom>
          <a:solidFill>
            <a:srgbClr val="E67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510528"/>
            <a:ext cx="2743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Bộ môn Mạng máy tính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14</a:t>
            </a:r>
          </a:p>
        </p:txBody>
      </p:sp>
      <p:pic>
        <p:nvPicPr>
          <p:cNvPr id="7" name="Picture 6" descr="doc_image_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257" y="1097280"/>
            <a:ext cx="2837164" cy="1600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" y="1097280"/>
            <a:ext cx="4937760" cy="1600200"/>
          </a:xfrm>
          <a:prstGeom prst="rect">
            <a:avLst/>
          </a:prstGeom>
          <a:noFill/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49377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Giao diện nhập tên</a:t>
            </a:r>
          </a:p>
        </p:txBody>
      </p:sp>
      <p:pic>
        <p:nvPicPr>
          <p:cNvPr id="10" name="Picture 9" descr="doc_image_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1033" y="3063240"/>
            <a:ext cx="2521612" cy="141731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22960" y="3063240"/>
            <a:ext cx="4937760" cy="1417320"/>
          </a:xfrm>
          <a:prstGeom prst="rect">
            <a:avLst/>
          </a:prstGeom>
          <a:noFill/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526280"/>
            <a:ext cx="49377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Bảng xếp hạng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143000"/>
            <a:ext cx="4663440" cy="34747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Người chơi được định danh bằng LoginWithCustomID.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Nếu chưa có Display Name, hệ thống mở panel nhập tên.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Khi kết thúc lượt chơi, điểm được gửi lên PlayFab HighScore.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Leaderboard hiển thị top người chơi và thứ hạng hiện tại.</a:t>
            </a:r>
          </a:p>
        </p:txBody>
      </p:sp>
    </p:spTree>
    <p:extLst>
      <p:ext uri="{BB962C8B-B14F-4D97-AF65-F5344CB8AC3E}">
        <p14:creationId xmlns:p14="http://schemas.microsoft.com/office/powerpoint/2010/main" val="2091549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0040"/>
            <a:ext cx="106527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93769"/>
                </a:solidFill>
                <a:latin typeface="Times New Roman"/>
              </a:rPr>
              <a:t>Một số màn hình demo đã hoàn thiện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13232"/>
            <a:ext cx="10652760" cy="18288"/>
          </a:xfrm>
          <a:prstGeom prst="rect">
            <a:avLst/>
          </a:prstGeom>
          <a:solidFill>
            <a:srgbClr val="EB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713232"/>
            <a:ext cx="1097280" cy="27432"/>
          </a:xfrm>
          <a:prstGeom prst="rect">
            <a:avLst/>
          </a:prstGeom>
          <a:solidFill>
            <a:srgbClr val="E67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510528"/>
            <a:ext cx="2743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Bộ môn Mạng máy tính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15</a:t>
            </a:r>
          </a:p>
        </p:txBody>
      </p:sp>
      <p:pic>
        <p:nvPicPr>
          <p:cNvPr id="7" name="Picture 6" descr="doc_image_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336" y="1051560"/>
            <a:ext cx="2099087" cy="187451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7240" y="1051560"/>
            <a:ext cx="3383280" cy="1874519"/>
          </a:xfrm>
          <a:prstGeom prst="rect">
            <a:avLst/>
          </a:prstGeom>
          <a:noFill/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799"/>
            <a:ext cx="33832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Gameplay</a:t>
            </a:r>
          </a:p>
        </p:txBody>
      </p:sp>
      <p:pic>
        <p:nvPicPr>
          <p:cNvPr id="10" name="Picture 9" descr="doc_image_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6867" y="1051560"/>
            <a:ext cx="2279225" cy="187451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434840" y="1051560"/>
            <a:ext cx="3383280" cy="1874519"/>
          </a:xfrm>
          <a:prstGeom prst="rect">
            <a:avLst/>
          </a:prstGeom>
          <a:noFill/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971799"/>
            <a:ext cx="33832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Combat</a:t>
            </a:r>
          </a:p>
        </p:txBody>
      </p:sp>
      <p:pic>
        <p:nvPicPr>
          <p:cNvPr id="13" name="Picture 12" descr="doc_image_34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6563" y="1051560"/>
            <a:ext cx="3335033" cy="187451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092440" y="1051560"/>
            <a:ext cx="3383280" cy="1874519"/>
          </a:xfrm>
          <a:prstGeom prst="rect">
            <a:avLst/>
          </a:prstGeom>
          <a:noFill/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2971799"/>
            <a:ext cx="33832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Buff</a:t>
            </a:r>
          </a:p>
        </p:txBody>
      </p:sp>
      <p:pic>
        <p:nvPicPr>
          <p:cNvPr id="16" name="Picture 15" descr="doc_image_41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8888" y="3520440"/>
            <a:ext cx="3335183" cy="1874519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434840" y="3520440"/>
            <a:ext cx="3383280" cy="1874519"/>
          </a:xfrm>
          <a:prstGeom prst="rect">
            <a:avLst/>
          </a:prstGeom>
          <a:noFill/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5440679"/>
            <a:ext cx="33832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Giao diện khác</a:t>
            </a:r>
          </a:p>
        </p:txBody>
      </p:sp>
    </p:spTree>
    <p:extLst>
      <p:ext uri="{BB962C8B-B14F-4D97-AF65-F5344CB8AC3E}">
        <p14:creationId xmlns:p14="http://schemas.microsoft.com/office/powerpoint/2010/main" val="668409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6527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93769"/>
                </a:solidFill>
                <a:latin typeface="Times New Roman"/>
              </a:rPr>
              <a:t>Kiểm thử chức năng chính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13232"/>
            <a:ext cx="10652760" cy="18288"/>
          </a:xfrm>
          <a:prstGeom prst="rect">
            <a:avLst/>
          </a:prstGeom>
          <a:solidFill>
            <a:srgbClr val="EB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713232"/>
            <a:ext cx="1097280" cy="27432"/>
          </a:xfrm>
          <a:prstGeom prst="rect">
            <a:avLst/>
          </a:prstGeom>
          <a:solidFill>
            <a:srgbClr val="E67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510528"/>
            <a:ext cx="2743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Bộ môn Mạng máy tính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097280"/>
            <a:ext cx="3291840" cy="2834640"/>
          </a:xfrm>
          <a:prstGeom prst="rect">
            <a:avLst/>
          </a:prstGeom>
          <a:solidFill>
            <a:srgbClr val="FFFFFF"/>
          </a:solidFill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207008"/>
            <a:ext cx="303580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376092"/>
                </a:solidFill>
                <a:latin typeface="Times New Roman"/>
              </a:rPr>
              <a:t>Gameplay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1536192"/>
            <a:ext cx="3035808" cy="22860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Di chuyển, dash, camera.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Tấn công, projectile, nhận damage.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Enemy death và cộng EXP.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97280"/>
            <a:ext cx="3291840" cy="2834640"/>
          </a:xfrm>
          <a:prstGeom prst="rect">
            <a:avLst/>
          </a:prstGeom>
          <a:solidFill>
            <a:srgbClr val="FFFFFF"/>
          </a:solidFill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1207008"/>
            <a:ext cx="303580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376092"/>
                </a:solidFill>
                <a:latin typeface="Times New Roman"/>
              </a:rPr>
              <a:t>Hệ thống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1536192"/>
            <a:ext cx="3035808" cy="22860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Spawn wave, boss wave, hoàn tất wave.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Level-up, chọn buff, cập nhật chỉ số.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Đổi theme map và loading.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097280"/>
            <a:ext cx="3108960" cy="2834640"/>
          </a:xfrm>
          <a:prstGeom prst="rect">
            <a:avLst/>
          </a:prstGeom>
          <a:solidFill>
            <a:srgbClr val="FFFFFF"/>
          </a:solidFill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6" y="1207008"/>
            <a:ext cx="285292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376092"/>
                </a:solidFill>
                <a:latin typeface="Times New Roman"/>
              </a:rPr>
              <a:t>Giao diện/backend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6" y="1536192"/>
            <a:ext cx="2852928" cy="22860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HUD, challenge, pause, settings.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Nhập tên, gửi điểm, xem leaderboard.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6527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93769"/>
                </a:solidFill>
                <a:latin typeface="Times New Roman"/>
              </a:rPr>
              <a:t>Kết quả đạt được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13232"/>
            <a:ext cx="10652760" cy="18288"/>
          </a:xfrm>
          <a:prstGeom prst="rect">
            <a:avLst/>
          </a:prstGeom>
          <a:solidFill>
            <a:srgbClr val="EB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713232"/>
            <a:ext cx="1097280" cy="27432"/>
          </a:xfrm>
          <a:prstGeom prst="rect">
            <a:avLst/>
          </a:prstGeom>
          <a:solidFill>
            <a:srgbClr val="E67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510528"/>
            <a:ext cx="2743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Bộ môn Mạng máy tính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143000"/>
            <a:ext cx="5532120" cy="3749039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Hoàn thiện khung game Roguelike 3D ở mức đồ án.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Có vòng lặp chơi rõ: chiến đấu, EXP, buff, wave và leaderboard.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Các module chính được tách theo chức năng để dễ bảo trì.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Giao diện cơ bản đã hỗ trợ đầy đủ quá trình chơi và demo.</a:t>
            </a:r>
          </a:p>
        </p:txBody>
      </p:sp>
      <p:pic>
        <p:nvPicPr>
          <p:cNvPr id="8" name="Picture 7" descr="doc_image_4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146837"/>
            <a:ext cx="4297680" cy="241548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720840" y="1143000"/>
            <a:ext cx="4297680" cy="2423160"/>
          </a:xfrm>
          <a:prstGeom prst="rect">
            <a:avLst/>
          </a:prstGeom>
          <a:noFill/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3611880"/>
            <a:ext cx="42976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Kết quả giao diện/gameplay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6527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93769"/>
                </a:solidFill>
                <a:latin typeface="Times New Roman"/>
              </a:rPr>
              <a:t>Hạn chế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13232"/>
            <a:ext cx="10652760" cy="18288"/>
          </a:xfrm>
          <a:prstGeom prst="rect">
            <a:avLst/>
          </a:prstGeom>
          <a:solidFill>
            <a:srgbClr val="EB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713232"/>
            <a:ext cx="1097280" cy="27432"/>
          </a:xfrm>
          <a:prstGeom prst="rect">
            <a:avLst/>
          </a:prstGeom>
          <a:solidFill>
            <a:srgbClr val="E67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510528"/>
            <a:ext cx="2743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Bộ môn Mạng máy tính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43000"/>
            <a:ext cx="9875520" cy="42062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Số lượng enemy, boss pattern, buff và map variation còn ít.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Cân bằng độ khó giữa các wave và các buff cần tiếp tục tinh chỉnh.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Một số tài nguyên giao diện và hình ảnh chưa đồng đều về mặt mỹ thuật.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Hiệu năng ở wave có mật độ spawn lớn cần kiểm thử và tối ưu thêm.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6527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93769"/>
                </a:solidFill>
                <a:latin typeface="Times New Roman"/>
              </a:rPr>
              <a:t>Hướng phát triển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13232"/>
            <a:ext cx="10652760" cy="18288"/>
          </a:xfrm>
          <a:prstGeom prst="rect">
            <a:avLst/>
          </a:prstGeom>
          <a:solidFill>
            <a:srgbClr val="EB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713232"/>
            <a:ext cx="1097280" cy="27432"/>
          </a:xfrm>
          <a:prstGeom prst="rect">
            <a:avLst/>
          </a:prstGeom>
          <a:solidFill>
            <a:srgbClr val="E67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510528"/>
            <a:ext cx="2743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Bộ môn Mạng máy tính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43000"/>
            <a:ext cx="9875520" cy="43891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Hoàn thiện Main Menu và luồng điều hướng tổng thể.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Mở rộng danh sách buff, enemy, boss và theme map.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Bổ sung thống kê ngoài HighScore như thời gian sống sót và số enemy tiêu diệt.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Cải thiện AI, hiệu ứng, UI/UX và tối ưu hiệu năng.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Đóng gói bản demo ổn định hơn để thử nghiệm người dùng.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6510528"/>
            <a:ext cx="2743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Bộ môn Mạng máy tính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Times New Roman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40280"/>
            <a:ext cx="102870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93769"/>
                </a:solidFill>
                <a:latin typeface="Times New Roman"/>
              </a:rPr>
              <a:t>XIN CẢM ƠN THẦY CÔ ĐÃ LẮNG NGHE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3063240"/>
            <a:ext cx="8412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41414"/>
                </a:solidFill>
                <a:latin typeface="Times New Roman"/>
              </a:rPr>
              <a:t>Sinh viên thực hiện: Thái Văn Hào - 2121051075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819</TotalTime>
  <Words>976</Words>
  <Application>Microsoft Office PowerPoint</Application>
  <PresentationFormat>Custom</PresentationFormat>
  <Paragraphs>125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BÁO CÁO ĐỒ ÁN TỐT NGHIỆP</vt:lpstr>
      <vt:lpstr>Nội Dung Trình Bày</vt:lpstr>
      <vt:lpstr>Lý do chọn đề tài</vt:lpstr>
      <vt:lpstr>Mục tiêu và phạm vi</vt:lpstr>
      <vt:lpstr>Công nghệ sử dụng</vt:lpstr>
      <vt:lpstr>Thiết kế đồ họa game</vt:lpstr>
      <vt:lpstr>Vòng lặp gameplay tổng quát</vt:lpstr>
      <vt:lpstr>Thiết kế hệ thống chính </vt:lpstr>
      <vt:lpstr>Các chức năng đã cài đặt</vt:lpstr>
      <vt:lpstr>PowerPoint Presentation</vt:lpstr>
      <vt:lpstr>Tiến trình nhiệm vụ theo ngày</vt:lpstr>
      <vt:lpstr>Kiểm thử và kết quả</vt:lpstr>
      <vt:lpstr> Đánh giá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CÔNG NGHỆ THÔN TIN ĐỊA HỌC ĐẠI CƯƠNG</dc:title>
  <dc:creator>Nguyen Hoang Long</dc:creator>
  <cp:lastModifiedBy>phuonglieu89@outlook.com</cp:lastModifiedBy>
  <cp:revision>214</cp:revision>
  <dcterms:created xsi:type="dcterms:W3CDTF">2020-12-14T15:14:04Z</dcterms:created>
  <dcterms:modified xsi:type="dcterms:W3CDTF">2026-05-26T14:03:58Z</dcterms:modified>
</cp:coreProperties>
</file>